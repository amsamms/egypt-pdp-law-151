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Shape 2"/>
          <p:cNvSpPr/>
          <p:nvPr/>
        </p:nvSpPr>
        <p:spPr>
          <a:xfrm>
            <a:off x="0" y="0"/>
            <a:ext cx="12188952" cy="109728"/>
          </a:xfrm>
          <a:prstGeom prst="rect">
            <a:avLst/>
          </a:prstGeom>
          <a:solidFill>
            <a:srgbClr val="C8A24A"/>
          </a:solidFill>
          <a:ln/>
        </p:spPr>
      </p:sp>
      <p:sp>
        <p:nvSpPr>
          <p:cNvPr id="5" name="Shape 3"/>
          <p:cNvSpPr/>
          <p:nvPr/>
        </p:nvSpPr>
        <p:spPr>
          <a:xfrm>
            <a:off x="0" y="109728"/>
            <a:ext cx="12188952" cy="27432"/>
          </a:xfrm>
          <a:prstGeom prst="rect">
            <a:avLst/>
          </a:prstGeom>
          <a:solidFill>
            <a:srgbClr val="C8102E"/>
          </a:solidFill>
          <a:ln/>
        </p:spPr>
      </p:sp>
      <p:sp>
        <p:nvSpPr>
          <p:cNvPr id="6" name="Shape 4"/>
          <p:cNvSpPr/>
          <p:nvPr/>
        </p:nvSpPr>
        <p:spPr>
          <a:xfrm>
            <a:off x="9994392" y="1280160"/>
            <a:ext cx="1463040" cy="1463040"/>
          </a:xfrm>
          <a:prstGeom prst="ellipse">
            <a:avLst/>
          </a:prstGeom>
          <a:solidFill>
            <a:srgbClr val="0E2444"/>
          </a:solidFill>
          <a:ln w="19050">
            <a:solidFill>
              <a:srgbClr val="C8A24A"/>
            </a:solidFill>
            <a:prstDash val="solid"/>
          </a:ln>
        </p:spPr>
      </p:sp>
      <p:sp>
        <p:nvSpPr>
          <p:cNvPr id="7" name="Text 5"/>
          <p:cNvSpPr/>
          <p:nvPr/>
        </p:nvSpPr>
        <p:spPr>
          <a:xfrm>
            <a:off x="9994392" y="1280160"/>
            <a:ext cx="1463040" cy="1463040"/>
          </a:xfrm>
          <a:prstGeom prst="rect">
            <a:avLst/>
          </a:prstGeom>
          <a:noFill/>
          <a:ln/>
        </p:spPr>
        <p:txBody>
          <a:bodyPr wrap="square" rtlCol="0" anchor="ctr"/>
          <a:lstStyle/>
          <a:p>
            <a:pPr algn="ctr" indent="0" marL="0">
              <a:buNone/>
            </a:pPr>
            <a:r>
              <a:rPr lang="en-US" sz="5400" dirty="0">
                <a:solidFill>
                  <a:srgbClr val="E3C682"/>
                </a:solidFill>
              </a:rPr>
              <a:t>⚖</a:t>
            </a:r>
            <a:endParaRPr lang="en-US" sz="5400" dirty="0"/>
          </a:p>
        </p:txBody>
      </p:sp>
      <p:sp>
        <p:nvSpPr>
          <p:cNvPr id="8" name="Text 6"/>
          <p:cNvSpPr/>
          <p:nvPr/>
        </p:nvSpPr>
        <p:spPr>
          <a:xfrm>
            <a:off x="640080" y="1371600"/>
            <a:ext cx="8229600" cy="365760"/>
          </a:xfrm>
          <a:prstGeom prst="rect">
            <a:avLst/>
          </a:prstGeom>
          <a:noFill/>
          <a:ln/>
        </p:spPr>
        <p:txBody>
          <a:bodyPr wrap="square" rtlCol="0" anchor="ctr"/>
          <a:lstStyle/>
          <a:p>
            <a:pPr algn="l" indent="0" marL="0">
              <a:buNone/>
            </a:pPr>
            <a:r>
              <a:rPr lang="en-US" sz="1300" b="1" spc="200" kern="0" dirty="0">
                <a:solidFill>
                  <a:srgbClr val="C8A24A"/>
                </a:solidFill>
                <a:latin typeface="Calibri" pitchFamily="34" charset="0"/>
                <a:ea typeface="Calibri" pitchFamily="34" charset="-122"/>
                <a:cs typeface="Calibri" pitchFamily="34" charset="-120"/>
              </a:rPr>
              <a:t>EGYPT · INFORMATION TECHNOLOGY STRATEGY</a:t>
            </a:r>
            <a:endParaRPr lang="en-US" sz="1300" dirty="0"/>
          </a:p>
        </p:txBody>
      </p:sp>
      <p:sp>
        <p:nvSpPr>
          <p:cNvPr id="9" name="Text 7"/>
          <p:cNvSpPr/>
          <p:nvPr/>
        </p:nvSpPr>
        <p:spPr>
          <a:xfrm>
            <a:off x="640080" y="1828800"/>
            <a:ext cx="9144000" cy="1463040"/>
          </a:xfrm>
          <a:prstGeom prst="rect">
            <a:avLst/>
          </a:prstGeom>
          <a:noFill/>
          <a:ln/>
        </p:spPr>
        <p:txBody>
          <a:bodyPr wrap="square" rtlCol="0" anchor="t"/>
          <a:lstStyle/>
          <a:p>
            <a:pPr algn="l" indent="0" marL="0">
              <a:buNone/>
            </a:pPr>
            <a:r>
              <a:rPr lang="en-US" sz="4600" b="1" dirty="0">
                <a:solidFill>
                  <a:srgbClr val="FFFFFF"/>
                </a:solidFill>
                <a:latin typeface="Georgia" pitchFamily="34" charset="0"/>
                <a:ea typeface="Georgia" pitchFamily="34" charset="-122"/>
                <a:cs typeface="Georgia" pitchFamily="34" charset="-120"/>
              </a:rPr>
              <a:t>Egypt's Personal Data Protection Law</a:t>
            </a:r>
            <a:endParaRPr lang="en-US" sz="4600" dirty="0"/>
          </a:p>
        </p:txBody>
      </p:sp>
      <p:sp>
        <p:nvSpPr>
          <p:cNvPr id="10" name="Text 8"/>
          <p:cNvSpPr/>
          <p:nvPr/>
        </p:nvSpPr>
        <p:spPr>
          <a:xfrm>
            <a:off x="640080" y="3200400"/>
            <a:ext cx="9144000" cy="822960"/>
          </a:xfrm>
          <a:prstGeom prst="rect">
            <a:avLst/>
          </a:prstGeom>
          <a:noFill/>
          <a:ln/>
        </p:spPr>
        <p:txBody>
          <a:bodyPr wrap="square" rtlCol="0" anchor="ctr"/>
          <a:lstStyle/>
          <a:p>
            <a:pPr algn="l" indent="0" marL="0">
              <a:buNone/>
            </a:pPr>
            <a:r>
              <a:rPr lang="en-US" sz="4000" b="1" dirty="0">
                <a:solidFill>
                  <a:srgbClr val="E3C682"/>
                </a:solidFill>
                <a:latin typeface="Georgia" pitchFamily="34" charset="0"/>
                <a:ea typeface="Georgia" pitchFamily="34" charset="-122"/>
                <a:cs typeface="Georgia" pitchFamily="34" charset="-120"/>
              </a:rPr>
              <a:t>Law No. 151 of 2020</a:t>
            </a:r>
            <a:endParaRPr lang="en-US" sz="4000" dirty="0"/>
          </a:p>
        </p:txBody>
      </p:sp>
      <p:sp>
        <p:nvSpPr>
          <p:cNvPr id="11" name="Text 9"/>
          <p:cNvSpPr/>
          <p:nvPr/>
        </p:nvSpPr>
        <p:spPr>
          <a:xfrm>
            <a:off x="640080" y="4114800"/>
            <a:ext cx="8686800" cy="822960"/>
          </a:xfrm>
          <a:prstGeom prst="rect">
            <a:avLst/>
          </a:prstGeom>
          <a:noFill/>
          <a:ln/>
        </p:spPr>
        <p:txBody>
          <a:bodyPr wrap="square" rtlCol="0" anchor="t"/>
          <a:lstStyle/>
          <a:p>
            <a:pPr algn="l" indent="0" marL="0">
              <a:buNone/>
            </a:pPr>
            <a:r>
              <a:rPr lang="en-US" sz="1500" dirty="0">
                <a:solidFill>
                  <a:srgbClr val="D9E0EC"/>
                </a:solidFill>
                <a:latin typeface="Calibri" pitchFamily="34" charset="0"/>
                <a:ea typeface="Calibri" pitchFamily="34" charset="-122"/>
                <a:cs typeface="Calibri" pitchFamily="34" charset="-120"/>
              </a:rPr>
              <a:t>The plain-language guide to the law that finally went live in 2025, and why every Egyptian business is now on a deadline.</a:t>
            </a:r>
            <a:endParaRPr lang="en-US" sz="1500" dirty="0"/>
          </a:p>
        </p:txBody>
      </p:sp>
      <p:sp>
        <p:nvSpPr>
          <p:cNvPr id="12" name="Shape 10"/>
          <p:cNvSpPr/>
          <p:nvPr/>
        </p:nvSpPr>
        <p:spPr>
          <a:xfrm>
            <a:off x="640080" y="5074920"/>
            <a:ext cx="6035040" cy="1051560"/>
          </a:xfrm>
          <a:prstGeom prst="roundRect">
            <a:avLst>
              <a:gd name="adj" fmla="val 8696"/>
            </a:avLst>
          </a:prstGeom>
          <a:solidFill>
            <a:srgbClr val="122440"/>
          </a:solidFill>
          <a:ln w="12700">
            <a:solidFill>
              <a:srgbClr val="C8102E"/>
            </a:solidFill>
            <a:prstDash val="solid"/>
          </a:ln>
        </p:spPr>
      </p:sp>
      <p:sp>
        <p:nvSpPr>
          <p:cNvPr id="13" name="Text 11"/>
          <p:cNvSpPr/>
          <p:nvPr/>
        </p:nvSpPr>
        <p:spPr>
          <a:xfrm>
            <a:off x="868680" y="5212080"/>
            <a:ext cx="5486400" cy="274320"/>
          </a:xfrm>
          <a:prstGeom prst="rect">
            <a:avLst/>
          </a:prstGeom>
          <a:noFill/>
          <a:ln/>
        </p:spPr>
        <p:txBody>
          <a:bodyPr wrap="square" rtlCol="0" anchor="ctr"/>
          <a:lstStyle/>
          <a:p>
            <a:pPr algn="l" indent="0" marL="0">
              <a:buNone/>
            </a:pPr>
            <a:r>
              <a:rPr lang="en-US" sz="1100" b="1" spc="100" kern="0" dirty="0">
                <a:solidFill>
                  <a:srgbClr val="E23A52"/>
                </a:solidFill>
                <a:latin typeface="Calibri" pitchFamily="34" charset="0"/>
                <a:ea typeface="Calibri" pitchFamily="34" charset="-122"/>
                <a:cs typeface="Calibri" pitchFamily="34" charset="-120"/>
              </a:rPr>
              <a:t>COUNTDOWN TO FULL ENFORCEMENT</a:t>
            </a:r>
            <a:endParaRPr lang="en-US" sz="1100" dirty="0"/>
          </a:p>
        </p:txBody>
      </p:sp>
      <p:sp>
        <p:nvSpPr>
          <p:cNvPr id="14" name="Text 12"/>
          <p:cNvSpPr/>
          <p:nvPr/>
        </p:nvSpPr>
        <p:spPr>
          <a:xfrm>
            <a:off x="868680" y="5486400"/>
            <a:ext cx="5486400" cy="54864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 128 </a:t>
            </a:r>
            <a:pPr algn="l" indent="0" marL="0">
              <a:buNone/>
            </a:pPr>
            <a:r>
              <a:rPr lang="en-US" sz="1400" dirty="0">
                <a:solidFill>
                  <a:srgbClr val="D9E0EC"/>
                </a:solidFill>
                <a:latin typeface="Calibri" pitchFamily="34" charset="0"/>
                <a:ea typeface="Calibri" pitchFamily="34" charset="-122"/>
                <a:cs typeface="Calibri" pitchFamily="34" charset="-120"/>
              </a:rPr>
              <a:t>days to ~2 November 2026</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THE PART EVERYONE MISSES</a:t>
            </a:r>
            <a:endParaRPr lang="en-US" sz="1200" dirty="0"/>
          </a:p>
        </p:txBody>
      </p:sp>
      <p:sp>
        <p:nvSpPr>
          <p:cNvPr id="7" name="Text 5"/>
          <p:cNvSpPr/>
          <p:nvPr/>
        </p:nvSpPr>
        <p:spPr>
          <a:xfrm>
            <a:off x="640080" y="868680"/>
            <a:ext cx="10908792" cy="1280160"/>
          </a:xfrm>
          <a:prstGeom prst="rect">
            <a:avLst/>
          </a:prstGeom>
          <a:noFill/>
          <a:ln/>
        </p:spPr>
        <p:txBody>
          <a:bodyPr wrap="square" rtlCol="0" anchor="t"/>
          <a:lstStyle/>
          <a:p>
            <a:pPr algn="l" indent="0" marL="0">
              <a:buNone/>
            </a:pPr>
            <a:r>
              <a:rPr lang="en-US" sz="3000" b="1" dirty="0">
                <a:solidFill>
                  <a:srgbClr val="FFFFFF"/>
                </a:solidFill>
                <a:latin typeface="Georgia" pitchFamily="34" charset="0"/>
                <a:ea typeface="Georgia" pitchFamily="34" charset="-122"/>
                <a:cs typeface="Georgia" pitchFamily="34" charset="-120"/>
              </a:rPr>
              <a:t>For five years, Law 151 was a law on paper that no one had to obey. In 2025, that changed.</a:t>
            </a:r>
            <a:endParaRPr lang="en-US" sz="3000" dirty="0"/>
          </a:p>
        </p:txBody>
      </p:sp>
      <p:sp>
        <p:nvSpPr>
          <p:cNvPr id="8" name="Shape 6"/>
          <p:cNvSpPr/>
          <p:nvPr/>
        </p:nvSpPr>
        <p:spPr>
          <a:xfrm>
            <a:off x="640080" y="2240280"/>
            <a:ext cx="10908792" cy="1143000"/>
          </a:xfrm>
          <a:prstGeom prst="rect">
            <a:avLst/>
          </a:prstGeom>
          <a:solidFill>
            <a:srgbClr val="122440"/>
          </a:solidFill>
          <a:ln w="12700">
            <a:solidFill>
              <a:srgbClr val="2C4060"/>
            </a:solidFill>
            <a:prstDash val="solid"/>
          </a:ln>
        </p:spPr>
      </p:sp>
      <p:sp>
        <p:nvSpPr>
          <p:cNvPr id="9" name="Shape 7"/>
          <p:cNvSpPr/>
          <p:nvPr/>
        </p:nvSpPr>
        <p:spPr>
          <a:xfrm>
            <a:off x="640080" y="2240280"/>
            <a:ext cx="64008" cy="1143000"/>
          </a:xfrm>
          <a:prstGeom prst="rect">
            <a:avLst/>
          </a:prstGeom>
          <a:solidFill>
            <a:srgbClr val="C8A24A"/>
          </a:solidFill>
          <a:ln/>
        </p:spPr>
      </p:sp>
      <p:sp>
        <p:nvSpPr>
          <p:cNvPr id="10" name="Text 8"/>
          <p:cNvSpPr/>
          <p:nvPr/>
        </p:nvSpPr>
        <p:spPr>
          <a:xfrm>
            <a:off x="868680" y="2331720"/>
            <a:ext cx="10451592" cy="960120"/>
          </a:xfrm>
          <a:prstGeom prst="rect">
            <a:avLst/>
          </a:prstGeom>
          <a:noFill/>
          <a:ln/>
        </p:spPr>
        <p:txBody>
          <a:bodyPr wrap="square" rtlCol="0" anchor="ctr"/>
          <a:lstStyle/>
          <a:p>
            <a:pPr algn="l" indent="0" marL="0">
              <a:buNone/>
            </a:pPr>
            <a:r>
              <a:rPr lang="en-US" sz="1100" b="1" dirty="0">
                <a:solidFill>
                  <a:srgbClr val="C8A24A"/>
                </a:solidFill>
                <a:latin typeface="Calibri" pitchFamily="34" charset="0"/>
                <a:ea typeface="Calibri" pitchFamily="34" charset="-122"/>
                <a:cs typeface="Calibri" pitchFamily="34" charset="-120"/>
              </a:rPr>
              <a:t>IN PLAIN WORDS  </a:t>
            </a:r>
            <a:pPr algn="l" indent="0" marL="0">
              <a:buNone/>
            </a:pPr>
            <a:r>
              <a:rPr lang="en-US" sz="1350" dirty="0">
                <a:solidFill>
                  <a:srgbClr val="D9E0EC"/>
                </a:solidFill>
                <a:latin typeface="Calibri" pitchFamily="34" charset="0"/>
                <a:ea typeface="Calibri" pitchFamily="34" charset="-122"/>
                <a:cs typeface="Calibri" pitchFamily="34" charset="-120"/>
              </a:rPr>
              <a:t>A law usually cannot be enforced until the government issues its executive regulations, the detailed rulebook. Egypt passed Law 151 in 2020, but that rulebook only arrived in November 2025. So the real obligations, licences, and fines start to bite now, in 2026.</a:t>
            </a:r>
            <a:endParaRPr lang="en-US" sz="1100" dirty="0"/>
          </a:p>
        </p:txBody>
      </p:sp>
      <p:sp>
        <p:nvSpPr>
          <p:cNvPr id="11" name="Shape 9"/>
          <p:cNvSpPr/>
          <p:nvPr/>
        </p:nvSpPr>
        <p:spPr>
          <a:xfrm>
            <a:off x="640080"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804672" y="3840480"/>
            <a:ext cx="2192274" cy="548640"/>
          </a:xfrm>
          <a:prstGeom prst="rect">
            <a:avLst/>
          </a:prstGeom>
          <a:noFill/>
          <a:ln/>
        </p:spPr>
        <p:txBody>
          <a:bodyPr wrap="square" rtlCol="0" anchor="ctr"/>
          <a:lstStyle/>
          <a:p>
            <a:pPr algn="l" indent="0" marL="0">
              <a:buNone/>
            </a:pPr>
            <a:r>
              <a:rPr lang="en-US" sz="2400" b="1" dirty="0">
                <a:solidFill>
                  <a:srgbClr val="E3C682"/>
                </a:solidFill>
                <a:latin typeface="Georgia" pitchFamily="34" charset="0"/>
                <a:ea typeface="Georgia" pitchFamily="34" charset="-122"/>
                <a:cs typeface="Georgia" pitchFamily="34" charset="-120"/>
              </a:rPr>
              <a:t>816</a:t>
            </a:r>
            <a:endParaRPr lang="en-US" sz="2400" dirty="0"/>
          </a:p>
        </p:txBody>
      </p:sp>
      <p:sp>
        <p:nvSpPr>
          <p:cNvPr id="13" name="Text 11"/>
          <p:cNvSpPr/>
          <p:nvPr/>
        </p:nvSpPr>
        <p:spPr>
          <a:xfrm>
            <a:off x="804672" y="4434840"/>
            <a:ext cx="2192274" cy="685800"/>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PM Decree issuing the Executive Regulations</a:t>
            </a:r>
            <a:endParaRPr lang="en-US" sz="1150" dirty="0"/>
          </a:p>
        </p:txBody>
      </p:sp>
      <p:sp>
        <p:nvSpPr>
          <p:cNvPr id="14" name="Shape 12"/>
          <p:cNvSpPr/>
          <p:nvPr/>
        </p:nvSpPr>
        <p:spPr>
          <a:xfrm>
            <a:off x="3435858"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3600450" y="3840480"/>
            <a:ext cx="2192274" cy="548640"/>
          </a:xfrm>
          <a:prstGeom prst="rect">
            <a:avLst/>
          </a:prstGeom>
          <a:noFill/>
          <a:ln/>
        </p:spPr>
        <p:txBody>
          <a:bodyPr wrap="square" rtlCol="0" anchor="ctr"/>
          <a:lstStyle/>
          <a:p>
            <a:pPr algn="l" indent="0" marL="0">
              <a:buNone/>
            </a:pPr>
            <a:r>
              <a:rPr lang="en-US" sz="2400" b="1" dirty="0">
                <a:solidFill>
                  <a:srgbClr val="E3C682"/>
                </a:solidFill>
                <a:latin typeface="Georgia" pitchFamily="34" charset="0"/>
                <a:ea typeface="Georgia" pitchFamily="34" charset="-122"/>
                <a:cs typeface="Georgia" pitchFamily="34" charset="-120"/>
              </a:rPr>
              <a:t>1 Nov 2025</a:t>
            </a:r>
            <a:endParaRPr lang="en-US" sz="2400" dirty="0"/>
          </a:p>
        </p:txBody>
      </p:sp>
      <p:sp>
        <p:nvSpPr>
          <p:cNvPr id="16" name="Text 14"/>
          <p:cNvSpPr/>
          <p:nvPr/>
        </p:nvSpPr>
        <p:spPr>
          <a:xfrm>
            <a:off x="3600450" y="4434840"/>
            <a:ext cx="2192274" cy="685800"/>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Regulations issued (in force 2 Nov 2025)</a:t>
            </a:r>
            <a:endParaRPr lang="en-US" sz="1150" dirty="0"/>
          </a:p>
        </p:txBody>
      </p:sp>
      <p:sp>
        <p:nvSpPr>
          <p:cNvPr id="17" name="Shape 15"/>
          <p:cNvSpPr/>
          <p:nvPr/>
        </p:nvSpPr>
        <p:spPr>
          <a:xfrm>
            <a:off x="6231636"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6396228" y="3840480"/>
            <a:ext cx="2192274" cy="548640"/>
          </a:xfrm>
          <a:prstGeom prst="rect">
            <a:avLst/>
          </a:prstGeom>
          <a:noFill/>
          <a:ln/>
        </p:spPr>
        <p:txBody>
          <a:bodyPr wrap="square" rtlCol="0" anchor="ctr"/>
          <a:lstStyle/>
          <a:p>
            <a:pPr algn="l" indent="0" marL="0">
              <a:buNone/>
            </a:pPr>
            <a:r>
              <a:rPr lang="en-US" sz="2400" b="1" dirty="0">
                <a:solidFill>
                  <a:srgbClr val="E3C682"/>
                </a:solidFill>
                <a:latin typeface="Georgia" pitchFamily="34" charset="0"/>
                <a:ea typeface="Georgia" pitchFamily="34" charset="-122"/>
                <a:cs typeface="Georgia" pitchFamily="34" charset="-120"/>
              </a:rPr>
              <a:t>~Jun 2026</a:t>
            </a:r>
            <a:endParaRPr lang="en-US" sz="2400" dirty="0"/>
          </a:p>
        </p:txBody>
      </p:sp>
      <p:sp>
        <p:nvSpPr>
          <p:cNvPr id="19" name="Text 17"/>
          <p:cNvSpPr/>
          <p:nvPr/>
        </p:nvSpPr>
        <p:spPr>
          <a:xfrm>
            <a:off x="6396228" y="4434840"/>
            <a:ext cx="2192274" cy="685800"/>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PDPC online licensing portal expected</a:t>
            </a:r>
            <a:endParaRPr lang="en-US" sz="1150" dirty="0"/>
          </a:p>
        </p:txBody>
      </p:sp>
      <p:sp>
        <p:nvSpPr>
          <p:cNvPr id="20" name="Shape 18"/>
          <p:cNvSpPr/>
          <p:nvPr/>
        </p:nvSpPr>
        <p:spPr>
          <a:xfrm>
            <a:off x="9027414"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9192006" y="3840480"/>
            <a:ext cx="2192274" cy="548640"/>
          </a:xfrm>
          <a:prstGeom prst="rect">
            <a:avLst/>
          </a:prstGeom>
          <a:noFill/>
          <a:ln/>
        </p:spPr>
        <p:txBody>
          <a:bodyPr wrap="square" rtlCol="0" anchor="ctr"/>
          <a:lstStyle/>
          <a:p>
            <a:pPr algn="l" indent="0" marL="0">
              <a:buNone/>
            </a:pPr>
            <a:r>
              <a:rPr lang="en-US" sz="2400" b="1" dirty="0">
                <a:solidFill>
                  <a:srgbClr val="E3C682"/>
                </a:solidFill>
                <a:latin typeface="Georgia" pitchFamily="34" charset="0"/>
                <a:ea typeface="Georgia" pitchFamily="34" charset="-122"/>
                <a:cs typeface="Georgia" pitchFamily="34" charset="-120"/>
              </a:rPr>
              <a:t>~Nov 2026</a:t>
            </a:r>
            <a:endParaRPr lang="en-US" sz="2400" dirty="0"/>
          </a:p>
        </p:txBody>
      </p:sp>
      <p:sp>
        <p:nvSpPr>
          <p:cNvPr id="22" name="Text 20"/>
          <p:cNvSpPr/>
          <p:nvPr/>
        </p:nvSpPr>
        <p:spPr>
          <a:xfrm>
            <a:off x="9192006" y="4434840"/>
            <a:ext cx="2192274" cy="685800"/>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Grace period ends, full enforcement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FROM PAPER TO POWER</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The journey of Law 151</a:t>
            </a:r>
            <a:endParaRPr lang="en-US" sz="3300" dirty="0"/>
          </a:p>
        </p:txBody>
      </p:sp>
      <p:sp>
        <p:nvSpPr>
          <p:cNvPr id="8" name="Shape 6"/>
          <p:cNvSpPr/>
          <p:nvPr/>
        </p:nvSpPr>
        <p:spPr>
          <a:xfrm>
            <a:off x="1005840" y="2468880"/>
            <a:ext cx="10177272" cy="0"/>
          </a:xfrm>
          <a:prstGeom prst="line">
            <a:avLst/>
          </a:prstGeom>
          <a:noFill/>
          <a:ln w="31750">
            <a:solidFill>
              <a:srgbClr val="C8A24A"/>
            </a:solidFill>
            <a:prstDash val="solid"/>
          </a:ln>
        </p:spPr>
      </p:sp>
      <p:sp>
        <p:nvSpPr>
          <p:cNvPr id="9" name="Shape 7"/>
          <p:cNvSpPr/>
          <p:nvPr/>
        </p:nvSpPr>
        <p:spPr>
          <a:xfrm>
            <a:off x="886968" y="2350008"/>
            <a:ext cx="237744" cy="237744"/>
          </a:xfrm>
          <a:prstGeom prst="ellipse">
            <a:avLst/>
          </a:prstGeom>
          <a:solidFill>
            <a:srgbClr val="C8A24A"/>
          </a:solidFill>
          <a:ln w="25400">
            <a:solidFill>
              <a:srgbClr val="E3C682"/>
            </a:solidFill>
            <a:prstDash val="solid"/>
          </a:ln>
        </p:spPr>
      </p:sp>
      <p:sp>
        <p:nvSpPr>
          <p:cNvPr id="10" name="Text 8"/>
          <p:cNvSpPr/>
          <p:nvPr/>
        </p:nvSpPr>
        <p:spPr>
          <a:xfrm>
            <a:off x="228600"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Georgia" pitchFamily="34" charset="0"/>
                <a:ea typeface="Georgia" pitchFamily="34" charset="-122"/>
                <a:cs typeface="Georgia" pitchFamily="34" charset="-120"/>
              </a:rPr>
              <a:t>Jul 2020</a:t>
            </a:r>
            <a:endParaRPr lang="en-US" sz="1500" dirty="0"/>
          </a:p>
        </p:txBody>
      </p:sp>
      <p:sp>
        <p:nvSpPr>
          <p:cNvPr id="11" name="Text 9"/>
          <p:cNvSpPr/>
          <p:nvPr/>
        </p:nvSpPr>
        <p:spPr>
          <a:xfrm>
            <a:off x="137160" y="2971800"/>
            <a:ext cx="1737360" cy="457200"/>
          </a:xfrm>
          <a:prstGeom prst="rect">
            <a:avLst/>
          </a:prstGeom>
          <a:noFill/>
          <a:ln/>
        </p:spPr>
        <p:txBody>
          <a:bodyPr wrap="square" rtlCol="0" anchor="ctr"/>
          <a:lstStyle/>
          <a:p>
            <a:pPr algn="ctr" indent="0" marL="0">
              <a:buNone/>
            </a:pPr>
            <a:r>
              <a:rPr lang="en-US" sz="1100" dirty="0">
                <a:solidFill>
                  <a:srgbClr val="9FB0C8"/>
                </a:solidFill>
                <a:latin typeface="Calibri" pitchFamily="34" charset="0"/>
                <a:ea typeface="Calibri" pitchFamily="34" charset="-122"/>
                <a:cs typeface="Calibri" pitchFamily="34" charset="-120"/>
              </a:rPr>
              <a:t>Law enacted</a:t>
            </a:r>
            <a:endParaRPr lang="en-US" sz="1100" dirty="0"/>
          </a:p>
        </p:txBody>
      </p:sp>
      <p:sp>
        <p:nvSpPr>
          <p:cNvPr id="12" name="Shape 10"/>
          <p:cNvSpPr/>
          <p:nvPr/>
        </p:nvSpPr>
        <p:spPr>
          <a:xfrm>
            <a:off x="2922422" y="2350008"/>
            <a:ext cx="237744" cy="237744"/>
          </a:xfrm>
          <a:prstGeom prst="ellipse">
            <a:avLst/>
          </a:prstGeom>
          <a:solidFill>
            <a:srgbClr val="C8A24A"/>
          </a:solidFill>
          <a:ln w="25400">
            <a:solidFill>
              <a:srgbClr val="E3C682"/>
            </a:solidFill>
            <a:prstDash val="solid"/>
          </a:ln>
        </p:spPr>
      </p:sp>
      <p:sp>
        <p:nvSpPr>
          <p:cNvPr id="13" name="Text 11"/>
          <p:cNvSpPr/>
          <p:nvPr/>
        </p:nvSpPr>
        <p:spPr>
          <a:xfrm>
            <a:off x="2264054"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Georgia" pitchFamily="34" charset="0"/>
                <a:ea typeface="Georgia" pitchFamily="34" charset="-122"/>
                <a:cs typeface="Georgia" pitchFamily="34" charset="-120"/>
              </a:rPr>
              <a:t>Oct 2020</a:t>
            </a:r>
            <a:endParaRPr lang="en-US" sz="1500" dirty="0"/>
          </a:p>
        </p:txBody>
      </p:sp>
      <p:sp>
        <p:nvSpPr>
          <p:cNvPr id="14" name="Text 12"/>
          <p:cNvSpPr/>
          <p:nvPr/>
        </p:nvSpPr>
        <p:spPr>
          <a:xfrm>
            <a:off x="2172614" y="2971800"/>
            <a:ext cx="1737360" cy="457200"/>
          </a:xfrm>
          <a:prstGeom prst="rect">
            <a:avLst/>
          </a:prstGeom>
          <a:noFill/>
          <a:ln/>
        </p:spPr>
        <p:txBody>
          <a:bodyPr wrap="square" rtlCol="0" anchor="ctr"/>
          <a:lstStyle/>
          <a:p>
            <a:pPr algn="ctr" indent="0" marL="0">
              <a:buNone/>
            </a:pPr>
            <a:r>
              <a:rPr lang="en-US" sz="1100" dirty="0">
                <a:solidFill>
                  <a:srgbClr val="9FB0C8"/>
                </a:solidFill>
                <a:latin typeface="Calibri" pitchFamily="34" charset="0"/>
                <a:ea typeface="Calibri" pitchFamily="34" charset="-122"/>
                <a:cs typeface="Calibri" pitchFamily="34" charset="-120"/>
              </a:rPr>
              <a:t>In effect</a:t>
            </a:r>
            <a:endParaRPr lang="en-US" sz="1100" dirty="0"/>
          </a:p>
        </p:txBody>
      </p:sp>
      <p:sp>
        <p:nvSpPr>
          <p:cNvPr id="15" name="Shape 13"/>
          <p:cNvSpPr/>
          <p:nvPr/>
        </p:nvSpPr>
        <p:spPr>
          <a:xfrm>
            <a:off x="4957877" y="2350008"/>
            <a:ext cx="237744" cy="237744"/>
          </a:xfrm>
          <a:prstGeom prst="ellipse">
            <a:avLst/>
          </a:prstGeom>
          <a:solidFill>
            <a:srgbClr val="C8A24A"/>
          </a:solidFill>
          <a:ln w="25400">
            <a:solidFill>
              <a:srgbClr val="E3C682"/>
            </a:solidFill>
            <a:prstDash val="solid"/>
          </a:ln>
        </p:spPr>
      </p:sp>
      <p:sp>
        <p:nvSpPr>
          <p:cNvPr id="16" name="Text 14"/>
          <p:cNvSpPr/>
          <p:nvPr/>
        </p:nvSpPr>
        <p:spPr>
          <a:xfrm>
            <a:off x="4299509"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Georgia" pitchFamily="34" charset="0"/>
                <a:ea typeface="Georgia" pitchFamily="34" charset="-122"/>
                <a:cs typeface="Georgia" pitchFamily="34" charset="-120"/>
              </a:rPr>
              <a:t>2020-25</a:t>
            </a:r>
            <a:endParaRPr lang="en-US" sz="1500" dirty="0"/>
          </a:p>
        </p:txBody>
      </p:sp>
      <p:sp>
        <p:nvSpPr>
          <p:cNvPr id="17" name="Text 15"/>
          <p:cNvSpPr/>
          <p:nvPr/>
        </p:nvSpPr>
        <p:spPr>
          <a:xfrm>
            <a:off x="4208069" y="2971800"/>
            <a:ext cx="1737360" cy="457200"/>
          </a:xfrm>
          <a:prstGeom prst="rect">
            <a:avLst/>
          </a:prstGeom>
          <a:noFill/>
          <a:ln/>
        </p:spPr>
        <p:txBody>
          <a:bodyPr wrap="square" rtlCol="0" anchor="ctr"/>
          <a:lstStyle/>
          <a:p>
            <a:pPr algn="ctr" indent="0" marL="0">
              <a:buNone/>
            </a:pPr>
            <a:r>
              <a:rPr lang="en-US" sz="1100" dirty="0">
                <a:solidFill>
                  <a:srgbClr val="9FB0C8"/>
                </a:solidFill>
                <a:latin typeface="Calibri" pitchFamily="34" charset="0"/>
                <a:ea typeface="Calibri" pitchFamily="34" charset="-122"/>
                <a:cs typeface="Calibri" pitchFamily="34" charset="-120"/>
              </a:rPr>
              <a:t>The long sleep</a:t>
            </a:r>
            <a:endParaRPr lang="en-US" sz="1100" dirty="0"/>
          </a:p>
        </p:txBody>
      </p:sp>
      <p:sp>
        <p:nvSpPr>
          <p:cNvPr id="18" name="Shape 16"/>
          <p:cNvSpPr/>
          <p:nvPr/>
        </p:nvSpPr>
        <p:spPr>
          <a:xfrm>
            <a:off x="6993331" y="2350008"/>
            <a:ext cx="237744" cy="237744"/>
          </a:xfrm>
          <a:prstGeom prst="ellipse">
            <a:avLst/>
          </a:prstGeom>
          <a:solidFill>
            <a:srgbClr val="C8A24A"/>
          </a:solidFill>
          <a:ln w="25400">
            <a:solidFill>
              <a:srgbClr val="E3C682"/>
            </a:solidFill>
            <a:prstDash val="solid"/>
          </a:ln>
        </p:spPr>
      </p:sp>
      <p:sp>
        <p:nvSpPr>
          <p:cNvPr id="19" name="Text 17"/>
          <p:cNvSpPr/>
          <p:nvPr/>
        </p:nvSpPr>
        <p:spPr>
          <a:xfrm>
            <a:off x="6334963"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Georgia" pitchFamily="34" charset="0"/>
                <a:ea typeface="Georgia" pitchFamily="34" charset="-122"/>
                <a:cs typeface="Georgia" pitchFamily="34" charset="-120"/>
              </a:rPr>
              <a:t>Nov 2025</a:t>
            </a:r>
            <a:endParaRPr lang="en-US" sz="1500" dirty="0"/>
          </a:p>
        </p:txBody>
      </p:sp>
      <p:sp>
        <p:nvSpPr>
          <p:cNvPr id="20" name="Text 18"/>
          <p:cNvSpPr/>
          <p:nvPr/>
        </p:nvSpPr>
        <p:spPr>
          <a:xfrm>
            <a:off x="6243523" y="2971800"/>
            <a:ext cx="1737360" cy="457200"/>
          </a:xfrm>
          <a:prstGeom prst="rect">
            <a:avLst/>
          </a:prstGeom>
          <a:noFill/>
          <a:ln/>
        </p:spPr>
        <p:txBody>
          <a:bodyPr wrap="square" rtlCol="0" anchor="ctr"/>
          <a:lstStyle/>
          <a:p>
            <a:pPr algn="ctr" indent="0" marL="0">
              <a:buNone/>
            </a:pPr>
            <a:r>
              <a:rPr lang="en-US" sz="1100" dirty="0">
                <a:solidFill>
                  <a:srgbClr val="9FB0C8"/>
                </a:solidFill>
                <a:latin typeface="Calibri" pitchFamily="34" charset="0"/>
                <a:ea typeface="Calibri" pitchFamily="34" charset="-122"/>
                <a:cs typeface="Calibri" pitchFamily="34" charset="-120"/>
              </a:rPr>
              <a:t>Regulations</a:t>
            </a:r>
            <a:endParaRPr lang="en-US" sz="1100" dirty="0"/>
          </a:p>
        </p:txBody>
      </p:sp>
      <p:sp>
        <p:nvSpPr>
          <p:cNvPr id="21" name="Shape 19"/>
          <p:cNvSpPr/>
          <p:nvPr/>
        </p:nvSpPr>
        <p:spPr>
          <a:xfrm>
            <a:off x="9028786" y="2350008"/>
            <a:ext cx="237744" cy="237744"/>
          </a:xfrm>
          <a:prstGeom prst="ellipse">
            <a:avLst/>
          </a:prstGeom>
          <a:solidFill>
            <a:srgbClr val="C8102E"/>
          </a:solidFill>
          <a:ln w="25400">
            <a:solidFill>
              <a:srgbClr val="E23A52"/>
            </a:solidFill>
            <a:prstDash val="solid"/>
          </a:ln>
        </p:spPr>
      </p:sp>
      <p:sp>
        <p:nvSpPr>
          <p:cNvPr id="22" name="Text 20"/>
          <p:cNvSpPr/>
          <p:nvPr/>
        </p:nvSpPr>
        <p:spPr>
          <a:xfrm>
            <a:off x="8370418" y="2651760"/>
            <a:ext cx="1554480" cy="320040"/>
          </a:xfrm>
          <a:prstGeom prst="rect">
            <a:avLst/>
          </a:prstGeom>
          <a:noFill/>
          <a:ln/>
        </p:spPr>
        <p:txBody>
          <a:bodyPr wrap="square" rtlCol="0" anchor="ctr"/>
          <a:lstStyle/>
          <a:p>
            <a:pPr algn="ctr" indent="0" marL="0">
              <a:buNone/>
            </a:pPr>
            <a:r>
              <a:rPr lang="en-US" sz="1500" b="1" dirty="0">
                <a:solidFill>
                  <a:srgbClr val="E23A52"/>
                </a:solidFill>
                <a:latin typeface="Georgia" pitchFamily="34" charset="0"/>
                <a:ea typeface="Georgia" pitchFamily="34" charset="-122"/>
                <a:cs typeface="Georgia" pitchFamily="34" charset="-120"/>
              </a:rPr>
              <a:t>Jun 2026</a:t>
            </a:r>
            <a:endParaRPr lang="en-US" sz="1500" dirty="0"/>
          </a:p>
        </p:txBody>
      </p:sp>
      <p:sp>
        <p:nvSpPr>
          <p:cNvPr id="23" name="Text 21"/>
          <p:cNvSpPr/>
          <p:nvPr/>
        </p:nvSpPr>
        <p:spPr>
          <a:xfrm>
            <a:off x="8278978" y="2971800"/>
            <a:ext cx="1737360" cy="457200"/>
          </a:xfrm>
          <a:prstGeom prst="rect">
            <a:avLst/>
          </a:prstGeom>
          <a:noFill/>
          <a:ln/>
        </p:spPr>
        <p:txBody>
          <a:bodyPr wrap="square" rtlCol="0" anchor="ctr"/>
          <a:lstStyle/>
          <a:p>
            <a:pPr algn="ctr" indent="0" marL="0">
              <a:buNone/>
            </a:pPr>
            <a:r>
              <a:rPr lang="en-US" sz="1100" dirty="0">
                <a:solidFill>
                  <a:srgbClr val="9FB0C8"/>
                </a:solidFill>
                <a:latin typeface="Calibri" pitchFamily="34" charset="0"/>
                <a:ea typeface="Calibri" pitchFamily="34" charset="-122"/>
                <a:cs typeface="Calibri" pitchFamily="34" charset="-120"/>
              </a:rPr>
              <a:t>You are here</a:t>
            </a:r>
            <a:endParaRPr lang="en-US" sz="1100" dirty="0"/>
          </a:p>
        </p:txBody>
      </p:sp>
      <p:sp>
        <p:nvSpPr>
          <p:cNvPr id="24" name="Shape 22"/>
          <p:cNvSpPr/>
          <p:nvPr/>
        </p:nvSpPr>
        <p:spPr>
          <a:xfrm>
            <a:off x="11064240" y="2350008"/>
            <a:ext cx="237744" cy="237744"/>
          </a:xfrm>
          <a:prstGeom prst="ellipse">
            <a:avLst/>
          </a:prstGeom>
          <a:solidFill>
            <a:srgbClr val="C8A24A"/>
          </a:solidFill>
          <a:ln w="25400">
            <a:solidFill>
              <a:srgbClr val="E3C682"/>
            </a:solidFill>
            <a:prstDash val="solid"/>
          </a:ln>
        </p:spPr>
      </p:sp>
      <p:sp>
        <p:nvSpPr>
          <p:cNvPr id="25" name="Text 23"/>
          <p:cNvSpPr/>
          <p:nvPr/>
        </p:nvSpPr>
        <p:spPr>
          <a:xfrm>
            <a:off x="10405872"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Georgia" pitchFamily="34" charset="0"/>
                <a:ea typeface="Georgia" pitchFamily="34" charset="-122"/>
                <a:cs typeface="Georgia" pitchFamily="34" charset="-120"/>
              </a:rPr>
              <a:t>Nov 2026</a:t>
            </a:r>
            <a:endParaRPr lang="en-US" sz="1500" dirty="0"/>
          </a:p>
        </p:txBody>
      </p:sp>
      <p:sp>
        <p:nvSpPr>
          <p:cNvPr id="26" name="Text 24"/>
          <p:cNvSpPr/>
          <p:nvPr/>
        </p:nvSpPr>
        <p:spPr>
          <a:xfrm>
            <a:off x="10314432" y="2971800"/>
            <a:ext cx="1737360" cy="457200"/>
          </a:xfrm>
          <a:prstGeom prst="rect">
            <a:avLst/>
          </a:prstGeom>
          <a:noFill/>
          <a:ln/>
        </p:spPr>
        <p:txBody>
          <a:bodyPr wrap="square" rtlCol="0" anchor="ctr"/>
          <a:lstStyle/>
          <a:p>
            <a:pPr algn="ctr" indent="0" marL="0">
              <a:buNone/>
            </a:pPr>
            <a:r>
              <a:rPr lang="en-US" sz="1100" dirty="0">
                <a:solidFill>
                  <a:srgbClr val="9FB0C8"/>
                </a:solidFill>
                <a:latin typeface="Calibri" pitchFamily="34" charset="0"/>
                <a:ea typeface="Calibri" pitchFamily="34" charset="-122"/>
                <a:cs typeface="Calibri" pitchFamily="34" charset="-120"/>
              </a:rPr>
              <a:t>Enforcement</a:t>
            </a:r>
            <a:endParaRPr lang="en-US" sz="1100" dirty="0"/>
          </a:p>
        </p:txBody>
      </p:sp>
      <p:sp>
        <p:nvSpPr>
          <p:cNvPr id="27" name="Shape 25"/>
          <p:cNvSpPr/>
          <p:nvPr/>
        </p:nvSpPr>
        <p:spPr>
          <a:xfrm>
            <a:off x="640080" y="4023360"/>
            <a:ext cx="10908792" cy="1463040"/>
          </a:xfrm>
          <a:prstGeom prst="roundRect">
            <a:avLst>
              <a:gd name="adj" fmla="val 6250"/>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8" name="Text 26"/>
          <p:cNvSpPr/>
          <p:nvPr/>
        </p:nvSpPr>
        <p:spPr>
          <a:xfrm>
            <a:off x="914400" y="4206240"/>
            <a:ext cx="10360152" cy="457200"/>
          </a:xfrm>
          <a:prstGeom prst="rect">
            <a:avLst/>
          </a:prstGeom>
          <a:noFill/>
          <a:ln/>
        </p:spPr>
        <p:txBody>
          <a:bodyPr wrap="square" rtlCol="0" anchor="ctr"/>
          <a:lstStyle/>
          <a:p>
            <a:pPr algn="l" indent="0" marL="0">
              <a:buNone/>
            </a:pPr>
            <a:r>
              <a:rPr lang="en-US" sz="2100" b="1" dirty="0">
                <a:solidFill>
                  <a:srgbClr val="FFFFFF"/>
                </a:solidFill>
                <a:latin typeface="Georgia" pitchFamily="34" charset="0"/>
                <a:ea typeface="Georgia" pitchFamily="34" charset="-122"/>
                <a:cs typeface="Georgia" pitchFamily="34" charset="-120"/>
              </a:rPr>
              <a:t>November 2025, the rulebook arrives</a:t>
            </a:r>
            <a:endParaRPr lang="en-US" sz="2100" dirty="0"/>
          </a:p>
        </p:txBody>
      </p:sp>
      <p:sp>
        <p:nvSpPr>
          <p:cNvPr id="29" name="Text 27"/>
          <p:cNvSpPr/>
          <p:nvPr/>
        </p:nvSpPr>
        <p:spPr>
          <a:xfrm>
            <a:off x="914400" y="4663440"/>
            <a:ext cx="10360152" cy="731520"/>
          </a:xfrm>
          <a:prstGeom prst="rect">
            <a:avLst/>
          </a:prstGeom>
          <a:noFill/>
          <a:ln/>
        </p:spPr>
        <p:txBody>
          <a:bodyPr wrap="square" rtlCol="0" anchor="t"/>
          <a:lstStyle/>
          <a:p>
            <a:pPr algn="l" indent="0" marL="0">
              <a:buNone/>
            </a:pPr>
            <a:r>
              <a:rPr lang="en-US" sz="1350" dirty="0">
                <a:solidFill>
                  <a:srgbClr val="D9E0EC"/>
                </a:solidFill>
                <a:latin typeface="Calibri" pitchFamily="34" charset="0"/>
                <a:ea typeface="Calibri" pitchFamily="34" charset="-122"/>
                <a:cs typeface="Calibri" pitchFamily="34" charset="-120"/>
              </a:rPr>
              <a:t>Prime Ministerial Decree No. 816 (1 Nov 2025) issued the Executive Regulations, in force 2 Nov 2025. After five dormant years, the law finally became operational, and a one-year compliance clock to ~Nov 2026 began.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THE ESSENTIALS</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The law at a glance</a:t>
            </a:r>
            <a:endParaRPr lang="en-US" sz="3300" dirty="0"/>
          </a:p>
        </p:txBody>
      </p:sp>
      <p:sp>
        <p:nvSpPr>
          <p:cNvPr id="8" name="Shape 6"/>
          <p:cNvSpPr/>
          <p:nvPr/>
        </p:nvSpPr>
        <p:spPr>
          <a:xfrm>
            <a:off x="640080"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640080"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Georgia" pitchFamily="34" charset="0"/>
                <a:ea typeface="Georgia" pitchFamily="34" charset="-122"/>
                <a:cs typeface="Georgia" pitchFamily="34" charset="-120"/>
              </a:rPr>
              <a:t>2020</a:t>
            </a:r>
            <a:endParaRPr lang="en-US" sz="3000" dirty="0"/>
          </a:p>
        </p:txBody>
      </p:sp>
      <p:sp>
        <p:nvSpPr>
          <p:cNvPr id="10" name="Text 8"/>
          <p:cNvSpPr/>
          <p:nvPr/>
        </p:nvSpPr>
        <p:spPr>
          <a:xfrm>
            <a:off x="640080" y="3246120"/>
            <a:ext cx="2521458"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Enacted</a:t>
            </a:r>
            <a:endParaRPr lang="en-US" sz="1300" dirty="0"/>
          </a:p>
        </p:txBody>
      </p:sp>
      <p:sp>
        <p:nvSpPr>
          <p:cNvPr id="11" name="Text 9"/>
          <p:cNvSpPr/>
          <p:nvPr/>
        </p:nvSpPr>
        <p:spPr>
          <a:xfrm>
            <a:off x="749808" y="3566160"/>
            <a:ext cx="2302002" cy="1188720"/>
          </a:xfrm>
          <a:prstGeom prst="rect">
            <a:avLst/>
          </a:prstGeom>
          <a:noFill/>
          <a:ln/>
        </p:spPr>
        <p:txBody>
          <a:bodyPr wrap="square" rtlCol="0" anchor="t"/>
          <a:lstStyle/>
          <a:p>
            <a:pPr algn="ctr" indent="0" marL="0">
              <a:buNone/>
            </a:pPr>
            <a:r>
              <a:rPr lang="en-US" sz="1050" dirty="0">
                <a:solidFill>
                  <a:srgbClr val="9FB0C8"/>
                </a:solidFill>
                <a:latin typeface="Calibri" pitchFamily="34" charset="0"/>
                <a:ea typeface="Calibri" pitchFamily="34" charset="-122"/>
                <a:cs typeface="Calibri" pitchFamily="34" charset="-120"/>
              </a:rPr>
              <a:t>13 Jul; in effect 14 Oct 2020</a:t>
            </a:r>
            <a:endParaRPr lang="en-US" sz="1050" dirty="0"/>
          </a:p>
        </p:txBody>
      </p:sp>
      <p:sp>
        <p:nvSpPr>
          <p:cNvPr id="12" name="Shape 10"/>
          <p:cNvSpPr/>
          <p:nvPr/>
        </p:nvSpPr>
        <p:spPr>
          <a:xfrm>
            <a:off x="3435858"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3435858"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Georgia" pitchFamily="34" charset="0"/>
                <a:ea typeface="Georgia" pitchFamily="34" charset="-122"/>
                <a:cs typeface="Georgia" pitchFamily="34" charset="-120"/>
              </a:rPr>
              <a:t>1st</a:t>
            </a:r>
            <a:endParaRPr lang="en-US" sz="3000" dirty="0"/>
          </a:p>
        </p:txBody>
      </p:sp>
      <p:sp>
        <p:nvSpPr>
          <p:cNvPr id="14" name="Text 12"/>
          <p:cNvSpPr/>
          <p:nvPr/>
        </p:nvSpPr>
        <p:spPr>
          <a:xfrm>
            <a:off x="3435858" y="3246120"/>
            <a:ext cx="2521458"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Comprehensive law</a:t>
            </a:r>
            <a:endParaRPr lang="en-US" sz="1300" dirty="0"/>
          </a:p>
        </p:txBody>
      </p:sp>
      <p:sp>
        <p:nvSpPr>
          <p:cNvPr id="15" name="Text 13"/>
          <p:cNvSpPr/>
          <p:nvPr/>
        </p:nvSpPr>
        <p:spPr>
          <a:xfrm>
            <a:off x="3545586" y="3566160"/>
            <a:ext cx="2302002" cy="1188720"/>
          </a:xfrm>
          <a:prstGeom prst="rect">
            <a:avLst/>
          </a:prstGeom>
          <a:noFill/>
          <a:ln/>
        </p:spPr>
        <p:txBody>
          <a:bodyPr wrap="square" rtlCol="0" anchor="t"/>
          <a:lstStyle/>
          <a:p>
            <a:pPr algn="ctr" indent="0" marL="0">
              <a:buNone/>
            </a:pPr>
            <a:r>
              <a:rPr lang="en-US" sz="1050" dirty="0">
                <a:solidFill>
                  <a:srgbClr val="9FB0C8"/>
                </a:solidFill>
                <a:latin typeface="Calibri" pitchFamily="34" charset="0"/>
                <a:ea typeface="Calibri" pitchFamily="34" charset="-122"/>
                <a:cs typeface="Calibri" pitchFamily="34" charset="-120"/>
              </a:rPr>
              <a:t>Egypt's first dedicated data law</a:t>
            </a:r>
            <a:endParaRPr lang="en-US" sz="1050" dirty="0"/>
          </a:p>
        </p:txBody>
      </p:sp>
      <p:sp>
        <p:nvSpPr>
          <p:cNvPr id="16" name="Shape 14"/>
          <p:cNvSpPr/>
          <p:nvPr/>
        </p:nvSpPr>
        <p:spPr>
          <a:xfrm>
            <a:off x="6231636"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7" name="Text 15"/>
          <p:cNvSpPr/>
          <p:nvPr/>
        </p:nvSpPr>
        <p:spPr>
          <a:xfrm>
            <a:off x="6231636"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Georgia" pitchFamily="34" charset="0"/>
                <a:ea typeface="Georgia" pitchFamily="34" charset="-122"/>
                <a:cs typeface="Georgia" pitchFamily="34" charset="-120"/>
              </a:rPr>
              <a:t>PDPC</a:t>
            </a:r>
            <a:endParaRPr lang="en-US" sz="3000" dirty="0"/>
          </a:p>
        </p:txBody>
      </p:sp>
      <p:sp>
        <p:nvSpPr>
          <p:cNvPr id="18" name="Text 16"/>
          <p:cNvSpPr/>
          <p:nvPr/>
        </p:nvSpPr>
        <p:spPr>
          <a:xfrm>
            <a:off x="6231636" y="3246120"/>
            <a:ext cx="2521458"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regulator</a:t>
            </a:r>
            <a:endParaRPr lang="en-US" sz="1300" dirty="0"/>
          </a:p>
        </p:txBody>
      </p:sp>
      <p:sp>
        <p:nvSpPr>
          <p:cNvPr id="19" name="Text 17"/>
          <p:cNvSpPr/>
          <p:nvPr/>
        </p:nvSpPr>
        <p:spPr>
          <a:xfrm>
            <a:off x="6341364" y="3566160"/>
            <a:ext cx="2302002" cy="1188720"/>
          </a:xfrm>
          <a:prstGeom prst="rect">
            <a:avLst/>
          </a:prstGeom>
          <a:noFill/>
          <a:ln/>
        </p:spPr>
        <p:txBody>
          <a:bodyPr wrap="square" rtlCol="0" anchor="t"/>
          <a:lstStyle/>
          <a:p>
            <a:pPr algn="ctr" indent="0" marL="0">
              <a:buNone/>
            </a:pPr>
            <a:r>
              <a:rPr lang="en-US" sz="1050" dirty="0">
                <a:solidFill>
                  <a:srgbClr val="9FB0C8"/>
                </a:solidFill>
                <a:latin typeface="Calibri" pitchFamily="34" charset="0"/>
                <a:ea typeface="Calibri" pitchFamily="34" charset="-122"/>
                <a:cs typeface="Calibri" pitchFamily="34" charset="-120"/>
              </a:rPr>
              <a:t>Data Protection Center, under MCIT</a:t>
            </a:r>
            <a:endParaRPr lang="en-US" sz="1050" dirty="0"/>
          </a:p>
        </p:txBody>
      </p:sp>
      <p:sp>
        <p:nvSpPr>
          <p:cNvPr id="20" name="Shape 18"/>
          <p:cNvSpPr/>
          <p:nvPr/>
        </p:nvSpPr>
        <p:spPr>
          <a:xfrm>
            <a:off x="9027414"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9027414"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Georgia" pitchFamily="34" charset="0"/>
                <a:ea typeface="Georgia" pitchFamily="34" charset="-122"/>
                <a:cs typeface="Georgia" pitchFamily="34" charset="-120"/>
              </a:rPr>
              <a:t>EGP 5M</a:t>
            </a:r>
            <a:endParaRPr lang="en-US" sz="3000" dirty="0"/>
          </a:p>
        </p:txBody>
      </p:sp>
      <p:sp>
        <p:nvSpPr>
          <p:cNvPr id="22" name="Text 20"/>
          <p:cNvSpPr/>
          <p:nvPr/>
        </p:nvSpPr>
        <p:spPr>
          <a:xfrm>
            <a:off x="9027414" y="3246120"/>
            <a:ext cx="2521458"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Top fine</a:t>
            </a:r>
            <a:endParaRPr lang="en-US" sz="1300" dirty="0"/>
          </a:p>
        </p:txBody>
      </p:sp>
      <p:sp>
        <p:nvSpPr>
          <p:cNvPr id="23" name="Text 21"/>
          <p:cNvSpPr/>
          <p:nvPr/>
        </p:nvSpPr>
        <p:spPr>
          <a:xfrm>
            <a:off x="9137142" y="3566160"/>
            <a:ext cx="2302002" cy="1188720"/>
          </a:xfrm>
          <a:prstGeom prst="rect">
            <a:avLst/>
          </a:prstGeom>
          <a:noFill/>
          <a:ln/>
        </p:spPr>
        <p:txBody>
          <a:bodyPr wrap="square" rtlCol="0" anchor="t"/>
          <a:lstStyle/>
          <a:p>
            <a:pPr algn="ctr" indent="0" marL="0">
              <a:buNone/>
            </a:pPr>
            <a:r>
              <a:rPr lang="en-US" sz="1050" dirty="0">
                <a:solidFill>
                  <a:srgbClr val="9FB0C8"/>
                </a:solidFill>
                <a:latin typeface="Calibri" pitchFamily="34" charset="0"/>
                <a:ea typeface="Calibri" pitchFamily="34" charset="-122"/>
                <a:cs typeface="Calibri" pitchFamily="34" charset="-120"/>
              </a:rPr>
              <a:t>Plus possible imprisonment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SPEAK THE LANGUAGE</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Five words that unlock the whole law</a:t>
            </a:r>
            <a:endParaRPr lang="en-US" sz="3300" dirty="0"/>
          </a:p>
        </p:txBody>
      </p:sp>
      <p:sp>
        <p:nvSpPr>
          <p:cNvPr id="8" name="Shape 6"/>
          <p:cNvSpPr/>
          <p:nvPr/>
        </p:nvSpPr>
        <p:spPr>
          <a:xfrm>
            <a:off x="640080" y="237744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542032"/>
            <a:ext cx="3051048" cy="457200"/>
          </a:xfrm>
          <a:prstGeom prst="rect">
            <a:avLst/>
          </a:prstGeom>
          <a:noFill/>
          <a:ln/>
        </p:spPr>
        <p:txBody>
          <a:bodyPr wrap="square" rtlCol="0" anchor="t"/>
          <a:lstStyle/>
          <a:p>
            <a:pPr algn="l" indent="0" marL="0">
              <a:buNone/>
            </a:pPr>
            <a:r>
              <a:rPr lang="en-US" sz="1700" b="1" dirty="0">
                <a:solidFill>
                  <a:srgbClr val="FFFFFF"/>
                </a:solidFill>
                <a:latin typeface="Georgia" pitchFamily="34" charset="0"/>
                <a:ea typeface="Georgia" pitchFamily="34" charset="-122"/>
                <a:cs typeface="Georgia" pitchFamily="34" charset="-120"/>
              </a:rPr>
              <a:t>Personal Data</a:t>
            </a:r>
            <a:endParaRPr lang="en-US" sz="1700" dirty="0"/>
          </a:p>
        </p:txBody>
      </p:sp>
      <p:sp>
        <p:nvSpPr>
          <p:cNvPr id="10" name="Text 8"/>
          <p:cNvSpPr/>
          <p:nvPr/>
        </p:nvSpPr>
        <p:spPr>
          <a:xfrm>
            <a:off x="841248" y="3054096"/>
            <a:ext cx="3051048" cy="923544"/>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Any information that points to a specific person: name, ID, phone, location, even an online identifier.</a:t>
            </a:r>
            <a:endParaRPr lang="en-US" sz="1250" dirty="0"/>
          </a:p>
        </p:txBody>
      </p:sp>
      <p:sp>
        <p:nvSpPr>
          <p:cNvPr id="11" name="Shape 9"/>
          <p:cNvSpPr/>
          <p:nvPr/>
        </p:nvSpPr>
        <p:spPr>
          <a:xfrm>
            <a:off x="4367784" y="237744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8952" y="2542032"/>
            <a:ext cx="3051048" cy="457200"/>
          </a:xfrm>
          <a:prstGeom prst="rect">
            <a:avLst/>
          </a:prstGeom>
          <a:noFill/>
          <a:ln/>
        </p:spPr>
        <p:txBody>
          <a:bodyPr wrap="square" rtlCol="0" anchor="t"/>
          <a:lstStyle/>
          <a:p>
            <a:pPr algn="l" indent="0" marL="0">
              <a:buNone/>
            </a:pPr>
            <a:r>
              <a:rPr lang="en-US" sz="1700" b="1" dirty="0">
                <a:solidFill>
                  <a:srgbClr val="FFFFFF"/>
                </a:solidFill>
                <a:latin typeface="Georgia" pitchFamily="34" charset="0"/>
                <a:ea typeface="Georgia" pitchFamily="34" charset="-122"/>
                <a:cs typeface="Georgia" pitchFamily="34" charset="-120"/>
              </a:rPr>
              <a:t>Sensitive Data</a:t>
            </a:r>
            <a:endParaRPr lang="en-US" sz="1700" dirty="0"/>
          </a:p>
        </p:txBody>
      </p:sp>
      <p:sp>
        <p:nvSpPr>
          <p:cNvPr id="13" name="Text 11"/>
          <p:cNvSpPr/>
          <p:nvPr/>
        </p:nvSpPr>
        <p:spPr>
          <a:xfrm>
            <a:off x="4568952" y="3054096"/>
            <a:ext cx="3051048" cy="923544"/>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Extra-private data, health, genetics, biometrics, finances, religion, politics, children. Protected more strictly.</a:t>
            </a:r>
            <a:endParaRPr lang="en-US" sz="1250" dirty="0"/>
          </a:p>
        </p:txBody>
      </p:sp>
      <p:sp>
        <p:nvSpPr>
          <p:cNvPr id="14" name="Shape 12"/>
          <p:cNvSpPr/>
          <p:nvPr/>
        </p:nvSpPr>
        <p:spPr>
          <a:xfrm>
            <a:off x="8095488" y="237744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296656" y="2542032"/>
            <a:ext cx="3051048" cy="457200"/>
          </a:xfrm>
          <a:prstGeom prst="rect">
            <a:avLst/>
          </a:prstGeom>
          <a:noFill/>
          <a:ln/>
        </p:spPr>
        <p:txBody>
          <a:bodyPr wrap="square" rtlCol="0" anchor="t"/>
          <a:lstStyle/>
          <a:p>
            <a:pPr algn="l" indent="0" marL="0">
              <a:buNone/>
            </a:pPr>
            <a:r>
              <a:rPr lang="en-US" sz="1700" b="1" dirty="0">
                <a:solidFill>
                  <a:srgbClr val="FFFFFF"/>
                </a:solidFill>
                <a:latin typeface="Georgia" pitchFamily="34" charset="0"/>
                <a:ea typeface="Georgia" pitchFamily="34" charset="-122"/>
                <a:cs typeface="Georgia" pitchFamily="34" charset="-120"/>
              </a:rPr>
              <a:t>Data Controller</a:t>
            </a:r>
            <a:endParaRPr lang="en-US" sz="1700" dirty="0"/>
          </a:p>
        </p:txBody>
      </p:sp>
      <p:sp>
        <p:nvSpPr>
          <p:cNvPr id="16" name="Text 14"/>
          <p:cNvSpPr/>
          <p:nvPr/>
        </p:nvSpPr>
        <p:spPr>
          <a:xfrm>
            <a:off x="8296656" y="3054096"/>
            <a:ext cx="3051048" cy="923544"/>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The boss of the data, who decides WHY and HOW personal data is used.</a:t>
            </a:r>
            <a:endParaRPr lang="en-US" sz="1250" dirty="0"/>
          </a:p>
        </p:txBody>
      </p:sp>
      <p:sp>
        <p:nvSpPr>
          <p:cNvPr id="17" name="Shape 15"/>
          <p:cNvSpPr/>
          <p:nvPr/>
        </p:nvSpPr>
        <p:spPr>
          <a:xfrm>
            <a:off x="640080" y="434340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41248" y="4507992"/>
            <a:ext cx="3051048" cy="411480"/>
          </a:xfrm>
          <a:prstGeom prst="rect">
            <a:avLst/>
          </a:prstGeom>
          <a:noFill/>
          <a:ln/>
        </p:spPr>
        <p:txBody>
          <a:bodyPr wrap="square" rtlCol="0" anchor="ctr"/>
          <a:lstStyle/>
          <a:p>
            <a:pPr algn="l" indent="0" marL="0">
              <a:buNone/>
            </a:pPr>
            <a:r>
              <a:rPr lang="en-US" sz="1700" b="1" dirty="0">
                <a:solidFill>
                  <a:srgbClr val="FFFFFF"/>
                </a:solidFill>
                <a:latin typeface="Georgia" pitchFamily="34" charset="0"/>
                <a:ea typeface="Georgia" pitchFamily="34" charset="-122"/>
                <a:cs typeface="Georgia" pitchFamily="34" charset="-120"/>
              </a:rPr>
              <a:t>Data Processor</a:t>
            </a:r>
            <a:endParaRPr lang="en-US" sz="1700" dirty="0"/>
          </a:p>
        </p:txBody>
      </p:sp>
      <p:sp>
        <p:nvSpPr>
          <p:cNvPr id="19" name="Text 17"/>
          <p:cNvSpPr/>
          <p:nvPr/>
        </p:nvSpPr>
        <p:spPr>
          <a:xfrm>
            <a:off x="841248" y="4892040"/>
            <a:ext cx="3051048" cy="1051560"/>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A vendor that handles data ON BEHALF of the controller (e.g. a cloud provider).</a:t>
            </a:r>
            <a:endParaRPr lang="en-US" sz="1250" dirty="0"/>
          </a:p>
        </p:txBody>
      </p:sp>
      <p:sp>
        <p:nvSpPr>
          <p:cNvPr id="20" name="Shape 18"/>
          <p:cNvSpPr/>
          <p:nvPr/>
        </p:nvSpPr>
        <p:spPr>
          <a:xfrm>
            <a:off x="4367784" y="434340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4568952" y="4507992"/>
            <a:ext cx="3051048" cy="411480"/>
          </a:xfrm>
          <a:prstGeom prst="rect">
            <a:avLst/>
          </a:prstGeom>
          <a:noFill/>
          <a:ln/>
        </p:spPr>
        <p:txBody>
          <a:bodyPr wrap="square" rtlCol="0" anchor="ctr"/>
          <a:lstStyle/>
          <a:p>
            <a:pPr algn="l" indent="0" marL="0">
              <a:buNone/>
            </a:pPr>
            <a:r>
              <a:rPr lang="en-US" sz="1700" b="1" dirty="0">
                <a:solidFill>
                  <a:srgbClr val="FFFFFF"/>
                </a:solidFill>
                <a:latin typeface="Georgia" pitchFamily="34" charset="0"/>
                <a:ea typeface="Georgia" pitchFamily="34" charset="-122"/>
                <a:cs typeface="Georgia" pitchFamily="34" charset="-120"/>
              </a:rPr>
              <a:t>Consent</a:t>
            </a:r>
            <a:endParaRPr lang="en-US" sz="1700" dirty="0"/>
          </a:p>
        </p:txBody>
      </p:sp>
      <p:sp>
        <p:nvSpPr>
          <p:cNvPr id="22" name="Text 20"/>
          <p:cNvSpPr/>
          <p:nvPr/>
        </p:nvSpPr>
        <p:spPr>
          <a:xfrm>
            <a:off x="4568952" y="4892040"/>
            <a:ext cx="3051048" cy="1051560"/>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A clear, specific, informed YES, freely given, and just as easy to take back.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COMMON MYTH, CORRECTED</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000" b="1" dirty="0">
                <a:solidFill>
                  <a:srgbClr val="FFFFFF"/>
                </a:solidFill>
                <a:latin typeface="Georgia" pitchFamily="34" charset="0"/>
                <a:ea typeface="Georgia" pitchFamily="34" charset="-122"/>
                <a:cs typeface="Georgia" pitchFamily="34" charset="-120"/>
              </a:rPr>
              <a:t>“You always need consent.” Not true.</a:t>
            </a:r>
            <a:endParaRPr lang="en-US" sz="3000" dirty="0"/>
          </a:p>
        </p:txBody>
      </p:sp>
      <p:sp>
        <p:nvSpPr>
          <p:cNvPr id="8" name="Text 6"/>
          <p:cNvSpPr/>
          <p:nvPr/>
        </p:nvSpPr>
        <p:spPr>
          <a:xfrm>
            <a:off x="640080" y="1737360"/>
            <a:ext cx="10908792" cy="640080"/>
          </a:xfrm>
          <a:prstGeom prst="rect">
            <a:avLst/>
          </a:prstGeom>
          <a:noFill/>
          <a:ln/>
        </p:spPr>
        <p:txBody>
          <a:bodyPr wrap="square" rtlCol="0" anchor="t"/>
          <a:lstStyle/>
          <a:p>
            <a:pPr algn="l" indent="0" marL="0">
              <a:buNone/>
            </a:pPr>
            <a:r>
              <a:rPr lang="en-US" sz="1500" dirty="0">
                <a:solidFill>
                  <a:srgbClr val="D9E0EC"/>
                </a:solidFill>
                <a:latin typeface="Calibri" pitchFamily="34" charset="0"/>
                <a:ea typeface="Calibri" pitchFamily="34" charset="-122"/>
                <a:cs typeface="Calibri" pitchFamily="34" charset="-120"/>
              </a:rPr>
              <a:t>Consent is only ONE of six lawful bases for processing personal data (Article 6):</a:t>
            </a:r>
            <a:endParaRPr lang="en-US" sz="1500" dirty="0"/>
          </a:p>
        </p:txBody>
      </p:sp>
      <p:sp>
        <p:nvSpPr>
          <p:cNvPr id="9" name="Shape 7"/>
          <p:cNvSpPr/>
          <p:nvPr/>
        </p:nvSpPr>
        <p:spPr>
          <a:xfrm>
            <a:off x="640080" y="2331720"/>
            <a:ext cx="3483864" cy="868680"/>
          </a:xfrm>
          <a:prstGeom prst="roundRect">
            <a:avLst>
              <a:gd name="adj" fmla="val 8421"/>
            </a:avLst>
          </a:prstGeom>
          <a:solidFill>
            <a:srgbClr val="122440"/>
          </a:solidFill>
          <a:ln w="12700">
            <a:solidFill>
              <a:srgbClr val="2C4060"/>
            </a:solidFill>
            <a:prstDash val="solid"/>
          </a:ln>
        </p:spPr>
      </p:sp>
      <p:sp>
        <p:nvSpPr>
          <p:cNvPr id="10" name="Shape 8"/>
          <p:cNvSpPr/>
          <p:nvPr/>
        </p:nvSpPr>
        <p:spPr>
          <a:xfrm>
            <a:off x="822960" y="2578608"/>
            <a:ext cx="365760" cy="365760"/>
          </a:xfrm>
          <a:prstGeom prst="ellipse">
            <a:avLst/>
          </a:prstGeom>
          <a:solidFill>
            <a:srgbClr val="0E2444"/>
          </a:solidFill>
          <a:ln w="19050">
            <a:solidFill>
              <a:srgbClr val="C8A24A"/>
            </a:solidFill>
            <a:prstDash val="solid"/>
          </a:ln>
        </p:spPr>
      </p:sp>
      <p:sp>
        <p:nvSpPr>
          <p:cNvPr id="11" name="Text 9"/>
          <p:cNvSpPr/>
          <p:nvPr/>
        </p:nvSpPr>
        <p:spPr>
          <a:xfrm>
            <a:off x="822960" y="2578608"/>
            <a:ext cx="365760" cy="365760"/>
          </a:xfrm>
          <a:prstGeom prst="rect">
            <a:avLst/>
          </a:prstGeom>
          <a:noFill/>
          <a:ln/>
        </p:spPr>
        <p:txBody>
          <a:bodyPr wrap="square" rtlCol="0" anchor="ctr"/>
          <a:lstStyle/>
          <a:p>
            <a:pPr algn="ctr" indent="0" marL="0">
              <a:buNone/>
            </a:pPr>
            <a:r>
              <a:rPr lang="en-US" sz="1400" b="1" dirty="0">
                <a:solidFill>
                  <a:srgbClr val="E3C682"/>
                </a:solidFill>
                <a:latin typeface="Georgia" pitchFamily="34" charset="0"/>
                <a:ea typeface="Georgia" pitchFamily="34" charset="-122"/>
                <a:cs typeface="Georgia" pitchFamily="34" charset="-120"/>
              </a:rPr>
              <a:t>1</a:t>
            </a:r>
            <a:endParaRPr lang="en-US" sz="1400" dirty="0"/>
          </a:p>
        </p:txBody>
      </p:sp>
      <p:sp>
        <p:nvSpPr>
          <p:cNvPr id="12" name="Text 10"/>
          <p:cNvSpPr/>
          <p:nvPr/>
        </p:nvSpPr>
        <p:spPr>
          <a:xfrm>
            <a:off x="1325880" y="2331720"/>
            <a:ext cx="2615184" cy="868680"/>
          </a:xfrm>
          <a:prstGeom prst="rect">
            <a:avLst/>
          </a:prstGeom>
          <a:noFill/>
          <a:ln/>
        </p:spPr>
        <p:txBody>
          <a:bodyPr wrap="square" rtlCol="0" anchor="ctr"/>
          <a:lstStyle/>
          <a:p>
            <a:pPr algn="l" indent="0" marL="0">
              <a:buNone/>
            </a:pPr>
            <a:r>
              <a:rPr lang="en-US" sz="1300" dirty="0">
                <a:solidFill>
                  <a:srgbClr val="F6F1E7"/>
                </a:solidFill>
                <a:latin typeface="Calibri" pitchFamily="34" charset="0"/>
                <a:ea typeface="Calibri" pitchFamily="34" charset="-122"/>
                <a:cs typeface="Calibri" pitchFamily="34" charset="-120"/>
              </a:rPr>
              <a:t>Explicit consent</a:t>
            </a:r>
            <a:endParaRPr lang="en-US" sz="1300" dirty="0"/>
          </a:p>
        </p:txBody>
      </p:sp>
      <p:sp>
        <p:nvSpPr>
          <p:cNvPr id="13" name="Shape 11"/>
          <p:cNvSpPr/>
          <p:nvPr/>
        </p:nvSpPr>
        <p:spPr>
          <a:xfrm>
            <a:off x="4352544" y="2331720"/>
            <a:ext cx="3483864" cy="868680"/>
          </a:xfrm>
          <a:prstGeom prst="roundRect">
            <a:avLst>
              <a:gd name="adj" fmla="val 8421"/>
            </a:avLst>
          </a:prstGeom>
          <a:solidFill>
            <a:srgbClr val="122440"/>
          </a:solidFill>
          <a:ln w="12700">
            <a:solidFill>
              <a:srgbClr val="2C4060"/>
            </a:solidFill>
            <a:prstDash val="solid"/>
          </a:ln>
        </p:spPr>
      </p:sp>
      <p:sp>
        <p:nvSpPr>
          <p:cNvPr id="14" name="Shape 12"/>
          <p:cNvSpPr/>
          <p:nvPr/>
        </p:nvSpPr>
        <p:spPr>
          <a:xfrm>
            <a:off x="4535424" y="2578608"/>
            <a:ext cx="365760" cy="365760"/>
          </a:xfrm>
          <a:prstGeom prst="ellipse">
            <a:avLst/>
          </a:prstGeom>
          <a:solidFill>
            <a:srgbClr val="0E2444"/>
          </a:solidFill>
          <a:ln w="19050">
            <a:solidFill>
              <a:srgbClr val="C8A24A"/>
            </a:solidFill>
            <a:prstDash val="solid"/>
          </a:ln>
        </p:spPr>
      </p:sp>
      <p:sp>
        <p:nvSpPr>
          <p:cNvPr id="15" name="Text 13"/>
          <p:cNvSpPr/>
          <p:nvPr/>
        </p:nvSpPr>
        <p:spPr>
          <a:xfrm>
            <a:off x="4535424" y="2578608"/>
            <a:ext cx="365760" cy="365760"/>
          </a:xfrm>
          <a:prstGeom prst="rect">
            <a:avLst/>
          </a:prstGeom>
          <a:noFill/>
          <a:ln/>
        </p:spPr>
        <p:txBody>
          <a:bodyPr wrap="square" rtlCol="0" anchor="ctr"/>
          <a:lstStyle/>
          <a:p>
            <a:pPr algn="ctr" indent="0" marL="0">
              <a:buNone/>
            </a:pPr>
            <a:r>
              <a:rPr lang="en-US" sz="1400" b="1" dirty="0">
                <a:solidFill>
                  <a:srgbClr val="E3C682"/>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5038344" y="2331720"/>
            <a:ext cx="2615184" cy="868680"/>
          </a:xfrm>
          <a:prstGeom prst="rect">
            <a:avLst/>
          </a:prstGeom>
          <a:noFill/>
          <a:ln/>
        </p:spPr>
        <p:txBody>
          <a:bodyPr wrap="square" rtlCol="0" anchor="ctr"/>
          <a:lstStyle/>
          <a:p>
            <a:pPr algn="l" indent="0" marL="0">
              <a:buNone/>
            </a:pPr>
            <a:r>
              <a:rPr lang="en-US" sz="1300" dirty="0">
                <a:solidFill>
                  <a:srgbClr val="F6F1E7"/>
                </a:solidFill>
                <a:latin typeface="Calibri" pitchFamily="34" charset="0"/>
                <a:ea typeface="Calibri" pitchFamily="34" charset="-122"/>
                <a:cs typeface="Calibri" pitchFamily="34" charset="-120"/>
              </a:rPr>
              <a:t>Performing a contract</a:t>
            </a:r>
            <a:endParaRPr lang="en-US" sz="1300" dirty="0"/>
          </a:p>
        </p:txBody>
      </p:sp>
      <p:sp>
        <p:nvSpPr>
          <p:cNvPr id="17" name="Shape 15"/>
          <p:cNvSpPr/>
          <p:nvPr/>
        </p:nvSpPr>
        <p:spPr>
          <a:xfrm>
            <a:off x="8065008" y="2331720"/>
            <a:ext cx="3483864" cy="868680"/>
          </a:xfrm>
          <a:prstGeom prst="roundRect">
            <a:avLst>
              <a:gd name="adj" fmla="val 8421"/>
            </a:avLst>
          </a:prstGeom>
          <a:solidFill>
            <a:srgbClr val="122440"/>
          </a:solidFill>
          <a:ln w="12700">
            <a:solidFill>
              <a:srgbClr val="2C4060"/>
            </a:solidFill>
            <a:prstDash val="solid"/>
          </a:ln>
        </p:spPr>
      </p:sp>
      <p:sp>
        <p:nvSpPr>
          <p:cNvPr id="18" name="Shape 16"/>
          <p:cNvSpPr/>
          <p:nvPr/>
        </p:nvSpPr>
        <p:spPr>
          <a:xfrm>
            <a:off x="8247888" y="2578608"/>
            <a:ext cx="365760" cy="365760"/>
          </a:xfrm>
          <a:prstGeom prst="ellipse">
            <a:avLst/>
          </a:prstGeom>
          <a:solidFill>
            <a:srgbClr val="0E2444"/>
          </a:solidFill>
          <a:ln w="19050">
            <a:solidFill>
              <a:srgbClr val="C8A24A"/>
            </a:solidFill>
            <a:prstDash val="solid"/>
          </a:ln>
        </p:spPr>
      </p:sp>
      <p:sp>
        <p:nvSpPr>
          <p:cNvPr id="19" name="Text 17"/>
          <p:cNvSpPr/>
          <p:nvPr/>
        </p:nvSpPr>
        <p:spPr>
          <a:xfrm>
            <a:off x="8247888" y="2578608"/>
            <a:ext cx="365760" cy="365760"/>
          </a:xfrm>
          <a:prstGeom prst="rect">
            <a:avLst/>
          </a:prstGeom>
          <a:noFill/>
          <a:ln/>
        </p:spPr>
        <p:txBody>
          <a:bodyPr wrap="square" rtlCol="0" anchor="ctr"/>
          <a:lstStyle/>
          <a:p>
            <a:pPr algn="ctr" indent="0" marL="0">
              <a:buNone/>
            </a:pPr>
            <a:r>
              <a:rPr lang="en-US" sz="1400" b="1" dirty="0">
                <a:solidFill>
                  <a:srgbClr val="E3C682"/>
                </a:solidFill>
                <a:latin typeface="Georgia" pitchFamily="34" charset="0"/>
                <a:ea typeface="Georgia" pitchFamily="34" charset="-122"/>
                <a:cs typeface="Georgia" pitchFamily="34" charset="-120"/>
              </a:rPr>
              <a:t>3</a:t>
            </a:r>
            <a:endParaRPr lang="en-US" sz="1400" dirty="0"/>
          </a:p>
        </p:txBody>
      </p:sp>
      <p:sp>
        <p:nvSpPr>
          <p:cNvPr id="20" name="Text 18"/>
          <p:cNvSpPr/>
          <p:nvPr/>
        </p:nvSpPr>
        <p:spPr>
          <a:xfrm>
            <a:off x="8750808" y="2331720"/>
            <a:ext cx="2615184" cy="868680"/>
          </a:xfrm>
          <a:prstGeom prst="rect">
            <a:avLst/>
          </a:prstGeom>
          <a:noFill/>
          <a:ln/>
        </p:spPr>
        <p:txBody>
          <a:bodyPr wrap="square" rtlCol="0" anchor="ctr"/>
          <a:lstStyle/>
          <a:p>
            <a:pPr algn="l" indent="0" marL="0">
              <a:buNone/>
            </a:pPr>
            <a:r>
              <a:rPr lang="en-US" sz="1300" dirty="0">
                <a:solidFill>
                  <a:srgbClr val="F6F1E7"/>
                </a:solidFill>
                <a:latin typeface="Calibri" pitchFamily="34" charset="0"/>
                <a:ea typeface="Calibri" pitchFamily="34" charset="-122"/>
                <a:cs typeface="Calibri" pitchFamily="34" charset="-120"/>
              </a:rPr>
              <a:t>A legal obligation / court order</a:t>
            </a:r>
            <a:endParaRPr lang="en-US" sz="1300" dirty="0"/>
          </a:p>
        </p:txBody>
      </p:sp>
      <p:sp>
        <p:nvSpPr>
          <p:cNvPr id="21" name="Shape 19"/>
          <p:cNvSpPr/>
          <p:nvPr/>
        </p:nvSpPr>
        <p:spPr>
          <a:xfrm>
            <a:off x="640080" y="3429000"/>
            <a:ext cx="3483864" cy="868680"/>
          </a:xfrm>
          <a:prstGeom prst="roundRect">
            <a:avLst>
              <a:gd name="adj" fmla="val 8421"/>
            </a:avLst>
          </a:prstGeom>
          <a:solidFill>
            <a:srgbClr val="122440"/>
          </a:solidFill>
          <a:ln w="12700">
            <a:solidFill>
              <a:srgbClr val="2C4060"/>
            </a:solidFill>
            <a:prstDash val="solid"/>
          </a:ln>
        </p:spPr>
      </p:sp>
      <p:sp>
        <p:nvSpPr>
          <p:cNvPr id="22" name="Shape 20"/>
          <p:cNvSpPr/>
          <p:nvPr/>
        </p:nvSpPr>
        <p:spPr>
          <a:xfrm>
            <a:off x="822960" y="3675888"/>
            <a:ext cx="365760" cy="365760"/>
          </a:xfrm>
          <a:prstGeom prst="ellipse">
            <a:avLst/>
          </a:prstGeom>
          <a:solidFill>
            <a:srgbClr val="0E2444"/>
          </a:solidFill>
          <a:ln w="19050">
            <a:solidFill>
              <a:srgbClr val="C8A24A"/>
            </a:solidFill>
            <a:prstDash val="solid"/>
          </a:ln>
        </p:spPr>
      </p:sp>
      <p:sp>
        <p:nvSpPr>
          <p:cNvPr id="23" name="Text 21"/>
          <p:cNvSpPr/>
          <p:nvPr/>
        </p:nvSpPr>
        <p:spPr>
          <a:xfrm>
            <a:off x="822960" y="3675888"/>
            <a:ext cx="365760" cy="365760"/>
          </a:xfrm>
          <a:prstGeom prst="rect">
            <a:avLst/>
          </a:prstGeom>
          <a:noFill/>
          <a:ln/>
        </p:spPr>
        <p:txBody>
          <a:bodyPr wrap="square" rtlCol="0" anchor="ctr"/>
          <a:lstStyle/>
          <a:p>
            <a:pPr algn="ctr" indent="0" marL="0">
              <a:buNone/>
            </a:pPr>
            <a:r>
              <a:rPr lang="en-US" sz="1400" b="1" dirty="0">
                <a:solidFill>
                  <a:srgbClr val="E3C682"/>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1325880" y="3429000"/>
            <a:ext cx="2615184" cy="868680"/>
          </a:xfrm>
          <a:prstGeom prst="rect">
            <a:avLst/>
          </a:prstGeom>
          <a:noFill/>
          <a:ln/>
        </p:spPr>
        <p:txBody>
          <a:bodyPr wrap="square" rtlCol="0" anchor="ctr"/>
          <a:lstStyle/>
          <a:p>
            <a:pPr algn="l" indent="0" marL="0">
              <a:buNone/>
            </a:pPr>
            <a:r>
              <a:rPr lang="en-US" sz="1300" dirty="0">
                <a:solidFill>
                  <a:srgbClr val="F6F1E7"/>
                </a:solidFill>
                <a:latin typeface="Calibri" pitchFamily="34" charset="0"/>
                <a:ea typeface="Calibri" pitchFamily="34" charset="-122"/>
                <a:cs typeface="Calibri" pitchFamily="34" charset="-120"/>
              </a:rPr>
              <a:t>Legitimate interest of the controller</a:t>
            </a:r>
            <a:endParaRPr lang="en-US" sz="1300" dirty="0"/>
          </a:p>
        </p:txBody>
      </p:sp>
      <p:sp>
        <p:nvSpPr>
          <p:cNvPr id="25" name="Shape 23"/>
          <p:cNvSpPr/>
          <p:nvPr/>
        </p:nvSpPr>
        <p:spPr>
          <a:xfrm>
            <a:off x="4352544" y="3429000"/>
            <a:ext cx="3483864" cy="868680"/>
          </a:xfrm>
          <a:prstGeom prst="roundRect">
            <a:avLst>
              <a:gd name="adj" fmla="val 8421"/>
            </a:avLst>
          </a:prstGeom>
          <a:solidFill>
            <a:srgbClr val="122440"/>
          </a:solidFill>
          <a:ln w="12700">
            <a:solidFill>
              <a:srgbClr val="2C4060"/>
            </a:solidFill>
            <a:prstDash val="solid"/>
          </a:ln>
        </p:spPr>
      </p:sp>
      <p:sp>
        <p:nvSpPr>
          <p:cNvPr id="26" name="Shape 24"/>
          <p:cNvSpPr/>
          <p:nvPr/>
        </p:nvSpPr>
        <p:spPr>
          <a:xfrm>
            <a:off x="4535424" y="3675888"/>
            <a:ext cx="365760" cy="365760"/>
          </a:xfrm>
          <a:prstGeom prst="ellipse">
            <a:avLst/>
          </a:prstGeom>
          <a:solidFill>
            <a:srgbClr val="0E2444"/>
          </a:solidFill>
          <a:ln w="19050">
            <a:solidFill>
              <a:srgbClr val="C8A24A"/>
            </a:solidFill>
            <a:prstDash val="solid"/>
          </a:ln>
        </p:spPr>
      </p:sp>
      <p:sp>
        <p:nvSpPr>
          <p:cNvPr id="27" name="Text 25"/>
          <p:cNvSpPr/>
          <p:nvPr/>
        </p:nvSpPr>
        <p:spPr>
          <a:xfrm>
            <a:off x="4535424" y="3675888"/>
            <a:ext cx="365760" cy="365760"/>
          </a:xfrm>
          <a:prstGeom prst="rect">
            <a:avLst/>
          </a:prstGeom>
          <a:noFill/>
          <a:ln/>
        </p:spPr>
        <p:txBody>
          <a:bodyPr wrap="square" rtlCol="0" anchor="ctr"/>
          <a:lstStyle/>
          <a:p>
            <a:pPr algn="ctr" indent="0" marL="0">
              <a:buNone/>
            </a:pPr>
            <a:r>
              <a:rPr lang="en-US" sz="1400" b="1" dirty="0">
                <a:solidFill>
                  <a:srgbClr val="E3C682"/>
                </a:solidFill>
                <a:latin typeface="Georgia" pitchFamily="34" charset="0"/>
                <a:ea typeface="Georgia" pitchFamily="34" charset="-122"/>
                <a:cs typeface="Georgia" pitchFamily="34" charset="-120"/>
              </a:rPr>
              <a:t>5</a:t>
            </a:r>
            <a:endParaRPr lang="en-US" sz="1400" dirty="0"/>
          </a:p>
        </p:txBody>
      </p:sp>
      <p:sp>
        <p:nvSpPr>
          <p:cNvPr id="28" name="Text 26"/>
          <p:cNvSpPr/>
          <p:nvPr/>
        </p:nvSpPr>
        <p:spPr>
          <a:xfrm>
            <a:off x="5038344" y="3429000"/>
            <a:ext cx="2615184" cy="868680"/>
          </a:xfrm>
          <a:prstGeom prst="rect">
            <a:avLst/>
          </a:prstGeom>
          <a:noFill/>
          <a:ln/>
        </p:spPr>
        <p:txBody>
          <a:bodyPr wrap="square" rtlCol="0" anchor="ctr"/>
          <a:lstStyle/>
          <a:p>
            <a:pPr algn="l" indent="0" marL="0">
              <a:buNone/>
            </a:pPr>
            <a:r>
              <a:rPr lang="en-US" sz="1300" dirty="0">
                <a:solidFill>
                  <a:srgbClr val="F6F1E7"/>
                </a:solidFill>
                <a:latin typeface="Calibri" pitchFamily="34" charset="0"/>
                <a:ea typeface="Calibri" pitchFamily="34" charset="-122"/>
                <a:cs typeface="Calibri" pitchFamily="34" charset="-120"/>
              </a:rPr>
              <a:t>Protecting someone's vital interests</a:t>
            </a:r>
            <a:endParaRPr lang="en-US" sz="1300" dirty="0"/>
          </a:p>
        </p:txBody>
      </p:sp>
      <p:sp>
        <p:nvSpPr>
          <p:cNvPr id="29" name="Shape 27"/>
          <p:cNvSpPr/>
          <p:nvPr/>
        </p:nvSpPr>
        <p:spPr>
          <a:xfrm>
            <a:off x="8065008" y="3429000"/>
            <a:ext cx="3483864" cy="868680"/>
          </a:xfrm>
          <a:prstGeom prst="roundRect">
            <a:avLst>
              <a:gd name="adj" fmla="val 8421"/>
            </a:avLst>
          </a:prstGeom>
          <a:solidFill>
            <a:srgbClr val="122440"/>
          </a:solidFill>
          <a:ln w="12700">
            <a:solidFill>
              <a:srgbClr val="2C4060"/>
            </a:solidFill>
            <a:prstDash val="solid"/>
          </a:ln>
        </p:spPr>
      </p:sp>
      <p:sp>
        <p:nvSpPr>
          <p:cNvPr id="30" name="Shape 28"/>
          <p:cNvSpPr/>
          <p:nvPr/>
        </p:nvSpPr>
        <p:spPr>
          <a:xfrm>
            <a:off x="8247888" y="3675888"/>
            <a:ext cx="365760" cy="365760"/>
          </a:xfrm>
          <a:prstGeom prst="ellipse">
            <a:avLst/>
          </a:prstGeom>
          <a:solidFill>
            <a:srgbClr val="0E2444"/>
          </a:solidFill>
          <a:ln w="19050">
            <a:solidFill>
              <a:srgbClr val="C8A24A"/>
            </a:solidFill>
            <a:prstDash val="solid"/>
          </a:ln>
        </p:spPr>
      </p:sp>
      <p:sp>
        <p:nvSpPr>
          <p:cNvPr id="31" name="Text 29"/>
          <p:cNvSpPr/>
          <p:nvPr/>
        </p:nvSpPr>
        <p:spPr>
          <a:xfrm>
            <a:off x="8247888" y="3675888"/>
            <a:ext cx="365760" cy="365760"/>
          </a:xfrm>
          <a:prstGeom prst="rect">
            <a:avLst/>
          </a:prstGeom>
          <a:noFill/>
          <a:ln/>
        </p:spPr>
        <p:txBody>
          <a:bodyPr wrap="square" rtlCol="0" anchor="ctr"/>
          <a:lstStyle/>
          <a:p>
            <a:pPr algn="ctr" indent="0" marL="0">
              <a:buNone/>
            </a:pPr>
            <a:r>
              <a:rPr lang="en-US" sz="1400" b="1" dirty="0">
                <a:solidFill>
                  <a:srgbClr val="E3C682"/>
                </a:solidFill>
                <a:latin typeface="Georgia" pitchFamily="34" charset="0"/>
                <a:ea typeface="Georgia" pitchFamily="34" charset="-122"/>
                <a:cs typeface="Georgia" pitchFamily="34" charset="-120"/>
              </a:rPr>
              <a:t>6</a:t>
            </a:r>
            <a:endParaRPr lang="en-US" sz="1400" dirty="0"/>
          </a:p>
        </p:txBody>
      </p:sp>
      <p:sp>
        <p:nvSpPr>
          <p:cNvPr id="32" name="Text 30"/>
          <p:cNvSpPr/>
          <p:nvPr/>
        </p:nvSpPr>
        <p:spPr>
          <a:xfrm>
            <a:off x="8750808" y="3429000"/>
            <a:ext cx="2615184" cy="868680"/>
          </a:xfrm>
          <a:prstGeom prst="rect">
            <a:avLst/>
          </a:prstGeom>
          <a:noFill/>
          <a:ln/>
        </p:spPr>
        <p:txBody>
          <a:bodyPr wrap="square" rtlCol="0" anchor="ctr"/>
          <a:lstStyle/>
          <a:p>
            <a:pPr algn="l" indent="0" marL="0">
              <a:buNone/>
            </a:pPr>
            <a:r>
              <a:rPr lang="en-US" sz="1300" dirty="0">
                <a:solidFill>
                  <a:srgbClr val="F6F1E7"/>
                </a:solidFill>
                <a:latin typeface="Calibri" pitchFamily="34" charset="0"/>
                <a:ea typeface="Calibri" pitchFamily="34" charset="-122"/>
                <a:cs typeface="Calibri" pitchFamily="34" charset="-120"/>
              </a:rPr>
              <a:t>A public task / official authority</a:t>
            </a:r>
            <a:endParaRPr lang="en-US" sz="1300" dirty="0"/>
          </a:p>
        </p:txBody>
      </p:sp>
      <p:sp>
        <p:nvSpPr>
          <p:cNvPr id="33" name="Shape 31"/>
          <p:cNvSpPr/>
          <p:nvPr/>
        </p:nvSpPr>
        <p:spPr>
          <a:xfrm>
            <a:off x="640080" y="5074920"/>
            <a:ext cx="10908792" cy="868680"/>
          </a:xfrm>
          <a:prstGeom prst="rect">
            <a:avLst/>
          </a:prstGeom>
          <a:solidFill>
            <a:srgbClr val="122440"/>
          </a:solidFill>
          <a:ln w="12700">
            <a:solidFill>
              <a:srgbClr val="2C4060"/>
            </a:solidFill>
            <a:prstDash val="solid"/>
          </a:ln>
        </p:spPr>
      </p:sp>
      <p:sp>
        <p:nvSpPr>
          <p:cNvPr id="34" name="Shape 32"/>
          <p:cNvSpPr/>
          <p:nvPr/>
        </p:nvSpPr>
        <p:spPr>
          <a:xfrm>
            <a:off x="640080" y="5074920"/>
            <a:ext cx="64008" cy="868680"/>
          </a:xfrm>
          <a:prstGeom prst="rect">
            <a:avLst/>
          </a:prstGeom>
          <a:solidFill>
            <a:srgbClr val="C8A24A"/>
          </a:solidFill>
          <a:ln/>
        </p:spPr>
      </p:sp>
      <p:sp>
        <p:nvSpPr>
          <p:cNvPr id="35" name="Text 33"/>
          <p:cNvSpPr/>
          <p:nvPr/>
        </p:nvSpPr>
        <p:spPr>
          <a:xfrm>
            <a:off x="868680" y="5166360"/>
            <a:ext cx="10451592" cy="685800"/>
          </a:xfrm>
          <a:prstGeom prst="rect">
            <a:avLst/>
          </a:prstGeom>
          <a:noFill/>
          <a:ln/>
        </p:spPr>
        <p:txBody>
          <a:bodyPr wrap="square" rtlCol="0" anchor="ctr"/>
          <a:lstStyle/>
          <a:p>
            <a:pPr algn="l" indent="0" marL="0">
              <a:buNone/>
            </a:pPr>
            <a:r>
              <a:rPr lang="en-US" sz="1100" b="1" dirty="0">
                <a:solidFill>
                  <a:srgbClr val="C8A24A"/>
                </a:solidFill>
                <a:latin typeface="Calibri" pitchFamily="34" charset="0"/>
                <a:ea typeface="Calibri" pitchFamily="34" charset="-122"/>
                <a:cs typeface="Calibri" pitchFamily="34" charset="-120"/>
              </a:rPr>
              <a:t>EXAMPLE  </a:t>
            </a:r>
            <a:pPr algn="l" indent="0" marL="0">
              <a:buNone/>
            </a:pPr>
            <a:r>
              <a:rPr lang="en-US" sz="1350" dirty="0">
                <a:solidFill>
                  <a:srgbClr val="D9E0EC"/>
                </a:solidFill>
                <a:latin typeface="Calibri" pitchFamily="34" charset="0"/>
                <a:ea typeface="Calibri" pitchFamily="34" charset="-122"/>
                <a:cs typeface="Calibri" pitchFamily="34" charset="-120"/>
              </a:rPr>
              <a:t>A shop shipping an order you placed does NOT need separate consent, it relies on 'performing a contract'.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POWER TO THE PERSON</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Your data, your rights</a:t>
            </a:r>
            <a:endParaRPr lang="en-US" sz="3300" dirty="0"/>
          </a:p>
        </p:txBody>
      </p:sp>
      <p:sp>
        <p:nvSpPr>
          <p:cNvPr id="8" name="Shape 6"/>
          <p:cNvSpPr/>
          <p:nvPr/>
        </p:nvSpPr>
        <p:spPr>
          <a:xfrm>
            <a:off x="640080" y="2377440"/>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542032"/>
            <a:ext cx="3063240"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Be Informed</a:t>
            </a:r>
            <a:endParaRPr lang="en-US" sz="1600" dirty="0"/>
          </a:p>
        </p:txBody>
      </p:sp>
      <p:sp>
        <p:nvSpPr>
          <p:cNvPr id="10" name="Text 8"/>
          <p:cNvSpPr/>
          <p:nvPr/>
        </p:nvSpPr>
        <p:spPr>
          <a:xfrm>
            <a:off x="841248" y="3054096"/>
            <a:ext cx="3063240" cy="557784"/>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Know that your data is collected and why.</a:t>
            </a:r>
            <a:endParaRPr lang="en-US" sz="1200" dirty="0"/>
          </a:p>
        </p:txBody>
      </p:sp>
      <p:sp>
        <p:nvSpPr>
          <p:cNvPr id="11" name="Shape 9"/>
          <p:cNvSpPr/>
          <p:nvPr/>
        </p:nvSpPr>
        <p:spPr>
          <a:xfrm>
            <a:off x="4361688" y="2377440"/>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2856" y="2542032"/>
            <a:ext cx="3063240"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Access</a:t>
            </a:r>
            <a:endParaRPr lang="en-US" sz="1600" dirty="0"/>
          </a:p>
        </p:txBody>
      </p:sp>
      <p:sp>
        <p:nvSpPr>
          <p:cNvPr id="13" name="Text 11"/>
          <p:cNvSpPr/>
          <p:nvPr/>
        </p:nvSpPr>
        <p:spPr>
          <a:xfrm>
            <a:off x="4562856" y="3054096"/>
            <a:ext cx="3063240" cy="557784"/>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Get a copy of the data held about you.</a:t>
            </a:r>
            <a:endParaRPr lang="en-US" sz="1200" dirty="0"/>
          </a:p>
        </p:txBody>
      </p:sp>
      <p:sp>
        <p:nvSpPr>
          <p:cNvPr id="14" name="Shape 12"/>
          <p:cNvSpPr/>
          <p:nvPr/>
        </p:nvSpPr>
        <p:spPr>
          <a:xfrm>
            <a:off x="8083296" y="2377440"/>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284464" y="2542032"/>
            <a:ext cx="3063240"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Correction</a:t>
            </a:r>
            <a:endParaRPr lang="en-US" sz="1600" dirty="0"/>
          </a:p>
        </p:txBody>
      </p:sp>
      <p:sp>
        <p:nvSpPr>
          <p:cNvPr id="16" name="Text 14"/>
          <p:cNvSpPr/>
          <p:nvPr/>
        </p:nvSpPr>
        <p:spPr>
          <a:xfrm>
            <a:off x="8284464" y="3054096"/>
            <a:ext cx="3063240" cy="557784"/>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Fix data that is wrong or incomplete.</a:t>
            </a:r>
            <a:endParaRPr lang="en-US" sz="1200" dirty="0"/>
          </a:p>
        </p:txBody>
      </p:sp>
      <p:sp>
        <p:nvSpPr>
          <p:cNvPr id="17" name="Shape 15"/>
          <p:cNvSpPr/>
          <p:nvPr/>
        </p:nvSpPr>
        <p:spPr>
          <a:xfrm>
            <a:off x="640080" y="3959352"/>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41248" y="4123944"/>
            <a:ext cx="3063240"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Erasure</a:t>
            </a:r>
            <a:endParaRPr lang="en-US" sz="1600" dirty="0"/>
          </a:p>
        </p:txBody>
      </p:sp>
      <p:sp>
        <p:nvSpPr>
          <p:cNvPr id="19" name="Text 17"/>
          <p:cNvSpPr/>
          <p:nvPr/>
        </p:nvSpPr>
        <p:spPr>
          <a:xfrm>
            <a:off x="841248" y="4636008"/>
            <a:ext cx="3063240" cy="557784"/>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Have your data deleted when no longer needed.</a:t>
            </a:r>
            <a:endParaRPr lang="en-US" sz="1200" dirty="0"/>
          </a:p>
        </p:txBody>
      </p:sp>
      <p:sp>
        <p:nvSpPr>
          <p:cNvPr id="20" name="Shape 18"/>
          <p:cNvSpPr/>
          <p:nvPr/>
        </p:nvSpPr>
        <p:spPr>
          <a:xfrm>
            <a:off x="4361688" y="3959352"/>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4562856" y="4123944"/>
            <a:ext cx="3063240"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Object</a:t>
            </a:r>
            <a:endParaRPr lang="en-US" sz="1600" dirty="0"/>
          </a:p>
        </p:txBody>
      </p:sp>
      <p:sp>
        <p:nvSpPr>
          <p:cNvPr id="22" name="Text 20"/>
          <p:cNvSpPr/>
          <p:nvPr/>
        </p:nvSpPr>
        <p:spPr>
          <a:xfrm>
            <a:off x="4562856" y="4636008"/>
            <a:ext cx="3063240" cy="557784"/>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Say no to uses like direct marketing.</a:t>
            </a:r>
            <a:endParaRPr lang="en-US" sz="1200" dirty="0"/>
          </a:p>
        </p:txBody>
      </p:sp>
      <p:sp>
        <p:nvSpPr>
          <p:cNvPr id="23" name="Shape 21"/>
          <p:cNvSpPr/>
          <p:nvPr/>
        </p:nvSpPr>
        <p:spPr>
          <a:xfrm>
            <a:off x="8083296" y="3959352"/>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4" name="Text 22"/>
          <p:cNvSpPr/>
          <p:nvPr/>
        </p:nvSpPr>
        <p:spPr>
          <a:xfrm>
            <a:off x="8284464" y="4123944"/>
            <a:ext cx="3063240"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Withdraw Consent</a:t>
            </a:r>
            <a:endParaRPr lang="en-US" sz="1600" dirty="0"/>
          </a:p>
        </p:txBody>
      </p:sp>
      <p:sp>
        <p:nvSpPr>
          <p:cNvPr id="25" name="Text 23"/>
          <p:cNvSpPr/>
          <p:nvPr/>
        </p:nvSpPr>
        <p:spPr>
          <a:xfrm>
            <a:off x="8284464" y="4636008"/>
            <a:ext cx="3063240" cy="557784"/>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Change your mind anytime, no penalty.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IF YOU HOLD DATA, YOU OWE DUTIES</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What every company must now do</a:t>
            </a:r>
            <a:endParaRPr lang="en-US" sz="3300" dirty="0"/>
          </a:p>
        </p:txBody>
      </p:sp>
      <p:sp>
        <p:nvSpPr>
          <p:cNvPr id="8" name="Shape 6"/>
          <p:cNvSpPr/>
          <p:nvPr/>
        </p:nvSpPr>
        <p:spPr>
          <a:xfrm>
            <a:off x="640080"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49631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Register / licence</a:t>
            </a:r>
            <a:endParaRPr lang="en-US" sz="1500" dirty="0"/>
          </a:p>
        </p:txBody>
      </p:sp>
      <p:sp>
        <p:nvSpPr>
          <p:cNvPr id="10" name="Text 8"/>
          <p:cNvSpPr/>
          <p:nvPr/>
        </p:nvSpPr>
        <p:spPr>
          <a:xfrm>
            <a:off x="841248" y="3008376"/>
            <a:ext cx="2119122" cy="60350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Get a PDPC licence before processing data.</a:t>
            </a:r>
            <a:endParaRPr lang="en-US" sz="1150" dirty="0"/>
          </a:p>
        </p:txBody>
      </p:sp>
      <p:sp>
        <p:nvSpPr>
          <p:cNvPr id="11" name="Shape 9"/>
          <p:cNvSpPr/>
          <p:nvPr/>
        </p:nvSpPr>
        <p:spPr>
          <a:xfrm>
            <a:off x="3435858"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3637026" y="249631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Secure the data</a:t>
            </a:r>
            <a:endParaRPr lang="en-US" sz="1500" dirty="0"/>
          </a:p>
        </p:txBody>
      </p:sp>
      <p:sp>
        <p:nvSpPr>
          <p:cNvPr id="13" name="Text 11"/>
          <p:cNvSpPr/>
          <p:nvPr/>
        </p:nvSpPr>
        <p:spPr>
          <a:xfrm>
            <a:off x="3637026" y="3008376"/>
            <a:ext cx="2119122" cy="60350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Encryption, access control, real safeguards.</a:t>
            </a:r>
            <a:endParaRPr lang="en-US" sz="1150" dirty="0"/>
          </a:p>
        </p:txBody>
      </p:sp>
      <p:sp>
        <p:nvSpPr>
          <p:cNvPr id="14" name="Shape 12"/>
          <p:cNvSpPr/>
          <p:nvPr/>
        </p:nvSpPr>
        <p:spPr>
          <a:xfrm>
            <a:off x="6231636"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6432804" y="249631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Report breaches</a:t>
            </a:r>
            <a:endParaRPr lang="en-US" sz="1500" dirty="0"/>
          </a:p>
        </p:txBody>
      </p:sp>
      <p:sp>
        <p:nvSpPr>
          <p:cNvPr id="16" name="Text 14"/>
          <p:cNvSpPr/>
          <p:nvPr/>
        </p:nvSpPr>
        <p:spPr>
          <a:xfrm>
            <a:off x="6432804" y="3008376"/>
            <a:ext cx="2119122" cy="60350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PDPC within 72h; people within 3 working days.</a:t>
            </a:r>
            <a:endParaRPr lang="en-US" sz="1150" dirty="0"/>
          </a:p>
        </p:txBody>
      </p:sp>
      <p:sp>
        <p:nvSpPr>
          <p:cNvPr id="17" name="Shape 15"/>
          <p:cNvSpPr/>
          <p:nvPr/>
        </p:nvSpPr>
        <p:spPr>
          <a:xfrm>
            <a:off x="9027414"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9228582" y="249631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Appoint a DPO</a:t>
            </a:r>
            <a:endParaRPr lang="en-US" sz="1500" dirty="0"/>
          </a:p>
        </p:txBody>
      </p:sp>
      <p:sp>
        <p:nvSpPr>
          <p:cNvPr id="19" name="Text 17"/>
          <p:cNvSpPr/>
          <p:nvPr/>
        </p:nvSpPr>
        <p:spPr>
          <a:xfrm>
            <a:off x="9228582" y="3008376"/>
            <a:ext cx="2119122" cy="60350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A competent DPO is mandatory (Article 8).</a:t>
            </a:r>
            <a:endParaRPr lang="en-US" sz="1150" dirty="0"/>
          </a:p>
        </p:txBody>
      </p:sp>
      <p:sp>
        <p:nvSpPr>
          <p:cNvPr id="20" name="Shape 18"/>
          <p:cNvSpPr/>
          <p:nvPr/>
        </p:nvSpPr>
        <p:spPr>
          <a:xfrm>
            <a:off x="640080" y="4069080"/>
            <a:ext cx="10908792" cy="914400"/>
          </a:xfrm>
          <a:prstGeom prst="rect">
            <a:avLst/>
          </a:prstGeom>
          <a:solidFill>
            <a:srgbClr val="122440"/>
          </a:solidFill>
          <a:ln w="12700">
            <a:solidFill>
              <a:srgbClr val="2C4060"/>
            </a:solidFill>
            <a:prstDash val="solid"/>
          </a:ln>
        </p:spPr>
      </p:sp>
      <p:sp>
        <p:nvSpPr>
          <p:cNvPr id="21" name="Shape 19"/>
          <p:cNvSpPr/>
          <p:nvPr/>
        </p:nvSpPr>
        <p:spPr>
          <a:xfrm>
            <a:off x="640080" y="4069080"/>
            <a:ext cx="64008" cy="914400"/>
          </a:xfrm>
          <a:prstGeom prst="rect">
            <a:avLst/>
          </a:prstGeom>
          <a:solidFill>
            <a:srgbClr val="C8A24A"/>
          </a:solidFill>
          <a:ln/>
        </p:spPr>
      </p:sp>
      <p:sp>
        <p:nvSpPr>
          <p:cNvPr id="22" name="Text 20"/>
          <p:cNvSpPr/>
          <p:nvPr/>
        </p:nvSpPr>
        <p:spPr>
          <a:xfrm>
            <a:off x="868680" y="4160520"/>
            <a:ext cx="10451592" cy="731520"/>
          </a:xfrm>
          <a:prstGeom prst="rect">
            <a:avLst/>
          </a:prstGeom>
          <a:noFill/>
          <a:ln/>
        </p:spPr>
        <p:txBody>
          <a:bodyPr wrap="square" rtlCol="0" anchor="ctr"/>
          <a:lstStyle/>
          <a:p>
            <a:pPr algn="l" indent="0" marL="0">
              <a:buNone/>
            </a:pPr>
            <a:r>
              <a:rPr lang="en-US" sz="1100" b="1" dirty="0">
                <a:solidFill>
                  <a:srgbClr val="C8A24A"/>
                </a:solidFill>
                <a:latin typeface="Calibri" pitchFamily="34" charset="0"/>
                <a:ea typeface="Calibri" pitchFamily="34" charset="-122"/>
                <a:cs typeface="Calibri" pitchFamily="34" charset="-120"/>
              </a:rPr>
              <a:t>MYTH VS FACT  </a:t>
            </a:r>
            <a:pPr algn="l" indent="0" marL="0">
              <a:buNone/>
            </a:pPr>
            <a:r>
              <a:rPr lang="en-US" sz="1350" dirty="0">
                <a:solidFill>
                  <a:srgbClr val="D9E0EC"/>
                </a:solidFill>
                <a:latin typeface="Calibri" pitchFamily="34" charset="0"/>
                <a:ea typeface="Calibri" pitchFamily="34" charset="-122"/>
                <a:cs typeface="Calibri" pitchFamily="34" charset="-120"/>
              </a:rPr>
              <a:t>Many summaries say a DPO is 'not required' in Egypt. Wrong, Article 8 makes appointing a competent DPO mandatory, and failing to is itself finable (EGP 200k-2M).</a:t>
            </a:r>
            <a:endParaRPr lang="en-US" sz="1100" dirty="0"/>
          </a:p>
        </p:txBody>
      </p:sp>
      <p:sp>
        <p:nvSpPr>
          <p:cNvPr id="23" name="Text 21"/>
          <p:cNvSpPr/>
          <p:nvPr/>
        </p:nvSpPr>
        <p:spPr>
          <a:xfrm>
            <a:off x="640080" y="5120640"/>
            <a:ext cx="10908792" cy="457200"/>
          </a:xfrm>
          <a:prstGeom prst="rect">
            <a:avLst/>
          </a:prstGeom>
          <a:noFill/>
          <a:ln/>
        </p:spPr>
        <p:txBody>
          <a:bodyPr wrap="square" rtlCol="0" anchor="ctr"/>
          <a:lstStyle/>
          <a:p>
            <a:pPr algn="l" indent="0" marL="0">
              <a:buNone/>
            </a:pPr>
            <a:r>
              <a:rPr lang="en-US" sz="1300" i="1" dirty="0">
                <a:solidFill>
                  <a:srgbClr val="E3C682"/>
                </a:solidFill>
                <a:latin typeface="Calibri" pitchFamily="34" charset="0"/>
                <a:ea typeface="Calibri" pitchFamily="34" charset="-122"/>
                <a:cs typeface="Calibri" pitchFamily="34" charset="-120"/>
              </a:rPr>
              <a:t>⏱ The 72-hour clock to notify the PDPC starts the moment a breach is discovered.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THE NEW WATCHDOG</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Meet the PDPC</a:t>
            </a:r>
            <a:endParaRPr lang="en-US" sz="3300" dirty="0"/>
          </a:p>
        </p:txBody>
      </p:sp>
      <p:sp>
        <p:nvSpPr>
          <p:cNvPr id="8" name="Text 6"/>
          <p:cNvSpPr/>
          <p:nvPr/>
        </p:nvSpPr>
        <p:spPr>
          <a:xfrm>
            <a:off x="640080" y="1737360"/>
            <a:ext cx="10908792" cy="640080"/>
          </a:xfrm>
          <a:prstGeom prst="rect">
            <a:avLst/>
          </a:prstGeom>
          <a:noFill/>
          <a:ln/>
        </p:spPr>
        <p:txBody>
          <a:bodyPr wrap="square" rtlCol="0" anchor="t"/>
          <a:lstStyle/>
          <a:p>
            <a:pPr algn="l" indent="0" marL="0">
              <a:buNone/>
            </a:pPr>
            <a:r>
              <a:rPr lang="en-US" sz="1500" dirty="0">
                <a:solidFill>
                  <a:srgbClr val="D9E0EC"/>
                </a:solidFill>
                <a:latin typeface="Calibri" pitchFamily="34" charset="0"/>
                <a:ea typeface="Calibri" pitchFamily="34" charset="-122"/>
                <a:cs typeface="Calibri" pitchFamily="34" charset="-120"/>
              </a:rPr>
              <a:t>The Personal Data Protection Center licenses, watches, and punishes, under the Ministry of Communications and IT.</a:t>
            </a:r>
            <a:endParaRPr lang="en-US" sz="1500" dirty="0"/>
          </a:p>
        </p:txBody>
      </p:sp>
      <p:sp>
        <p:nvSpPr>
          <p:cNvPr id="9" name="Shape 7"/>
          <p:cNvSpPr/>
          <p:nvPr/>
        </p:nvSpPr>
        <p:spPr>
          <a:xfrm>
            <a:off x="640080" y="2331720"/>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0" name="Text 8"/>
          <p:cNvSpPr/>
          <p:nvPr/>
        </p:nvSpPr>
        <p:spPr>
          <a:xfrm>
            <a:off x="841248" y="2496312"/>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Licensing</a:t>
            </a:r>
            <a:endParaRPr lang="en-US" sz="1500" dirty="0"/>
          </a:p>
        </p:txBody>
      </p:sp>
      <p:sp>
        <p:nvSpPr>
          <p:cNvPr id="11" name="Text 9"/>
          <p:cNvSpPr/>
          <p:nvPr/>
        </p:nvSpPr>
        <p:spPr>
          <a:xfrm>
            <a:off x="841248" y="3008376"/>
            <a:ext cx="3063240" cy="46634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Issues licences and permits to process data.</a:t>
            </a:r>
            <a:endParaRPr lang="en-US" sz="1150" dirty="0"/>
          </a:p>
        </p:txBody>
      </p:sp>
      <p:sp>
        <p:nvSpPr>
          <p:cNvPr id="12" name="Shape 10"/>
          <p:cNvSpPr/>
          <p:nvPr/>
        </p:nvSpPr>
        <p:spPr>
          <a:xfrm>
            <a:off x="4361688" y="2331720"/>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4562856" y="2496312"/>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Monitoring</a:t>
            </a:r>
            <a:endParaRPr lang="en-US" sz="1500" dirty="0"/>
          </a:p>
        </p:txBody>
      </p:sp>
      <p:sp>
        <p:nvSpPr>
          <p:cNvPr id="14" name="Text 12"/>
          <p:cNvSpPr/>
          <p:nvPr/>
        </p:nvSpPr>
        <p:spPr>
          <a:xfrm>
            <a:off x="4562856" y="3008376"/>
            <a:ext cx="3063240" cy="46634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Audits compliance, investigates complaints.</a:t>
            </a:r>
            <a:endParaRPr lang="en-US" sz="1150" dirty="0"/>
          </a:p>
        </p:txBody>
      </p:sp>
      <p:sp>
        <p:nvSpPr>
          <p:cNvPr id="15" name="Shape 13"/>
          <p:cNvSpPr/>
          <p:nvPr/>
        </p:nvSpPr>
        <p:spPr>
          <a:xfrm>
            <a:off x="8083296" y="2331720"/>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6" name="Text 14"/>
          <p:cNvSpPr/>
          <p:nvPr/>
        </p:nvSpPr>
        <p:spPr>
          <a:xfrm>
            <a:off x="8284464" y="2496312"/>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Regulation</a:t>
            </a:r>
            <a:endParaRPr lang="en-US" sz="1500" dirty="0"/>
          </a:p>
        </p:txBody>
      </p:sp>
      <p:sp>
        <p:nvSpPr>
          <p:cNvPr id="17" name="Text 15"/>
          <p:cNvSpPr/>
          <p:nvPr/>
        </p:nvSpPr>
        <p:spPr>
          <a:xfrm>
            <a:off x="8284464" y="3008376"/>
            <a:ext cx="3063240" cy="46634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Issues binding rules and guidelines.</a:t>
            </a:r>
            <a:endParaRPr lang="en-US" sz="1150" dirty="0"/>
          </a:p>
        </p:txBody>
      </p:sp>
      <p:sp>
        <p:nvSpPr>
          <p:cNvPr id="18" name="Shape 16"/>
          <p:cNvSpPr/>
          <p:nvPr/>
        </p:nvSpPr>
        <p:spPr>
          <a:xfrm>
            <a:off x="640080" y="3822192"/>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9" name="Text 17"/>
          <p:cNvSpPr/>
          <p:nvPr/>
        </p:nvSpPr>
        <p:spPr>
          <a:xfrm>
            <a:off x="841248" y="3986784"/>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Enforcement</a:t>
            </a:r>
            <a:endParaRPr lang="en-US" sz="1500" dirty="0"/>
          </a:p>
        </p:txBody>
      </p:sp>
      <p:sp>
        <p:nvSpPr>
          <p:cNvPr id="20" name="Text 18"/>
          <p:cNvSpPr/>
          <p:nvPr/>
        </p:nvSpPr>
        <p:spPr>
          <a:xfrm>
            <a:off x="841248" y="4498848"/>
            <a:ext cx="3063240" cy="46634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Imposes fines, refers crimes to prosecutor.</a:t>
            </a:r>
            <a:endParaRPr lang="en-US" sz="1150" dirty="0"/>
          </a:p>
        </p:txBody>
      </p:sp>
      <p:sp>
        <p:nvSpPr>
          <p:cNvPr id="21" name="Shape 19"/>
          <p:cNvSpPr/>
          <p:nvPr/>
        </p:nvSpPr>
        <p:spPr>
          <a:xfrm>
            <a:off x="4361688" y="3822192"/>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2" name="Text 20"/>
          <p:cNvSpPr/>
          <p:nvPr/>
        </p:nvSpPr>
        <p:spPr>
          <a:xfrm>
            <a:off x="4562856" y="3986784"/>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Awareness</a:t>
            </a:r>
            <a:endParaRPr lang="en-US" sz="1500" dirty="0"/>
          </a:p>
        </p:txBody>
      </p:sp>
      <p:sp>
        <p:nvSpPr>
          <p:cNvPr id="23" name="Text 21"/>
          <p:cNvSpPr/>
          <p:nvPr/>
        </p:nvSpPr>
        <p:spPr>
          <a:xfrm>
            <a:off x="4562856" y="4498848"/>
            <a:ext cx="3063240" cy="46634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Builds a privacy culture via education.</a:t>
            </a:r>
            <a:endParaRPr lang="en-US" sz="1150" dirty="0"/>
          </a:p>
        </p:txBody>
      </p:sp>
      <p:sp>
        <p:nvSpPr>
          <p:cNvPr id="24" name="Shape 22"/>
          <p:cNvSpPr/>
          <p:nvPr/>
        </p:nvSpPr>
        <p:spPr>
          <a:xfrm>
            <a:off x="8083296" y="3822192"/>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5" name="Text 23"/>
          <p:cNvSpPr/>
          <p:nvPr/>
        </p:nvSpPr>
        <p:spPr>
          <a:xfrm>
            <a:off x="8284464" y="3986784"/>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Cross-border</a:t>
            </a:r>
            <a:endParaRPr lang="en-US" sz="1500" dirty="0"/>
          </a:p>
        </p:txBody>
      </p:sp>
      <p:sp>
        <p:nvSpPr>
          <p:cNvPr id="26" name="Text 24"/>
          <p:cNvSpPr/>
          <p:nvPr/>
        </p:nvSpPr>
        <p:spPr>
          <a:xfrm>
            <a:off x="8284464" y="4498848"/>
            <a:ext cx="3063240" cy="46634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Approves or refuses transfers abroad.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THE COST OF GETTING IT WRONG</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Penalties at a glance</a:t>
            </a:r>
            <a:endParaRPr lang="en-US" sz="3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10908792" cy="914400"/>
        </p:xfrm>
        <a:graphic>
          <a:graphicData uri="http://schemas.openxmlformats.org/drawingml/2006/table">
            <a:tbl>
              <a:tblPr/>
              <a:tblGrid>
                <a:gridCol w="3776472"/>
                <a:gridCol w="2194560"/>
                <a:gridCol w="2194560"/>
                <a:gridCol w="2743200"/>
              </a:tblGrid>
              <a:tr h="457200">
                <a:tc>
                  <a:txBody>
                    <a:bodyPr/>
                    <a:lstStyle/>
                    <a:p>
                      <a:pPr algn="l" indent="0" marL="0">
                        <a:buNone/>
                      </a:pPr>
                      <a:r>
                        <a:rPr lang="en-US" sz="1300" b="1" dirty="0">
                          <a:solidFill>
                            <a:srgbClr val="FFFFFF"/>
                          </a:solidFill>
                        </a:rPr>
                        <a:t>Violation</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ctr" indent="0" marL="0">
                        <a:buNone/>
                      </a:pPr>
                      <a:r>
                        <a:rPr lang="en-US" sz="1300" b="1" dirty="0">
                          <a:solidFill>
                            <a:srgbClr val="FFFFFF"/>
                          </a:solidFill>
                        </a:rPr>
                        <a:t>Min fine (EGP)</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ctr" indent="0" marL="0">
                        <a:buNone/>
                      </a:pPr>
                      <a:r>
                        <a:rPr lang="en-US" sz="1300" b="1" dirty="0">
                          <a:solidFill>
                            <a:srgbClr val="FFFFFF"/>
                          </a:solidFill>
                        </a:rPr>
                        <a:t>Max fine (EGP)</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ctr" indent="0" marL="0">
                        <a:buNone/>
                      </a:pPr>
                      <a:r>
                        <a:rPr lang="en-US" sz="1300" b="1" dirty="0">
                          <a:solidFill>
                            <a:srgbClr val="FFFFFF"/>
                          </a:solidFill>
                        </a:rPr>
                        <a:t>Prison?</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r>
              <a:tr h="457200">
                <a:tc>
                  <a:txBody>
                    <a:bodyPr/>
                    <a:lstStyle/>
                    <a:p>
                      <a:pPr algn="l" indent="0" marL="0">
                        <a:buNone/>
                      </a:pPr>
                      <a:r>
                        <a:rPr lang="en-US" sz="1250" b="1" dirty="0">
                          <a:solidFill>
                            <a:srgbClr val="E3C682"/>
                          </a:solidFill>
                        </a:rPr>
                        <a:t>General non-compliance</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9FB0C8"/>
                          </a:solidFill>
                        </a:rPr>
                        <a:t>No</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457200">
                <a:tc>
                  <a:txBody>
                    <a:bodyPr/>
                    <a:lstStyle/>
                    <a:p>
                      <a:pPr algn="l" indent="0" marL="0">
                        <a:buNone/>
                      </a:pPr>
                      <a:r>
                        <a:rPr lang="en-US" sz="1250" b="1" dirty="0">
                          <a:solidFill>
                            <a:srgbClr val="E3C682"/>
                          </a:solidFill>
                        </a:rPr>
                        <a:t>Licensing violation</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500,000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5,000,000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E23A52"/>
                          </a:solidFill>
                        </a:rPr>
                        <a:t>Yes</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457200">
                <a:tc>
                  <a:txBody>
                    <a:bodyPr/>
                    <a:lstStyle/>
                    <a:p>
                      <a:pPr algn="l" indent="0" marL="0">
                        <a:buNone/>
                      </a:pPr>
                      <a:r>
                        <a:rPr lang="en-US" sz="1250" b="1" dirty="0">
                          <a:solidFill>
                            <a:srgbClr val="E3C682"/>
                          </a:solidFill>
                        </a:rPr>
                        <a:t>Data-security breach</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300,000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3,000,000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E23A52"/>
                          </a:solidFill>
                        </a:rPr>
                        <a:t>Yes</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457200">
                <a:tc>
                  <a:txBody>
                    <a:bodyPr/>
                    <a:lstStyle/>
                    <a:p>
                      <a:pPr algn="l" indent="0" marL="0">
                        <a:buNone/>
                      </a:pPr>
                      <a:r>
                        <a:rPr lang="en-US" sz="1250" b="1" dirty="0">
                          <a:solidFill>
                            <a:srgbClr val="E3C682"/>
                          </a:solidFill>
                        </a:rPr>
                        <a:t>Unlawful marketing</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200,000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2,000,000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9FB0C8"/>
                          </a:solidFill>
                        </a:rPr>
                        <a:t>No</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457200">
                <a:tc>
                  <a:txBody>
                    <a:bodyPr/>
                    <a:lstStyle/>
                    <a:p>
                      <a:pPr algn="l" indent="0" marL="0">
                        <a:buNone/>
                      </a:pPr>
                      <a:r>
                        <a:rPr lang="en-US" sz="1250" b="1" dirty="0">
                          <a:solidFill>
                            <a:srgbClr val="E3C682"/>
                          </a:solidFill>
                        </a:rPr>
                        <a:t>No DPO appointed</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9FB0C8"/>
                          </a:solidFill>
                        </a:rPr>
                        <a:t>No</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457200">
                <a:tc>
                  <a:txBody>
                    <a:bodyPr/>
                    <a:lstStyle/>
                    <a:p>
                      <a:pPr algn="l" indent="0" marL="0">
                        <a:buNone/>
                      </a:pPr>
                      <a:r>
                        <a:rPr lang="en-US" sz="1250" b="1" dirty="0">
                          <a:solidFill>
                            <a:srgbClr val="E3C682"/>
                          </a:solidFill>
                        </a:rPr>
                        <a:t>Sensitive data / illegal transfer</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300,000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5,000,000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E23A52"/>
                          </a:solidFill>
                        </a:rPr>
                        <a:t>Yes</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bl>
          </a:graphicData>
        </a:graphic>
      </p:graphicFrame>
      <p:sp>
        <p:nvSpPr>
          <p:cNvPr id="9" name="Text 6"/>
          <p:cNvSpPr/>
          <p:nvPr/>
        </p:nvSpPr>
        <p:spPr>
          <a:xfrm>
            <a:off x="640080" y="5989320"/>
            <a:ext cx="10908792" cy="365760"/>
          </a:xfrm>
          <a:prstGeom prst="rect">
            <a:avLst/>
          </a:prstGeom>
          <a:noFill/>
          <a:ln/>
        </p:spPr>
        <p:txBody>
          <a:bodyPr wrap="square" rtlCol="0" anchor="ctr"/>
          <a:lstStyle/>
          <a:p>
            <a:pPr algn="l" indent="0" marL="0">
              <a:buNone/>
            </a:pPr>
            <a:r>
              <a:rPr lang="en-US" sz="1250" i="1" dirty="0">
                <a:solidFill>
                  <a:srgbClr val="E23A52"/>
                </a:solidFill>
                <a:latin typeface="Calibri" pitchFamily="34" charset="0"/>
                <a:ea typeface="Calibri" pitchFamily="34" charset="-122"/>
                <a:cs typeface="Calibri" pitchFamily="34" charset="-120"/>
              </a:rPr>
              <a:t>Repeat offences can DOUBLE the fine. Criminal breaches add imprisonment.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DATA LEAVING EGYPT</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Sending data abroad? Three gates.</a:t>
            </a:r>
            <a:endParaRPr lang="en-US" sz="3300" dirty="0"/>
          </a:p>
        </p:txBody>
      </p:sp>
      <p:sp>
        <p:nvSpPr>
          <p:cNvPr id="8" name="Shape 6"/>
          <p:cNvSpPr/>
          <p:nvPr/>
        </p:nvSpPr>
        <p:spPr>
          <a:xfrm>
            <a:off x="640080" y="2377440"/>
            <a:ext cx="3453384"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542032"/>
            <a:ext cx="3051048"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Adequate protection</a:t>
            </a:r>
            <a:endParaRPr lang="en-US" sz="1600" dirty="0"/>
          </a:p>
        </p:txBody>
      </p:sp>
      <p:sp>
        <p:nvSpPr>
          <p:cNvPr id="10" name="Text 8"/>
          <p:cNvSpPr/>
          <p:nvPr/>
        </p:nvSpPr>
        <p:spPr>
          <a:xfrm>
            <a:off x="841248" y="3054096"/>
            <a:ext cx="3051048" cy="786384"/>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The receiving country must protect data at least as strongly as Egypt.</a:t>
            </a:r>
            <a:endParaRPr lang="en-US" sz="1250" dirty="0"/>
          </a:p>
        </p:txBody>
      </p:sp>
      <p:sp>
        <p:nvSpPr>
          <p:cNvPr id="11" name="Shape 9"/>
          <p:cNvSpPr/>
          <p:nvPr/>
        </p:nvSpPr>
        <p:spPr>
          <a:xfrm>
            <a:off x="4367784" y="2377440"/>
            <a:ext cx="3453384"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8952" y="2542032"/>
            <a:ext cx="3051048"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PDPC licence first</a:t>
            </a:r>
            <a:endParaRPr lang="en-US" sz="1600" dirty="0"/>
          </a:p>
        </p:txBody>
      </p:sp>
      <p:sp>
        <p:nvSpPr>
          <p:cNvPr id="13" name="Text 11"/>
          <p:cNvSpPr/>
          <p:nvPr/>
        </p:nvSpPr>
        <p:spPr>
          <a:xfrm>
            <a:off x="4568952" y="3054096"/>
            <a:ext cx="3051048" cy="786384"/>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An approved licence or permit before any transfer (Article 14).</a:t>
            </a:r>
            <a:endParaRPr lang="en-US" sz="1250" dirty="0"/>
          </a:p>
        </p:txBody>
      </p:sp>
      <p:sp>
        <p:nvSpPr>
          <p:cNvPr id="14" name="Shape 12"/>
          <p:cNvSpPr/>
          <p:nvPr/>
        </p:nvSpPr>
        <p:spPr>
          <a:xfrm>
            <a:off x="8095488" y="2377440"/>
            <a:ext cx="3453384"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296656" y="2542032"/>
            <a:ext cx="3051048"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90 days, silence = no</a:t>
            </a:r>
            <a:endParaRPr lang="en-US" sz="1600" dirty="0"/>
          </a:p>
        </p:txBody>
      </p:sp>
      <p:sp>
        <p:nvSpPr>
          <p:cNvPr id="16" name="Text 14"/>
          <p:cNvSpPr/>
          <p:nvPr/>
        </p:nvSpPr>
        <p:spPr>
          <a:xfrm>
            <a:off x="8296656" y="3054096"/>
            <a:ext cx="3051048" cy="786384"/>
          </a:xfrm>
          <a:prstGeom prst="rect">
            <a:avLst/>
          </a:prstGeom>
          <a:noFill/>
          <a:ln/>
        </p:spPr>
        <p:txBody>
          <a:bodyPr wrap="square" rtlCol="0" anchor="t"/>
          <a:lstStyle/>
          <a:p>
            <a:pPr algn="l" indent="0" marL="0">
              <a:buNone/>
            </a:pPr>
            <a:r>
              <a:rPr lang="en-US" sz="1250" dirty="0">
                <a:solidFill>
                  <a:srgbClr val="D9E0EC"/>
                </a:solidFill>
                <a:latin typeface="Calibri" pitchFamily="34" charset="0"/>
                <a:ea typeface="Calibri" pitchFamily="34" charset="-122"/>
                <a:cs typeface="Calibri" pitchFamily="34" charset="-120"/>
              </a:rPr>
              <a:t>The PDPC decides within 90 days; no answer means rejected.</a:t>
            </a:r>
            <a:endParaRPr lang="en-US" sz="1250" dirty="0"/>
          </a:p>
        </p:txBody>
      </p:sp>
      <p:sp>
        <p:nvSpPr>
          <p:cNvPr id="17" name="Shape 15"/>
          <p:cNvSpPr/>
          <p:nvPr/>
        </p:nvSpPr>
        <p:spPr>
          <a:xfrm>
            <a:off x="640080" y="4206240"/>
            <a:ext cx="10908792" cy="914400"/>
          </a:xfrm>
          <a:prstGeom prst="rect">
            <a:avLst/>
          </a:prstGeom>
          <a:solidFill>
            <a:srgbClr val="122440"/>
          </a:solidFill>
          <a:ln w="12700">
            <a:solidFill>
              <a:srgbClr val="2C4060"/>
            </a:solidFill>
            <a:prstDash val="solid"/>
          </a:ln>
        </p:spPr>
      </p:sp>
      <p:sp>
        <p:nvSpPr>
          <p:cNvPr id="18" name="Shape 16"/>
          <p:cNvSpPr/>
          <p:nvPr/>
        </p:nvSpPr>
        <p:spPr>
          <a:xfrm>
            <a:off x="640080" y="4206240"/>
            <a:ext cx="64008" cy="914400"/>
          </a:xfrm>
          <a:prstGeom prst="rect">
            <a:avLst/>
          </a:prstGeom>
          <a:solidFill>
            <a:srgbClr val="C8A24A"/>
          </a:solidFill>
          <a:ln/>
        </p:spPr>
      </p:sp>
      <p:sp>
        <p:nvSpPr>
          <p:cNvPr id="19" name="Text 17"/>
          <p:cNvSpPr/>
          <p:nvPr/>
        </p:nvSpPr>
        <p:spPr>
          <a:xfrm>
            <a:off x="868680" y="4297680"/>
            <a:ext cx="10451592" cy="731520"/>
          </a:xfrm>
          <a:prstGeom prst="rect">
            <a:avLst/>
          </a:prstGeom>
          <a:noFill/>
          <a:ln/>
        </p:spPr>
        <p:txBody>
          <a:bodyPr wrap="square" rtlCol="0" anchor="ctr"/>
          <a:lstStyle/>
          <a:p>
            <a:pPr algn="l" indent="0" marL="0">
              <a:buNone/>
            </a:pPr>
            <a:r>
              <a:rPr lang="en-US" sz="1100" b="1" dirty="0">
                <a:solidFill>
                  <a:srgbClr val="C8A24A"/>
                </a:solidFill>
                <a:latin typeface="Calibri" pitchFamily="34" charset="0"/>
                <a:ea typeface="Calibri" pitchFamily="34" charset="-122"/>
                <a:cs typeface="Calibri" pitchFamily="34" charset="-120"/>
              </a:rPr>
              <a:t>IN PLAIN WORDS  </a:t>
            </a:r>
            <a:pPr algn="l" indent="0" marL="0">
              <a:buNone/>
            </a:pPr>
            <a:r>
              <a:rPr lang="en-US" sz="1350" dirty="0">
                <a:solidFill>
                  <a:srgbClr val="D9E0EC"/>
                </a:solidFill>
                <a:latin typeface="Calibri" pitchFamily="34" charset="0"/>
                <a:ea typeface="Calibri" pitchFamily="34" charset="-122"/>
                <a:cs typeface="Calibri" pitchFamily="34" charset="-120"/>
              </a:rPr>
              <a:t>You cannot freely move Egyptians' data abroad. Match Egypt's protection, get a PDPC licence, and remember: their silence counts as NO.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AGAINST THE WORLD'S GOLD STANDARD</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Egypt PDPL vs EU GDPR</a:t>
            </a:r>
            <a:endParaRPr lang="en-US" sz="3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08792" cy="914400"/>
        </p:xfrm>
        <a:graphic>
          <a:graphicData uri="http://schemas.openxmlformats.org/drawingml/2006/table">
            <a:tbl>
              <a:tblPr/>
              <a:tblGrid>
                <a:gridCol w="3017520"/>
                <a:gridCol w="3931920"/>
                <a:gridCol w="3931920"/>
              </a:tblGrid>
              <a:tr h="502920">
                <a:tc>
                  <a:txBody>
                    <a:bodyPr/>
                    <a:lstStyle/>
                    <a:p>
                      <a:pPr algn="l" indent="0" marL="0">
                        <a:buNone/>
                      </a:pPr>
                      <a:r>
                        <a:rPr lang="en-US" sz="1250" b="1" dirty="0">
                          <a:solidFill>
                            <a:srgbClr val="FFFFFF"/>
                          </a:solidFill>
                        </a:rPr>
                        <a:t>Dimension</a:t>
                      </a:r>
                      <a:endParaRPr lang="en-US" sz="125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l" indent="0" marL="0">
                        <a:buNone/>
                      </a:pPr>
                      <a:r>
                        <a:rPr lang="en-US" sz="1250" b="1" dirty="0">
                          <a:solidFill>
                            <a:srgbClr val="FFFFFF"/>
                          </a:solidFill>
                        </a:rPr>
                        <a:t>Egypt: Law 151/2020</a:t>
                      </a:r>
                      <a:endParaRPr lang="en-US" sz="125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l" indent="0" marL="0">
                        <a:buNone/>
                      </a:pPr>
                      <a:r>
                        <a:rPr lang="en-US" sz="1250" b="1" dirty="0">
                          <a:solidFill>
                            <a:srgbClr val="FFFFFF"/>
                          </a:solidFill>
                        </a:rPr>
                        <a:t>EU: GDPR (2016/679)</a:t>
                      </a:r>
                      <a:endParaRPr lang="en-US" sz="125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r>
              <a:tr h="502920">
                <a:tc>
                  <a:txBody>
                    <a:bodyPr/>
                    <a:lstStyle/>
                    <a:p>
                      <a:pPr algn="l" indent="0" marL="0">
                        <a:buNone/>
                      </a:pPr>
                      <a:r>
                        <a:rPr lang="en-US" sz="1150" b="1" dirty="0">
                          <a:solidFill>
                            <a:srgbClr val="E3C682"/>
                          </a:solidFill>
                        </a:rPr>
                        <a:t>Lawful bases</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Six bases (Art. 6)</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Six bases (Art. 6)</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502920">
                <a:tc>
                  <a:txBody>
                    <a:bodyPr/>
                    <a:lstStyle/>
                    <a:p>
                      <a:pPr algn="l" indent="0" marL="0">
                        <a:buNone/>
                      </a:pPr>
                      <a:r>
                        <a:rPr lang="en-US" sz="1150" b="1" dirty="0">
                          <a:solidFill>
                            <a:srgbClr val="E3C682"/>
                          </a:solidFill>
                        </a:rPr>
                        <a:t>Consent</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l" indent="0" marL="0">
                        <a:buNone/>
                      </a:pPr>
                      <a:r>
                        <a:rPr lang="en-US" sz="1150" dirty="0">
                          <a:solidFill>
                            <a:srgbClr val="D9E0EC"/>
                          </a:solidFill>
                        </a:rPr>
                        <a:t>Explicit; required for sensitive data</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l" indent="0" marL="0">
                        <a:buNone/>
                      </a:pPr>
                      <a:r>
                        <a:rPr lang="en-US" sz="1150" dirty="0">
                          <a:solidFill>
                            <a:srgbClr val="D9E0EC"/>
                          </a:solidFill>
                        </a:rPr>
                        <a:t>One of six bases; explicit for special data</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502920">
                <a:tc>
                  <a:txBody>
                    <a:bodyPr/>
                    <a:lstStyle/>
                    <a:p>
                      <a:pPr algn="l" indent="0" marL="0">
                        <a:buNone/>
                      </a:pPr>
                      <a:r>
                        <a:rPr lang="en-US" sz="1150" b="1" dirty="0">
                          <a:solidFill>
                            <a:srgbClr val="E3C682"/>
                          </a:solidFill>
                        </a:rPr>
                        <a:t>DPO</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Mandatory for all (Art. 8)</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Only for certain controllers</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502920">
                <a:tc>
                  <a:txBody>
                    <a:bodyPr/>
                    <a:lstStyle/>
                    <a:p>
                      <a:pPr algn="l" indent="0" marL="0">
                        <a:buNone/>
                      </a:pPr>
                      <a:r>
                        <a:rPr lang="en-US" sz="1150" b="1" dirty="0">
                          <a:solidFill>
                            <a:srgbClr val="E3C682"/>
                          </a:solidFill>
                        </a:rPr>
                        <a:t>Breach notice</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l" indent="0" marL="0">
                        <a:buNone/>
                      </a:pPr>
                      <a:r>
                        <a:rPr lang="en-US" sz="1150" dirty="0">
                          <a:solidFill>
                            <a:srgbClr val="D9E0EC"/>
                          </a:solidFill>
                        </a:rPr>
                        <a:t>72h to PDPC; 3 days to people</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l" indent="0" marL="0">
                        <a:buNone/>
                      </a:pPr>
                      <a:r>
                        <a:rPr lang="en-US" sz="1150" dirty="0">
                          <a:solidFill>
                            <a:srgbClr val="D9E0EC"/>
                          </a:solidFill>
                        </a:rPr>
                        <a:t>72h to authority; people if high risk</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502920">
                <a:tc>
                  <a:txBody>
                    <a:bodyPr/>
                    <a:lstStyle/>
                    <a:p>
                      <a:pPr algn="l" indent="0" marL="0">
                        <a:buNone/>
                      </a:pPr>
                      <a:r>
                        <a:rPr lang="en-US" sz="1150" b="1" dirty="0">
                          <a:solidFill>
                            <a:srgbClr val="E3C682"/>
                          </a:solidFill>
                        </a:rPr>
                        <a:t>Maximum fine</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EGP 5M + possible prison</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€20M or 4% of global turnover</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502920">
                <a:tc>
                  <a:txBody>
                    <a:bodyPr/>
                    <a:lstStyle/>
                    <a:p>
                      <a:pPr algn="l" indent="0" marL="0">
                        <a:buNone/>
                      </a:pPr>
                      <a:r>
                        <a:rPr lang="en-US" sz="1150" b="1" dirty="0">
                          <a:solidFill>
                            <a:srgbClr val="E3C682"/>
                          </a:solidFill>
                        </a:rPr>
                        <a:t>Cross-border</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l" indent="0" marL="0">
                        <a:buNone/>
                      </a:pPr>
                      <a:r>
                        <a:rPr lang="en-US" sz="1150" dirty="0">
                          <a:solidFill>
                            <a:srgbClr val="D9E0EC"/>
                          </a:solidFill>
                        </a:rPr>
                        <a:t>PDPC licence + adequacy; 90-day</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l" indent="0" marL="0">
                        <a:buNone/>
                      </a:pPr>
                      <a:r>
                        <a:rPr lang="en-US" sz="1150" dirty="0">
                          <a:solidFill>
                            <a:srgbClr val="D9E0EC"/>
                          </a:solidFill>
                        </a:rPr>
                        <a:t>Adequacy, SCCs, or BCRs</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502920">
                <a:tc>
                  <a:txBody>
                    <a:bodyPr/>
                    <a:lstStyle/>
                    <a:p>
                      <a:pPr algn="l" indent="0" marL="0">
                        <a:buNone/>
                      </a:pPr>
                      <a:r>
                        <a:rPr lang="en-US" sz="1150" b="1" dirty="0">
                          <a:solidFill>
                            <a:srgbClr val="E3C682"/>
                          </a:solidFill>
                        </a:rPr>
                        <a:t>Regulator</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PDPC (under MCIT)</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l" indent="0" marL="0">
                        <a:buNone/>
                      </a:pPr>
                      <a:r>
                        <a:rPr lang="en-US" sz="1150" dirty="0">
                          <a:solidFill>
                            <a:srgbClr val="D9E0EC"/>
                          </a:solidFill>
                        </a:rPr>
                        <a:t>National DPAs / EDPB</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ON THE GROUND IN EGYPT</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What it changes, sector by sector</a:t>
            </a:r>
            <a:endParaRPr lang="en-US" sz="3300" dirty="0"/>
          </a:p>
        </p:txBody>
      </p:sp>
      <p:sp>
        <p:nvSpPr>
          <p:cNvPr id="8" name="Shape 6"/>
          <p:cNvSpPr/>
          <p:nvPr/>
        </p:nvSpPr>
        <p:spPr>
          <a:xfrm>
            <a:off x="640080" y="2331720"/>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496312"/>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Banking</a:t>
            </a:r>
            <a:endParaRPr lang="en-US" sz="1500" dirty="0"/>
          </a:p>
        </p:txBody>
      </p:sp>
      <p:sp>
        <p:nvSpPr>
          <p:cNvPr id="10" name="Text 8"/>
          <p:cNvSpPr/>
          <p:nvPr/>
        </p:nvSpPr>
        <p:spPr>
          <a:xfrm>
            <a:off x="841248" y="3008376"/>
            <a:ext cx="3063240" cy="64922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CIB, Banque Misr: update privacy policies, capture explicit consent, harden security.</a:t>
            </a:r>
            <a:endParaRPr lang="en-US" sz="1150" dirty="0"/>
          </a:p>
        </p:txBody>
      </p:sp>
      <p:sp>
        <p:nvSpPr>
          <p:cNvPr id="11" name="Shape 9"/>
          <p:cNvSpPr/>
          <p:nvPr/>
        </p:nvSpPr>
        <p:spPr>
          <a:xfrm>
            <a:off x="4361688" y="2331720"/>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2856" y="2496312"/>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E-Commerce</a:t>
            </a:r>
            <a:endParaRPr lang="en-US" sz="1500" dirty="0"/>
          </a:p>
        </p:txBody>
      </p:sp>
      <p:sp>
        <p:nvSpPr>
          <p:cNvPr id="13" name="Text 11"/>
          <p:cNvSpPr/>
          <p:nvPr/>
        </p:nvSpPr>
        <p:spPr>
          <a:xfrm>
            <a:off x="4562856" y="3008376"/>
            <a:ext cx="3063240" cy="64922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Jumia, Amazon Egypt: rewrite user agreements, clear consent and data options.</a:t>
            </a:r>
            <a:endParaRPr lang="en-US" sz="1150" dirty="0"/>
          </a:p>
        </p:txBody>
      </p:sp>
      <p:sp>
        <p:nvSpPr>
          <p:cNvPr id="14" name="Shape 12"/>
          <p:cNvSpPr/>
          <p:nvPr/>
        </p:nvSpPr>
        <p:spPr>
          <a:xfrm>
            <a:off x="8083296" y="2331720"/>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284464" y="2496312"/>
            <a:ext cx="3063240"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Healthcare</a:t>
            </a:r>
            <a:endParaRPr lang="en-US" sz="1500" dirty="0"/>
          </a:p>
        </p:txBody>
      </p:sp>
      <p:sp>
        <p:nvSpPr>
          <p:cNvPr id="16" name="Text 14"/>
          <p:cNvSpPr/>
          <p:nvPr/>
        </p:nvSpPr>
        <p:spPr>
          <a:xfrm>
            <a:off x="8284464" y="3008376"/>
            <a:ext cx="3063240" cy="64922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Hospital groups: patient records are sensitive data; explicit consent to share.</a:t>
            </a:r>
            <a:endParaRPr lang="en-US" sz="1150" dirty="0"/>
          </a:p>
        </p:txBody>
      </p:sp>
      <p:sp>
        <p:nvSpPr>
          <p:cNvPr id="17" name="Shape 15"/>
          <p:cNvSpPr/>
          <p:nvPr/>
        </p:nvSpPr>
        <p:spPr>
          <a:xfrm>
            <a:off x="640080" y="4005072"/>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41248" y="4169664"/>
            <a:ext cx="3063240" cy="411480"/>
          </a:xfrm>
          <a:prstGeom prst="rect">
            <a:avLst/>
          </a:prstGeom>
          <a:noFill/>
          <a:ln/>
        </p:spPr>
        <p:txBody>
          <a:bodyPr wrap="square" rtlCol="0" anchor="ctr"/>
          <a:lstStyle/>
          <a:p>
            <a:pPr algn="l" indent="0" marL="0">
              <a:buNone/>
            </a:pPr>
            <a:r>
              <a:rPr lang="en-US" sz="1500" b="1" dirty="0">
                <a:solidFill>
                  <a:srgbClr val="FFFFFF"/>
                </a:solidFill>
                <a:latin typeface="Georgia" pitchFamily="34" charset="0"/>
                <a:ea typeface="Georgia" pitchFamily="34" charset="-122"/>
                <a:cs typeface="Georgia" pitchFamily="34" charset="-120"/>
              </a:rPr>
              <a:t>Telecom</a:t>
            </a:r>
            <a:endParaRPr lang="en-US" sz="1500" dirty="0"/>
          </a:p>
        </p:txBody>
      </p:sp>
      <p:sp>
        <p:nvSpPr>
          <p:cNvPr id="19" name="Text 17"/>
          <p:cNvSpPr/>
          <p:nvPr/>
        </p:nvSpPr>
        <p:spPr>
          <a:xfrm>
            <a:off x="841248" y="4572000"/>
            <a:ext cx="3063240" cy="758952"/>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Vodafone, Orange, Etisalat: modify agreements, deploy security upgrades.</a:t>
            </a:r>
            <a:endParaRPr lang="en-US" sz="1150" dirty="0"/>
          </a:p>
        </p:txBody>
      </p:sp>
      <p:sp>
        <p:nvSpPr>
          <p:cNvPr id="20" name="Shape 18"/>
          <p:cNvSpPr/>
          <p:nvPr/>
        </p:nvSpPr>
        <p:spPr>
          <a:xfrm>
            <a:off x="4361688" y="4005072"/>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4562856" y="4169664"/>
            <a:ext cx="3063240" cy="411480"/>
          </a:xfrm>
          <a:prstGeom prst="rect">
            <a:avLst/>
          </a:prstGeom>
          <a:noFill/>
          <a:ln/>
        </p:spPr>
        <p:txBody>
          <a:bodyPr wrap="square" rtlCol="0" anchor="ctr"/>
          <a:lstStyle/>
          <a:p>
            <a:pPr algn="l" indent="0" marL="0">
              <a:buNone/>
            </a:pPr>
            <a:r>
              <a:rPr lang="en-US" sz="1500" b="1" dirty="0">
                <a:solidFill>
                  <a:srgbClr val="FFFFFF"/>
                </a:solidFill>
                <a:latin typeface="Georgia" pitchFamily="34" charset="0"/>
                <a:ea typeface="Georgia" pitchFamily="34" charset="-122"/>
                <a:cs typeface="Georgia" pitchFamily="34" charset="-120"/>
              </a:rPr>
              <a:t>Government</a:t>
            </a:r>
            <a:endParaRPr lang="en-US" sz="1500" dirty="0"/>
          </a:p>
        </p:txBody>
      </p:sp>
      <p:sp>
        <p:nvSpPr>
          <p:cNvPr id="22" name="Text 20"/>
          <p:cNvSpPr/>
          <p:nvPr/>
        </p:nvSpPr>
        <p:spPr>
          <a:xfrm>
            <a:off x="4562856" y="4572000"/>
            <a:ext cx="3063240" cy="758952"/>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Public registries run on a public-task basis but still owe security and rights duties.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THE STRATEGY LENS</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Compliance is not a cost. It's an edge.</a:t>
            </a:r>
            <a:endParaRPr lang="en-US" sz="3300" dirty="0"/>
          </a:p>
        </p:txBody>
      </p:sp>
      <p:sp>
        <p:nvSpPr>
          <p:cNvPr id="8" name="Shape 6"/>
          <p:cNvSpPr/>
          <p:nvPr/>
        </p:nvSpPr>
        <p:spPr>
          <a:xfrm>
            <a:off x="640080"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63347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IT Governance</a:t>
            </a:r>
            <a:endParaRPr lang="en-US" sz="1500" dirty="0"/>
          </a:p>
        </p:txBody>
      </p:sp>
      <p:sp>
        <p:nvSpPr>
          <p:cNvPr id="10" name="Text 8"/>
          <p:cNvSpPr/>
          <p:nvPr/>
        </p:nvSpPr>
        <p:spPr>
          <a:xfrm>
            <a:off x="841248" y="3145536"/>
            <a:ext cx="2119122" cy="78638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Data inventory, classification and access controls redesigned.</a:t>
            </a:r>
            <a:endParaRPr lang="en-US" sz="1150" dirty="0"/>
          </a:p>
        </p:txBody>
      </p:sp>
      <p:sp>
        <p:nvSpPr>
          <p:cNvPr id="11" name="Shape 9"/>
          <p:cNvSpPr/>
          <p:nvPr/>
        </p:nvSpPr>
        <p:spPr>
          <a:xfrm>
            <a:off x="3435858"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3637026" y="263347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Customer Trust</a:t>
            </a:r>
            <a:endParaRPr lang="en-US" sz="1500" dirty="0"/>
          </a:p>
        </p:txBody>
      </p:sp>
      <p:sp>
        <p:nvSpPr>
          <p:cNvPr id="13" name="Text 11"/>
          <p:cNvSpPr/>
          <p:nvPr/>
        </p:nvSpPr>
        <p:spPr>
          <a:xfrm>
            <a:off x="3637026" y="3145536"/>
            <a:ext cx="2119122" cy="78638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Visible compliance signals trustworthiness, a differentiator.</a:t>
            </a:r>
            <a:endParaRPr lang="en-US" sz="1150" dirty="0"/>
          </a:p>
        </p:txBody>
      </p:sp>
      <p:sp>
        <p:nvSpPr>
          <p:cNvPr id="14" name="Shape 12"/>
          <p:cNvSpPr/>
          <p:nvPr/>
        </p:nvSpPr>
        <p:spPr>
          <a:xfrm>
            <a:off x="6231636"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6432804" y="263347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Investment</a:t>
            </a:r>
            <a:endParaRPr lang="en-US" sz="1500" dirty="0"/>
          </a:p>
        </p:txBody>
      </p:sp>
      <p:sp>
        <p:nvSpPr>
          <p:cNvPr id="16" name="Text 14"/>
          <p:cNvSpPr/>
          <p:nvPr/>
        </p:nvSpPr>
        <p:spPr>
          <a:xfrm>
            <a:off x="6432804" y="3145536"/>
            <a:ext cx="2119122" cy="78638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GDPR-equivalent protection attracts foreign investment.</a:t>
            </a:r>
            <a:endParaRPr lang="en-US" sz="1150" dirty="0"/>
          </a:p>
        </p:txBody>
      </p:sp>
      <p:sp>
        <p:nvSpPr>
          <p:cNvPr id="17" name="Shape 15"/>
          <p:cNvSpPr/>
          <p:nvPr/>
        </p:nvSpPr>
        <p:spPr>
          <a:xfrm>
            <a:off x="9027414"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9228582" y="2633472"/>
            <a:ext cx="2119122" cy="457200"/>
          </a:xfrm>
          <a:prstGeom prst="rect">
            <a:avLst/>
          </a:prstGeom>
          <a:noFill/>
          <a:ln/>
        </p:spPr>
        <p:txBody>
          <a:bodyPr wrap="square" rtlCol="0" anchor="t"/>
          <a:lstStyle/>
          <a:p>
            <a:pPr algn="l" indent="0" marL="0">
              <a:buNone/>
            </a:pPr>
            <a:r>
              <a:rPr lang="en-US" sz="1500" b="1" dirty="0">
                <a:solidFill>
                  <a:srgbClr val="FFFFFF"/>
                </a:solidFill>
                <a:latin typeface="Georgia" pitchFamily="34" charset="0"/>
                <a:ea typeface="Georgia" pitchFamily="34" charset="-122"/>
                <a:cs typeface="Georgia" pitchFamily="34" charset="-120"/>
              </a:rPr>
              <a:t>Risk Reduction</a:t>
            </a:r>
            <a:endParaRPr lang="en-US" sz="1500" dirty="0"/>
          </a:p>
        </p:txBody>
      </p:sp>
      <p:sp>
        <p:nvSpPr>
          <p:cNvPr id="19" name="Text 17"/>
          <p:cNvSpPr/>
          <p:nvPr/>
        </p:nvSpPr>
        <p:spPr>
          <a:xfrm>
            <a:off x="9228582" y="3145536"/>
            <a:ext cx="2119122" cy="786384"/>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Fewer breaches and fines; stronger cybersecurity posture.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WHAT TO DO BEFORE NOV 2026</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A four-step compliance roadmap</a:t>
            </a:r>
            <a:endParaRPr lang="en-US" sz="3300" dirty="0"/>
          </a:p>
        </p:txBody>
      </p:sp>
      <p:sp>
        <p:nvSpPr>
          <p:cNvPr id="8" name="Shape 6"/>
          <p:cNvSpPr/>
          <p:nvPr/>
        </p:nvSpPr>
        <p:spPr>
          <a:xfrm>
            <a:off x="640080"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41248" y="2596896"/>
            <a:ext cx="2119122" cy="365760"/>
          </a:xfrm>
          <a:prstGeom prst="rect">
            <a:avLst/>
          </a:prstGeom>
          <a:noFill/>
          <a:ln/>
        </p:spPr>
        <p:txBody>
          <a:bodyPr wrap="square" rtlCol="0" anchor="ctr"/>
          <a:lstStyle/>
          <a:p>
            <a:pPr algn="l" indent="0" marL="0">
              <a:buNone/>
            </a:pPr>
            <a:r>
              <a:rPr lang="en-US" sz="2000" b="1" dirty="0">
                <a:solidFill>
                  <a:srgbClr val="E3C682"/>
                </a:solidFill>
                <a:latin typeface="Georgia" pitchFamily="34" charset="0"/>
                <a:ea typeface="Georgia" pitchFamily="34" charset="-122"/>
                <a:cs typeface="Georgia" pitchFamily="34" charset="-120"/>
              </a:rPr>
              <a:t>1</a:t>
            </a:r>
            <a:endParaRPr lang="en-US" sz="2000" dirty="0"/>
          </a:p>
        </p:txBody>
      </p:sp>
      <p:sp>
        <p:nvSpPr>
          <p:cNvPr id="10" name="Text 8"/>
          <p:cNvSpPr/>
          <p:nvPr/>
        </p:nvSpPr>
        <p:spPr>
          <a:xfrm>
            <a:off x="841248" y="3017520"/>
            <a:ext cx="2119122"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Assess</a:t>
            </a:r>
            <a:endParaRPr lang="en-US" sz="1600" dirty="0"/>
          </a:p>
        </p:txBody>
      </p:sp>
      <p:sp>
        <p:nvSpPr>
          <p:cNvPr id="11" name="Text 9"/>
          <p:cNvSpPr/>
          <p:nvPr/>
        </p:nvSpPr>
        <p:spPr>
          <a:xfrm>
            <a:off x="841248" y="3529584"/>
            <a:ext cx="2119122" cy="676656"/>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Audit your data, map gaps, rank the risks.</a:t>
            </a:r>
            <a:endParaRPr lang="en-US" sz="1150" dirty="0"/>
          </a:p>
        </p:txBody>
      </p:sp>
      <p:sp>
        <p:nvSpPr>
          <p:cNvPr id="12" name="Shape 10"/>
          <p:cNvSpPr/>
          <p:nvPr/>
        </p:nvSpPr>
        <p:spPr>
          <a:xfrm>
            <a:off x="3435858"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3637026" y="2596896"/>
            <a:ext cx="2119122" cy="365760"/>
          </a:xfrm>
          <a:prstGeom prst="rect">
            <a:avLst/>
          </a:prstGeom>
          <a:noFill/>
          <a:ln/>
        </p:spPr>
        <p:txBody>
          <a:bodyPr wrap="square" rtlCol="0" anchor="ctr"/>
          <a:lstStyle/>
          <a:p>
            <a:pPr algn="l" indent="0" marL="0">
              <a:buNone/>
            </a:pPr>
            <a:r>
              <a:rPr lang="en-US" sz="2000" b="1" dirty="0">
                <a:solidFill>
                  <a:srgbClr val="E3C682"/>
                </a:solidFill>
                <a:latin typeface="Georgia" pitchFamily="34" charset="0"/>
                <a:ea typeface="Georgia" pitchFamily="34" charset="-122"/>
                <a:cs typeface="Georgia" pitchFamily="34" charset="-120"/>
              </a:rPr>
              <a:t>2</a:t>
            </a:r>
            <a:endParaRPr lang="en-US" sz="2000" dirty="0"/>
          </a:p>
        </p:txBody>
      </p:sp>
      <p:sp>
        <p:nvSpPr>
          <p:cNvPr id="14" name="Text 12"/>
          <p:cNvSpPr/>
          <p:nvPr/>
        </p:nvSpPr>
        <p:spPr>
          <a:xfrm>
            <a:off x="3637026" y="3017520"/>
            <a:ext cx="2119122"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Design</a:t>
            </a:r>
            <a:endParaRPr lang="en-US" sz="1600" dirty="0"/>
          </a:p>
        </p:txBody>
      </p:sp>
      <p:sp>
        <p:nvSpPr>
          <p:cNvPr id="15" name="Text 13"/>
          <p:cNvSpPr/>
          <p:nvPr/>
        </p:nvSpPr>
        <p:spPr>
          <a:xfrm>
            <a:off x="3637026" y="3529584"/>
            <a:ext cx="2119122" cy="676656"/>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Write policies, add controls, privacy-by-design.</a:t>
            </a:r>
            <a:endParaRPr lang="en-US" sz="1150" dirty="0"/>
          </a:p>
        </p:txBody>
      </p:sp>
      <p:sp>
        <p:nvSpPr>
          <p:cNvPr id="16" name="Shape 14"/>
          <p:cNvSpPr/>
          <p:nvPr/>
        </p:nvSpPr>
        <p:spPr>
          <a:xfrm>
            <a:off x="6231636"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7" name="Text 15"/>
          <p:cNvSpPr/>
          <p:nvPr/>
        </p:nvSpPr>
        <p:spPr>
          <a:xfrm>
            <a:off x="6432804" y="2596896"/>
            <a:ext cx="2119122" cy="365760"/>
          </a:xfrm>
          <a:prstGeom prst="rect">
            <a:avLst/>
          </a:prstGeom>
          <a:noFill/>
          <a:ln/>
        </p:spPr>
        <p:txBody>
          <a:bodyPr wrap="square" rtlCol="0" anchor="ctr"/>
          <a:lstStyle/>
          <a:p>
            <a:pPr algn="l" indent="0" marL="0">
              <a:buNone/>
            </a:pPr>
            <a:r>
              <a:rPr lang="en-US" sz="2000" b="1" dirty="0">
                <a:solidFill>
                  <a:srgbClr val="E3C682"/>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6432804" y="3017520"/>
            <a:ext cx="2119122"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Implement</a:t>
            </a:r>
            <a:endParaRPr lang="en-US" sz="1600" dirty="0"/>
          </a:p>
        </p:txBody>
      </p:sp>
      <p:sp>
        <p:nvSpPr>
          <p:cNvPr id="19" name="Text 17"/>
          <p:cNvSpPr/>
          <p:nvPr/>
        </p:nvSpPr>
        <p:spPr>
          <a:xfrm>
            <a:off x="6432804" y="3529584"/>
            <a:ext cx="2119122" cy="676656"/>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Register with PDPC, appoint a DPO, train, update.</a:t>
            </a:r>
            <a:endParaRPr lang="en-US" sz="1150" dirty="0"/>
          </a:p>
        </p:txBody>
      </p:sp>
      <p:sp>
        <p:nvSpPr>
          <p:cNvPr id="20" name="Shape 18"/>
          <p:cNvSpPr/>
          <p:nvPr/>
        </p:nvSpPr>
        <p:spPr>
          <a:xfrm>
            <a:off x="9027414"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9228582" y="2596896"/>
            <a:ext cx="2119122" cy="365760"/>
          </a:xfrm>
          <a:prstGeom prst="rect">
            <a:avLst/>
          </a:prstGeom>
          <a:noFill/>
          <a:ln/>
        </p:spPr>
        <p:txBody>
          <a:bodyPr wrap="square" rtlCol="0" anchor="ctr"/>
          <a:lstStyle/>
          <a:p>
            <a:pPr algn="l" indent="0" marL="0">
              <a:buNone/>
            </a:pPr>
            <a:r>
              <a:rPr lang="en-US" sz="2000" b="1" dirty="0">
                <a:solidFill>
                  <a:srgbClr val="E3C682"/>
                </a:solidFill>
                <a:latin typeface="Georgia" pitchFamily="34" charset="0"/>
                <a:ea typeface="Georgia" pitchFamily="34" charset="-122"/>
                <a:cs typeface="Georgia" pitchFamily="34" charset="-120"/>
              </a:rPr>
              <a:t>4</a:t>
            </a:r>
            <a:endParaRPr lang="en-US" sz="2000" dirty="0"/>
          </a:p>
        </p:txBody>
      </p:sp>
      <p:sp>
        <p:nvSpPr>
          <p:cNvPr id="22" name="Text 20"/>
          <p:cNvSpPr/>
          <p:nvPr/>
        </p:nvSpPr>
        <p:spPr>
          <a:xfrm>
            <a:off x="9228582" y="3017520"/>
            <a:ext cx="2119122" cy="457200"/>
          </a:xfrm>
          <a:prstGeom prst="rect">
            <a:avLst/>
          </a:prstGeom>
          <a:noFill/>
          <a:ln/>
        </p:spPr>
        <p:txBody>
          <a:bodyPr wrap="square" rtlCol="0" anchor="t"/>
          <a:lstStyle/>
          <a:p>
            <a:pPr algn="l" indent="0" marL="0">
              <a:buNone/>
            </a:pPr>
            <a:r>
              <a:rPr lang="en-US" sz="1600" b="1" dirty="0">
                <a:solidFill>
                  <a:srgbClr val="FFFFFF"/>
                </a:solidFill>
                <a:latin typeface="Georgia" pitchFamily="34" charset="0"/>
                <a:ea typeface="Georgia" pitchFamily="34" charset="-122"/>
                <a:cs typeface="Georgia" pitchFamily="34" charset="-120"/>
              </a:rPr>
              <a:t>Monitor</a:t>
            </a:r>
            <a:endParaRPr lang="en-US" sz="1600" dirty="0"/>
          </a:p>
        </p:txBody>
      </p:sp>
      <p:sp>
        <p:nvSpPr>
          <p:cNvPr id="23" name="Text 21"/>
          <p:cNvSpPr/>
          <p:nvPr/>
        </p:nvSpPr>
        <p:spPr>
          <a:xfrm>
            <a:off x="9228582" y="3529584"/>
            <a:ext cx="2119122" cy="676656"/>
          </a:xfrm>
          <a:prstGeom prst="rect">
            <a:avLst/>
          </a:prstGeom>
          <a:noFill/>
          <a:ln/>
        </p:spPr>
        <p:txBody>
          <a:bodyPr wrap="square" rtlCol="0" anchor="t"/>
          <a:lstStyle/>
          <a:p>
            <a:pPr algn="l" indent="0" marL="0">
              <a:buNone/>
            </a:pPr>
            <a:r>
              <a:rPr lang="en-US" sz="1150" dirty="0">
                <a:solidFill>
                  <a:srgbClr val="D9E0EC"/>
                </a:solidFill>
                <a:latin typeface="Calibri" pitchFamily="34" charset="0"/>
                <a:ea typeface="Calibri" pitchFamily="34" charset="-122"/>
                <a:cs typeface="Calibri" pitchFamily="34" charset="-120"/>
              </a:rPr>
              <a:t>Continuous audits and breach drills; track new rules.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KNOWLEDGE CHECK</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Test yourself</a:t>
            </a:r>
            <a:endParaRPr lang="en-US" sz="3300" dirty="0"/>
          </a:p>
        </p:txBody>
      </p:sp>
      <p:sp>
        <p:nvSpPr>
          <p:cNvPr id="8" name="Shape 6"/>
          <p:cNvSpPr/>
          <p:nvPr/>
        </p:nvSpPr>
        <p:spPr>
          <a:xfrm>
            <a:off x="640080" y="2240280"/>
            <a:ext cx="5353812" cy="1051560"/>
          </a:xfrm>
          <a:prstGeom prst="roundRect">
            <a:avLst>
              <a:gd name="adj" fmla="val 6957"/>
            </a:avLst>
          </a:prstGeom>
          <a:solidFill>
            <a:srgbClr val="122440"/>
          </a:solidFill>
          <a:ln w="12700">
            <a:solidFill>
              <a:srgbClr val="2C4060"/>
            </a:solidFill>
            <a:prstDash val="solid"/>
          </a:ln>
        </p:spPr>
      </p:sp>
      <p:sp>
        <p:nvSpPr>
          <p:cNvPr id="9" name="Text 7"/>
          <p:cNvSpPr/>
          <p:nvPr/>
        </p:nvSpPr>
        <p:spPr>
          <a:xfrm>
            <a:off x="822960" y="2350008"/>
            <a:ext cx="4988052" cy="411480"/>
          </a:xfrm>
          <a:prstGeom prst="rect">
            <a:avLst/>
          </a:prstGeom>
          <a:noFill/>
          <a:ln/>
        </p:spPr>
        <p:txBody>
          <a:bodyPr wrap="square" rtlCol="0" anchor="ctr"/>
          <a:lstStyle/>
          <a:p>
            <a:pPr algn="l" indent="0" marL="0">
              <a:buNone/>
            </a:pPr>
            <a:r>
              <a:rPr lang="en-US" sz="1400" b="1" dirty="0">
                <a:solidFill>
                  <a:srgbClr val="E3C682"/>
                </a:solidFill>
                <a:latin typeface="Georgia" pitchFamily="34" charset="0"/>
                <a:ea typeface="Georgia" pitchFamily="34" charset="-122"/>
                <a:cs typeface="Georgia" pitchFamily="34" charset="-120"/>
              </a:rPr>
              <a:t>Q1. When did the law become enforceable?</a:t>
            </a:r>
            <a:endParaRPr lang="en-US" sz="1400" dirty="0"/>
          </a:p>
        </p:txBody>
      </p:sp>
      <p:sp>
        <p:nvSpPr>
          <p:cNvPr id="10" name="Text 8"/>
          <p:cNvSpPr/>
          <p:nvPr/>
        </p:nvSpPr>
        <p:spPr>
          <a:xfrm>
            <a:off x="822960" y="2743200"/>
            <a:ext cx="4988052" cy="502920"/>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2025, when the Executive Regulations were issued.</a:t>
            </a:r>
            <a:endParaRPr lang="en-US" sz="1200" dirty="0"/>
          </a:p>
        </p:txBody>
      </p:sp>
      <p:sp>
        <p:nvSpPr>
          <p:cNvPr id="11" name="Shape 9"/>
          <p:cNvSpPr/>
          <p:nvPr/>
        </p:nvSpPr>
        <p:spPr>
          <a:xfrm>
            <a:off x="6195060" y="2240280"/>
            <a:ext cx="5353812" cy="1051560"/>
          </a:xfrm>
          <a:prstGeom prst="roundRect">
            <a:avLst>
              <a:gd name="adj" fmla="val 6957"/>
            </a:avLst>
          </a:prstGeom>
          <a:solidFill>
            <a:srgbClr val="122440"/>
          </a:solidFill>
          <a:ln w="12700">
            <a:solidFill>
              <a:srgbClr val="2C4060"/>
            </a:solidFill>
            <a:prstDash val="solid"/>
          </a:ln>
        </p:spPr>
      </p:sp>
      <p:sp>
        <p:nvSpPr>
          <p:cNvPr id="12" name="Text 10"/>
          <p:cNvSpPr/>
          <p:nvPr/>
        </p:nvSpPr>
        <p:spPr>
          <a:xfrm>
            <a:off x="6377940" y="2350008"/>
            <a:ext cx="4988052" cy="411480"/>
          </a:xfrm>
          <a:prstGeom prst="rect">
            <a:avLst/>
          </a:prstGeom>
          <a:noFill/>
          <a:ln/>
        </p:spPr>
        <p:txBody>
          <a:bodyPr wrap="square" rtlCol="0" anchor="ctr"/>
          <a:lstStyle/>
          <a:p>
            <a:pPr algn="l" indent="0" marL="0">
              <a:buNone/>
            </a:pPr>
            <a:r>
              <a:rPr lang="en-US" sz="1400" b="1" dirty="0">
                <a:solidFill>
                  <a:srgbClr val="E3C682"/>
                </a:solidFill>
                <a:latin typeface="Georgia" pitchFamily="34" charset="0"/>
                <a:ea typeface="Georgia" pitchFamily="34" charset="-122"/>
                <a:cs typeface="Georgia" pitchFamily="34" charset="-120"/>
              </a:rPr>
              <a:t>Q2. How many lawful bases are there?</a:t>
            </a:r>
            <a:endParaRPr lang="en-US" sz="1400" dirty="0"/>
          </a:p>
        </p:txBody>
      </p:sp>
      <p:sp>
        <p:nvSpPr>
          <p:cNvPr id="13" name="Text 11"/>
          <p:cNvSpPr/>
          <p:nvPr/>
        </p:nvSpPr>
        <p:spPr>
          <a:xfrm>
            <a:off x="6377940" y="2743200"/>
            <a:ext cx="4988052" cy="502920"/>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Six (Article 6), consent is just one.</a:t>
            </a:r>
            <a:endParaRPr lang="en-US" sz="1200" dirty="0"/>
          </a:p>
        </p:txBody>
      </p:sp>
      <p:sp>
        <p:nvSpPr>
          <p:cNvPr id="14" name="Shape 12"/>
          <p:cNvSpPr/>
          <p:nvPr/>
        </p:nvSpPr>
        <p:spPr>
          <a:xfrm>
            <a:off x="640080" y="3493008"/>
            <a:ext cx="5353812" cy="1051560"/>
          </a:xfrm>
          <a:prstGeom prst="roundRect">
            <a:avLst>
              <a:gd name="adj" fmla="val 6957"/>
            </a:avLst>
          </a:prstGeom>
          <a:solidFill>
            <a:srgbClr val="122440"/>
          </a:solidFill>
          <a:ln w="12700">
            <a:solidFill>
              <a:srgbClr val="2C4060"/>
            </a:solidFill>
            <a:prstDash val="solid"/>
          </a:ln>
        </p:spPr>
      </p:sp>
      <p:sp>
        <p:nvSpPr>
          <p:cNvPr id="15" name="Text 13"/>
          <p:cNvSpPr/>
          <p:nvPr/>
        </p:nvSpPr>
        <p:spPr>
          <a:xfrm>
            <a:off x="822960" y="3602736"/>
            <a:ext cx="4988052" cy="411480"/>
          </a:xfrm>
          <a:prstGeom prst="rect">
            <a:avLst/>
          </a:prstGeom>
          <a:noFill/>
          <a:ln/>
        </p:spPr>
        <p:txBody>
          <a:bodyPr wrap="square" rtlCol="0" anchor="ctr"/>
          <a:lstStyle/>
          <a:p>
            <a:pPr algn="l" indent="0" marL="0">
              <a:buNone/>
            </a:pPr>
            <a:r>
              <a:rPr lang="en-US" sz="1400" b="1" dirty="0">
                <a:solidFill>
                  <a:srgbClr val="E3C682"/>
                </a:solidFill>
                <a:latin typeface="Georgia" pitchFamily="34" charset="0"/>
                <a:ea typeface="Georgia" pitchFamily="34" charset="-122"/>
                <a:cs typeface="Georgia" pitchFamily="34" charset="-120"/>
              </a:rPr>
              <a:t>Q3. Is a DPO mandatory?</a:t>
            </a:r>
            <a:endParaRPr lang="en-US" sz="1400" dirty="0"/>
          </a:p>
        </p:txBody>
      </p:sp>
      <p:sp>
        <p:nvSpPr>
          <p:cNvPr id="16" name="Text 14"/>
          <p:cNvSpPr/>
          <p:nvPr/>
        </p:nvSpPr>
        <p:spPr>
          <a:xfrm>
            <a:off x="822960" y="3995928"/>
            <a:ext cx="4988052" cy="502920"/>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Yes, Article 8 requires one for all.</a:t>
            </a:r>
            <a:endParaRPr lang="en-US" sz="1200" dirty="0"/>
          </a:p>
        </p:txBody>
      </p:sp>
      <p:sp>
        <p:nvSpPr>
          <p:cNvPr id="17" name="Shape 15"/>
          <p:cNvSpPr/>
          <p:nvPr/>
        </p:nvSpPr>
        <p:spPr>
          <a:xfrm>
            <a:off x="6195060" y="3493008"/>
            <a:ext cx="5353812" cy="1051560"/>
          </a:xfrm>
          <a:prstGeom prst="roundRect">
            <a:avLst>
              <a:gd name="adj" fmla="val 6957"/>
            </a:avLst>
          </a:prstGeom>
          <a:solidFill>
            <a:srgbClr val="122440"/>
          </a:solidFill>
          <a:ln w="12700">
            <a:solidFill>
              <a:srgbClr val="2C4060"/>
            </a:solidFill>
            <a:prstDash val="solid"/>
          </a:ln>
        </p:spPr>
      </p:sp>
      <p:sp>
        <p:nvSpPr>
          <p:cNvPr id="18" name="Text 16"/>
          <p:cNvSpPr/>
          <p:nvPr/>
        </p:nvSpPr>
        <p:spPr>
          <a:xfrm>
            <a:off x="6377940" y="3602736"/>
            <a:ext cx="4988052" cy="411480"/>
          </a:xfrm>
          <a:prstGeom prst="rect">
            <a:avLst/>
          </a:prstGeom>
          <a:noFill/>
          <a:ln/>
        </p:spPr>
        <p:txBody>
          <a:bodyPr wrap="square" rtlCol="0" anchor="ctr"/>
          <a:lstStyle/>
          <a:p>
            <a:pPr algn="l" indent="0" marL="0">
              <a:buNone/>
            </a:pPr>
            <a:r>
              <a:rPr lang="en-US" sz="1400" b="1" dirty="0">
                <a:solidFill>
                  <a:srgbClr val="E3C682"/>
                </a:solidFill>
                <a:latin typeface="Georgia" pitchFamily="34" charset="0"/>
                <a:ea typeface="Georgia" pitchFamily="34" charset="-122"/>
                <a:cs typeface="Georgia" pitchFamily="34" charset="-120"/>
              </a:rPr>
              <a:t>Q4. Breach notification deadline?</a:t>
            </a:r>
            <a:endParaRPr lang="en-US" sz="1400" dirty="0"/>
          </a:p>
        </p:txBody>
      </p:sp>
      <p:sp>
        <p:nvSpPr>
          <p:cNvPr id="19" name="Text 17"/>
          <p:cNvSpPr/>
          <p:nvPr/>
        </p:nvSpPr>
        <p:spPr>
          <a:xfrm>
            <a:off x="6377940" y="3995928"/>
            <a:ext cx="4988052" cy="502920"/>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72 hours to PDPC; 3 working days to people.</a:t>
            </a:r>
            <a:endParaRPr lang="en-US" sz="1200" dirty="0"/>
          </a:p>
        </p:txBody>
      </p:sp>
      <p:sp>
        <p:nvSpPr>
          <p:cNvPr id="20" name="Shape 18"/>
          <p:cNvSpPr/>
          <p:nvPr/>
        </p:nvSpPr>
        <p:spPr>
          <a:xfrm>
            <a:off x="640080" y="4745736"/>
            <a:ext cx="5353812" cy="1051560"/>
          </a:xfrm>
          <a:prstGeom prst="roundRect">
            <a:avLst>
              <a:gd name="adj" fmla="val 6957"/>
            </a:avLst>
          </a:prstGeom>
          <a:solidFill>
            <a:srgbClr val="122440"/>
          </a:solidFill>
          <a:ln w="12700">
            <a:solidFill>
              <a:srgbClr val="2C4060"/>
            </a:solidFill>
            <a:prstDash val="solid"/>
          </a:ln>
        </p:spPr>
      </p:sp>
      <p:sp>
        <p:nvSpPr>
          <p:cNvPr id="21" name="Text 19"/>
          <p:cNvSpPr/>
          <p:nvPr/>
        </p:nvSpPr>
        <p:spPr>
          <a:xfrm>
            <a:off x="822960" y="4855464"/>
            <a:ext cx="4988052" cy="411480"/>
          </a:xfrm>
          <a:prstGeom prst="rect">
            <a:avLst/>
          </a:prstGeom>
          <a:noFill/>
          <a:ln/>
        </p:spPr>
        <p:txBody>
          <a:bodyPr wrap="square" rtlCol="0" anchor="ctr"/>
          <a:lstStyle/>
          <a:p>
            <a:pPr algn="l" indent="0" marL="0">
              <a:buNone/>
            </a:pPr>
            <a:r>
              <a:rPr lang="en-US" sz="1400" b="1" dirty="0">
                <a:solidFill>
                  <a:srgbClr val="E3C682"/>
                </a:solidFill>
                <a:latin typeface="Georgia" pitchFamily="34" charset="0"/>
                <a:ea typeface="Georgia" pitchFamily="34" charset="-122"/>
                <a:cs typeface="Georgia" pitchFamily="34" charset="-120"/>
              </a:rPr>
              <a:t>Q5. Maximum fine band?</a:t>
            </a:r>
            <a:endParaRPr lang="en-US" sz="1400" dirty="0"/>
          </a:p>
        </p:txBody>
      </p:sp>
      <p:sp>
        <p:nvSpPr>
          <p:cNvPr id="22" name="Text 20"/>
          <p:cNvSpPr/>
          <p:nvPr/>
        </p:nvSpPr>
        <p:spPr>
          <a:xfrm>
            <a:off x="822960" y="5248656"/>
            <a:ext cx="4988052" cy="502920"/>
          </a:xfrm>
          <a:prstGeom prst="rect">
            <a:avLst/>
          </a:prstGeom>
          <a:noFill/>
          <a:ln/>
        </p:spPr>
        <p:txBody>
          <a:bodyPr wrap="square" rtlCol="0" anchor="t"/>
          <a:lstStyle/>
          <a:p>
            <a:pPr algn="l" indent="0" marL="0">
              <a:buNone/>
            </a:pPr>
            <a:r>
              <a:rPr lang="en-US" sz="1200" dirty="0">
                <a:solidFill>
                  <a:srgbClr val="D9E0EC"/>
                </a:solidFill>
                <a:latin typeface="Calibri" pitchFamily="34" charset="0"/>
                <a:ea typeface="Calibri" pitchFamily="34" charset="-122"/>
                <a:cs typeface="Calibri" pitchFamily="34" charset="-120"/>
              </a:rPr>
              <a:t>EGP 5M, plus possible imprisonment.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SELF-CHECK</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How ready are you for Nov 2026?</a:t>
            </a:r>
            <a:endParaRPr lang="en-US" sz="3300" dirty="0"/>
          </a:p>
        </p:txBody>
      </p:sp>
      <p:sp>
        <p:nvSpPr>
          <p:cNvPr id="8" name="Shape 6"/>
          <p:cNvSpPr/>
          <p:nvPr/>
        </p:nvSpPr>
        <p:spPr>
          <a:xfrm>
            <a:off x="640080" y="2286000"/>
            <a:ext cx="310896" cy="310896"/>
          </a:xfrm>
          <a:prstGeom prst="rect">
            <a:avLst/>
          </a:prstGeom>
          <a:solidFill>
            <a:srgbClr val="0E2444"/>
          </a:solidFill>
          <a:ln w="19050">
            <a:solidFill>
              <a:srgbClr val="C8A24A"/>
            </a:solidFill>
            <a:prstDash val="solid"/>
          </a:ln>
        </p:spPr>
      </p:sp>
      <p:sp>
        <p:nvSpPr>
          <p:cNvPr id="9" name="Text 7"/>
          <p:cNvSpPr/>
          <p:nvPr/>
        </p:nvSpPr>
        <p:spPr>
          <a:xfrm>
            <a:off x="640080" y="225856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0" name="Text 8"/>
          <p:cNvSpPr/>
          <p:nvPr/>
        </p:nvSpPr>
        <p:spPr>
          <a:xfrm>
            <a:off x="1097280" y="2286000"/>
            <a:ext cx="10451592" cy="310896"/>
          </a:xfrm>
          <a:prstGeom prst="rect">
            <a:avLst/>
          </a:prstGeom>
          <a:noFill/>
          <a:ln/>
        </p:spPr>
        <p:txBody>
          <a:bodyPr wrap="square" rtlCol="0" anchor="ctr"/>
          <a:lstStyle/>
          <a:p>
            <a:pPr algn="l" indent="0" marL="0">
              <a:buNone/>
            </a:pPr>
            <a:r>
              <a:rPr lang="en-US" sz="1400" dirty="0">
                <a:solidFill>
                  <a:srgbClr val="F6F1E7"/>
                </a:solidFill>
                <a:latin typeface="Calibri" pitchFamily="34" charset="0"/>
                <a:ea typeface="Calibri" pitchFamily="34" charset="-122"/>
                <a:cs typeface="Calibri" pitchFamily="34" charset="-120"/>
              </a:rPr>
              <a:t>Appointed a Data Protection Officer (DPO)</a:t>
            </a:r>
            <a:endParaRPr lang="en-US" sz="1400" dirty="0"/>
          </a:p>
        </p:txBody>
      </p:sp>
      <p:sp>
        <p:nvSpPr>
          <p:cNvPr id="11" name="Shape 9"/>
          <p:cNvSpPr/>
          <p:nvPr/>
        </p:nvSpPr>
        <p:spPr>
          <a:xfrm>
            <a:off x="640080" y="2880360"/>
            <a:ext cx="310896" cy="310896"/>
          </a:xfrm>
          <a:prstGeom prst="rect">
            <a:avLst/>
          </a:prstGeom>
          <a:solidFill>
            <a:srgbClr val="0E2444"/>
          </a:solidFill>
          <a:ln w="19050">
            <a:solidFill>
              <a:srgbClr val="C8A24A"/>
            </a:solidFill>
            <a:prstDash val="solid"/>
          </a:ln>
        </p:spPr>
      </p:sp>
      <p:sp>
        <p:nvSpPr>
          <p:cNvPr id="12" name="Text 10"/>
          <p:cNvSpPr/>
          <p:nvPr/>
        </p:nvSpPr>
        <p:spPr>
          <a:xfrm>
            <a:off x="640080" y="285292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3" name="Text 11"/>
          <p:cNvSpPr/>
          <p:nvPr/>
        </p:nvSpPr>
        <p:spPr>
          <a:xfrm>
            <a:off x="1097280" y="2880360"/>
            <a:ext cx="10451592" cy="310896"/>
          </a:xfrm>
          <a:prstGeom prst="rect">
            <a:avLst/>
          </a:prstGeom>
          <a:noFill/>
          <a:ln/>
        </p:spPr>
        <p:txBody>
          <a:bodyPr wrap="square" rtlCol="0" anchor="ctr"/>
          <a:lstStyle/>
          <a:p>
            <a:pPr algn="l" indent="0" marL="0">
              <a:buNone/>
            </a:pPr>
            <a:r>
              <a:rPr lang="en-US" sz="1400" dirty="0">
                <a:solidFill>
                  <a:srgbClr val="F6F1E7"/>
                </a:solidFill>
                <a:latin typeface="Calibri" pitchFamily="34" charset="0"/>
                <a:ea typeface="Calibri" pitchFamily="34" charset="-122"/>
                <a:cs typeface="Calibri" pitchFamily="34" charset="-120"/>
              </a:rPr>
              <a:t>Plan to register / licence with the PDPC</a:t>
            </a:r>
            <a:endParaRPr lang="en-US" sz="1400" dirty="0"/>
          </a:p>
        </p:txBody>
      </p:sp>
      <p:sp>
        <p:nvSpPr>
          <p:cNvPr id="14" name="Shape 12"/>
          <p:cNvSpPr/>
          <p:nvPr/>
        </p:nvSpPr>
        <p:spPr>
          <a:xfrm>
            <a:off x="640080" y="3474720"/>
            <a:ext cx="310896" cy="310896"/>
          </a:xfrm>
          <a:prstGeom prst="rect">
            <a:avLst/>
          </a:prstGeom>
          <a:solidFill>
            <a:srgbClr val="0E2444"/>
          </a:solidFill>
          <a:ln w="19050">
            <a:solidFill>
              <a:srgbClr val="C8A24A"/>
            </a:solidFill>
            <a:prstDash val="solid"/>
          </a:ln>
        </p:spPr>
      </p:sp>
      <p:sp>
        <p:nvSpPr>
          <p:cNvPr id="15" name="Text 13"/>
          <p:cNvSpPr/>
          <p:nvPr/>
        </p:nvSpPr>
        <p:spPr>
          <a:xfrm>
            <a:off x="640080" y="344728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6" name="Text 14"/>
          <p:cNvSpPr/>
          <p:nvPr/>
        </p:nvSpPr>
        <p:spPr>
          <a:xfrm>
            <a:off x="1097280" y="3474720"/>
            <a:ext cx="10451592" cy="310896"/>
          </a:xfrm>
          <a:prstGeom prst="rect">
            <a:avLst/>
          </a:prstGeom>
          <a:noFill/>
          <a:ln/>
        </p:spPr>
        <p:txBody>
          <a:bodyPr wrap="square" rtlCol="0" anchor="ctr"/>
          <a:lstStyle/>
          <a:p>
            <a:pPr algn="l" indent="0" marL="0">
              <a:buNone/>
            </a:pPr>
            <a:r>
              <a:rPr lang="en-US" sz="1400" dirty="0">
                <a:solidFill>
                  <a:srgbClr val="F6F1E7"/>
                </a:solidFill>
                <a:latin typeface="Calibri" pitchFamily="34" charset="0"/>
                <a:ea typeface="Calibri" pitchFamily="34" charset="-122"/>
                <a:cs typeface="Calibri" pitchFamily="34" charset="-120"/>
              </a:rPr>
              <a:t>Keep a full inventory of data held</a:t>
            </a:r>
            <a:endParaRPr lang="en-US" sz="1400" dirty="0"/>
          </a:p>
        </p:txBody>
      </p:sp>
      <p:sp>
        <p:nvSpPr>
          <p:cNvPr id="17" name="Shape 15"/>
          <p:cNvSpPr/>
          <p:nvPr/>
        </p:nvSpPr>
        <p:spPr>
          <a:xfrm>
            <a:off x="640080" y="4069080"/>
            <a:ext cx="310896" cy="310896"/>
          </a:xfrm>
          <a:prstGeom prst="rect">
            <a:avLst/>
          </a:prstGeom>
          <a:solidFill>
            <a:srgbClr val="0E2444"/>
          </a:solidFill>
          <a:ln w="19050">
            <a:solidFill>
              <a:srgbClr val="C8A24A"/>
            </a:solidFill>
            <a:prstDash val="solid"/>
          </a:ln>
        </p:spPr>
      </p:sp>
      <p:sp>
        <p:nvSpPr>
          <p:cNvPr id="18" name="Text 16"/>
          <p:cNvSpPr/>
          <p:nvPr/>
        </p:nvSpPr>
        <p:spPr>
          <a:xfrm>
            <a:off x="640080" y="404164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9" name="Text 17"/>
          <p:cNvSpPr/>
          <p:nvPr/>
        </p:nvSpPr>
        <p:spPr>
          <a:xfrm>
            <a:off x="1097280" y="4069080"/>
            <a:ext cx="10451592" cy="310896"/>
          </a:xfrm>
          <a:prstGeom prst="rect">
            <a:avLst/>
          </a:prstGeom>
          <a:noFill/>
          <a:ln/>
        </p:spPr>
        <p:txBody>
          <a:bodyPr wrap="square" rtlCol="0" anchor="ctr"/>
          <a:lstStyle/>
          <a:p>
            <a:pPr algn="l" indent="0" marL="0">
              <a:buNone/>
            </a:pPr>
            <a:r>
              <a:rPr lang="en-US" sz="1400" dirty="0">
                <a:solidFill>
                  <a:srgbClr val="F6F1E7"/>
                </a:solidFill>
                <a:latin typeface="Calibri" pitchFamily="34" charset="0"/>
                <a:ea typeface="Calibri" pitchFamily="34" charset="-122"/>
                <a:cs typeface="Calibri" pitchFamily="34" charset="-120"/>
              </a:rPr>
              <a:t>Have a 72-hour breach-response plan</a:t>
            </a:r>
            <a:endParaRPr lang="en-US" sz="1400" dirty="0"/>
          </a:p>
        </p:txBody>
      </p:sp>
      <p:sp>
        <p:nvSpPr>
          <p:cNvPr id="20" name="Shape 18"/>
          <p:cNvSpPr/>
          <p:nvPr/>
        </p:nvSpPr>
        <p:spPr>
          <a:xfrm>
            <a:off x="640080" y="4663440"/>
            <a:ext cx="310896" cy="310896"/>
          </a:xfrm>
          <a:prstGeom prst="rect">
            <a:avLst/>
          </a:prstGeom>
          <a:solidFill>
            <a:srgbClr val="0E2444"/>
          </a:solidFill>
          <a:ln w="19050">
            <a:solidFill>
              <a:srgbClr val="C8A24A"/>
            </a:solidFill>
            <a:prstDash val="solid"/>
          </a:ln>
        </p:spPr>
      </p:sp>
      <p:sp>
        <p:nvSpPr>
          <p:cNvPr id="21" name="Text 19"/>
          <p:cNvSpPr/>
          <p:nvPr/>
        </p:nvSpPr>
        <p:spPr>
          <a:xfrm>
            <a:off x="640080" y="463600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22" name="Text 20"/>
          <p:cNvSpPr/>
          <p:nvPr/>
        </p:nvSpPr>
        <p:spPr>
          <a:xfrm>
            <a:off x="1097280" y="4663440"/>
            <a:ext cx="10451592" cy="310896"/>
          </a:xfrm>
          <a:prstGeom prst="rect">
            <a:avLst/>
          </a:prstGeom>
          <a:noFill/>
          <a:ln/>
        </p:spPr>
        <p:txBody>
          <a:bodyPr wrap="square" rtlCol="0" anchor="ctr"/>
          <a:lstStyle/>
          <a:p>
            <a:pPr algn="l" indent="0" marL="0">
              <a:buNone/>
            </a:pPr>
            <a:r>
              <a:rPr lang="en-US" sz="1400" dirty="0">
                <a:solidFill>
                  <a:srgbClr val="F6F1E7"/>
                </a:solidFill>
                <a:latin typeface="Calibri" pitchFamily="34" charset="0"/>
                <a:ea typeface="Calibri" pitchFamily="34" charset="-122"/>
                <a:cs typeface="Calibri" pitchFamily="34" charset="-120"/>
              </a:rPr>
              <a:t>Record and can prove consent</a:t>
            </a:r>
            <a:endParaRPr lang="en-US" sz="1400" dirty="0"/>
          </a:p>
        </p:txBody>
      </p:sp>
      <p:sp>
        <p:nvSpPr>
          <p:cNvPr id="23" name="Shape 21"/>
          <p:cNvSpPr/>
          <p:nvPr/>
        </p:nvSpPr>
        <p:spPr>
          <a:xfrm>
            <a:off x="640080" y="5257800"/>
            <a:ext cx="310896" cy="310896"/>
          </a:xfrm>
          <a:prstGeom prst="rect">
            <a:avLst/>
          </a:prstGeom>
          <a:solidFill>
            <a:srgbClr val="0E2444"/>
          </a:solidFill>
          <a:ln w="19050">
            <a:solidFill>
              <a:srgbClr val="C8A24A"/>
            </a:solidFill>
            <a:prstDash val="solid"/>
          </a:ln>
        </p:spPr>
      </p:sp>
      <p:sp>
        <p:nvSpPr>
          <p:cNvPr id="24" name="Text 22"/>
          <p:cNvSpPr/>
          <p:nvPr/>
        </p:nvSpPr>
        <p:spPr>
          <a:xfrm>
            <a:off x="640080" y="523036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25" name="Text 23"/>
          <p:cNvSpPr/>
          <p:nvPr/>
        </p:nvSpPr>
        <p:spPr>
          <a:xfrm>
            <a:off x="1097280" y="5257800"/>
            <a:ext cx="10451592" cy="310896"/>
          </a:xfrm>
          <a:prstGeom prst="rect">
            <a:avLst/>
          </a:prstGeom>
          <a:noFill/>
          <a:ln/>
        </p:spPr>
        <p:txBody>
          <a:bodyPr wrap="square" rtlCol="0" anchor="ctr"/>
          <a:lstStyle/>
          <a:p>
            <a:pPr algn="l" indent="0" marL="0">
              <a:buNone/>
            </a:pPr>
            <a:r>
              <a:rPr lang="en-US" sz="1400" dirty="0">
                <a:solidFill>
                  <a:srgbClr val="F6F1E7"/>
                </a:solidFill>
                <a:latin typeface="Calibri" pitchFamily="34" charset="0"/>
                <a:ea typeface="Calibri" pitchFamily="34" charset="-122"/>
                <a:cs typeface="Calibri" pitchFamily="34" charset="-120"/>
              </a:rPr>
              <a:t>Reviewed cross-border data transfers</a:t>
            </a:r>
            <a:endParaRPr lang="en-US" sz="1400" dirty="0"/>
          </a:p>
        </p:txBody>
      </p:sp>
      <p:sp>
        <p:nvSpPr>
          <p:cNvPr id="26" name="Text 24"/>
          <p:cNvSpPr/>
          <p:nvPr/>
        </p:nvSpPr>
        <p:spPr>
          <a:xfrm>
            <a:off x="640080" y="5943600"/>
            <a:ext cx="10908792" cy="365760"/>
          </a:xfrm>
          <a:prstGeom prst="rect">
            <a:avLst/>
          </a:prstGeom>
          <a:noFill/>
          <a:ln/>
        </p:spPr>
        <p:txBody>
          <a:bodyPr wrap="square" rtlCol="0" anchor="ctr"/>
          <a:lstStyle/>
          <a:p>
            <a:pPr algn="l" indent="0" marL="0">
              <a:buNone/>
            </a:pPr>
            <a:r>
              <a:rPr lang="en-US" sz="1250" i="1" dirty="0">
                <a:solidFill>
                  <a:srgbClr val="E3C682"/>
                </a:solidFill>
                <a:latin typeface="Calibri" pitchFamily="34" charset="0"/>
                <a:ea typeface="Calibri" pitchFamily="34" charset="-122"/>
                <a:cs typeface="Calibri" pitchFamily="34" charset="-120"/>
              </a:rPr>
              <a:t>Tick every box and you are compliance-ready before enforcement begins.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Shape 2"/>
          <p:cNvSpPr/>
          <p:nvPr/>
        </p:nvSpPr>
        <p:spPr>
          <a:xfrm>
            <a:off x="0" y="0"/>
            <a:ext cx="12188952" cy="109728"/>
          </a:xfrm>
          <a:prstGeom prst="rect">
            <a:avLst/>
          </a:prstGeom>
          <a:solidFill>
            <a:srgbClr val="C8A24A"/>
          </a:solidFill>
          <a:ln/>
        </p:spPr>
      </p:sp>
      <p:sp>
        <p:nvSpPr>
          <p:cNvPr id="5" name="Text 3"/>
          <p:cNvSpPr/>
          <p:nvPr/>
        </p:nvSpPr>
        <p:spPr>
          <a:xfrm>
            <a:off x="640080" y="1463040"/>
            <a:ext cx="10908792" cy="365760"/>
          </a:xfrm>
          <a:prstGeom prst="rect">
            <a:avLst/>
          </a:prstGeom>
          <a:noFill/>
          <a:ln/>
        </p:spPr>
        <p:txBody>
          <a:bodyPr wrap="square" rtlCol="0" anchor="ctr"/>
          <a:lstStyle/>
          <a:p>
            <a:pPr algn="ctr" indent="0" marL="0">
              <a:buNone/>
            </a:pPr>
            <a:r>
              <a:rPr lang="en-US" sz="1300" b="1" spc="200" kern="0" dirty="0">
                <a:solidFill>
                  <a:srgbClr val="C8A24A"/>
                </a:solidFill>
                <a:latin typeface="Calibri" pitchFamily="34" charset="0"/>
                <a:ea typeface="Calibri" pitchFamily="34" charset="-122"/>
                <a:cs typeface="Calibri" pitchFamily="34" charset="-120"/>
              </a:rPr>
              <a:t>CONCLUSION</a:t>
            </a:r>
            <a:endParaRPr lang="en-US" sz="1300" dirty="0"/>
          </a:p>
        </p:txBody>
      </p:sp>
      <p:sp>
        <p:nvSpPr>
          <p:cNvPr id="6" name="Text 4"/>
          <p:cNvSpPr/>
          <p:nvPr/>
        </p:nvSpPr>
        <p:spPr>
          <a:xfrm>
            <a:off x="1097280" y="2103120"/>
            <a:ext cx="9994392" cy="182880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Law 151 turns privacy from a courtesy into a board-level duty.</a:t>
            </a:r>
            <a:endParaRPr lang="en-US" sz="3600" dirty="0"/>
          </a:p>
        </p:txBody>
      </p:sp>
      <p:sp>
        <p:nvSpPr>
          <p:cNvPr id="7" name="Text 5"/>
          <p:cNvSpPr/>
          <p:nvPr/>
        </p:nvSpPr>
        <p:spPr>
          <a:xfrm>
            <a:off x="1463040" y="4206240"/>
            <a:ext cx="9262872" cy="1280160"/>
          </a:xfrm>
          <a:prstGeom prst="rect">
            <a:avLst/>
          </a:prstGeom>
          <a:noFill/>
          <a:ln/>
        </p:spPr>
        <p:txBody>
          <a:bodyPr wrap="square" rtlCol="0" anchor="t"/>
          <a:lstStyle/>
          <a:p>
            <a:pPr algn="ctr" indent="0" marL="0">
              <a:buNone/>
            </a:pPr>
            <a:r>
              <a:rPr lang="en-US" sz="1600" dirty="0">
                <a:solidFill>
                  <a:srgbClr val="D9E0EC"/>
                </a:solidFill>
                <a:latin typeface="Calibri" pitchFamily="34" charset="0"/>
                <a:ea typeface="Calibri" pitchFamily="34" charset="-122"/>
                <a:cs typeface="Calibri" pitchFamily="34" charset="-120"/>
              </a:rPr>
              <a:t>The five-year grace is over. The businesses that treat data protection as strategy, not paperwork, will earn trust, attract investment, and avoid painful fines.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Calibri" pitchFamily="34" charset="0"/>
                <a:ea typeface="Calibri" pitchFamily="34" charset="-122"/>
                <a:cs typeface="Calibri" pitchFamily="34" charset="-120"/>
              </a:rPr>
              <a:t>Egypt Personal Data Protection Law · Law No. 151 of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r" indent="0" marL="0">
              <a:buNone/>
            </a:pPr>
            <a:r>
              <a:rPr lang="en-US" sz="900" dirty="0">
                <a:solidFill>
                  <a:srgbClr val="9FB0C8"/>
                </a:solidFill>
                <a:latin typeface="Calibri" pitchFamily="34" charset="0"/>
                <a:ea typeface="Calibri" pitchFamily="34" charset="-122"/>
                <a:cs typeface="Calibri"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algn="l" indent="0" marL="0">
              <a:buNone/>
            </a:pPr>
            <a:r>
              <a:rPr lang="en-US" sz="1200" b="1" spc="300" kern="0" dirty="0">
                <a:solidFill>
                  <a:srgbClr val="C8A24A"/>
                </a:solidFill>
                <a:latin typeface="Calibri" pitchFamily="34" charset="0"/>
                <a:ea typeface="Calibri" pitchFamily="34" charset="-122"/>
                <a:cs typeface="Calibri" pitchFamily="34" charset="-120"/>
              </a:rPr>
              <a:t>EVERY CLAIM, SOURCED</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algn="l" indent="0" marL="0">
              <a:buNone/>
            </a:pPr>
            <a:r>
              <a:rPr lang="en-US" sz="3300" b="1" dirty="0">
                <a:solidFill>
                  <a:srgbClr val="FFFFFF"/>
                </a:solidFill>
                <a:latin typeface="Georgia" pitchFamily="34" charset="0"/>
                <a:ea typeface="Georgia" pitchFamily="34" charset="-122"/>
                <a:cs typeface="Georgia" pitchFamily="34" charset="-120"/>
              </a:rPr>
              <a:t>Sources &amp; references</a:t>
            </a:r>
            <a:endParaRPr lang="en-US" sz="3300" dirty="0"/>
          </a:p>
        </p:txBody>
      </p:sp>
      <p:sp>
        <p:nvSpPr>
          <p:cNvPr id="8" name="Text 6"/>
          <p:cNvSpPr/>
          <p:nvPr/>
        </p:nvSpPr>
        <p:spPr>
          <a:xfrm>
            <a:off x="640080" y="2286000"/>
            <a:ext cx="10908792" cy="3657600"/>
          </a:xfrm>
          <a:prstGeom prst="rect">
            <a:avLst/>
          </a:prstGeom>
          <a:noFill/>
          <a:ln/>
        </p:spPr>
        <p:txBody>
          <a:bodyPr wrap="square" rtlCol="0" anchor="t"/>
          <a:lstStyle/>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1. Library of Congress, Egypt: First Law on Protection of Personal Data Enters into Force (2020).</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2. ICLG, Data Protection Laws &amp; Regulations: Egypt 2025-2026.</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3. Kennedys, Egypt's Personal Data Protection Law: the compliance countdown has begun (2026).</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4. Baker McKenzie, Egypt: Important Data Protection Update (Jan 2026).</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5. Shalakany, New Executive Regulations for Egypt's PDPL (Dec 2025).</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6. GLA &amp; Company, A First Look at Egypt's PDP Executive Regulations.</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7. PwC Middle East, Egypt Data Protection Law.</a:t>
            </a:r>
            <a:endParaRPr lang="en-US" sz="1250" dirty="0"/>
          </a:p>
          <a:p>
            <a:pPr algn="l" indent="0" marL="0">
              <a:spcAft>
                <a:spcPts val="600"/>
              </a:spcAft>
              <a:buNone/>
            </a:pPr>
            <a:r>
              <a:rPr lang="en-US" sz="1250" dirty="0">
                <a:solidFill>
                  <a:srgbClr val="D9E0EC"/>
                </a:solidFill>
                <a:latin typeface="Calibri" pitchFamily="34" charset="0"/>
                <a:ea typeface="Calibri" pitchFamily="34" charset="-122"/>
                <a:cs typeface="Calibri" pitchFamily="34" charset="-120"/>
              </a:rPr>
              <a:t>8. Andersen Egypt, Translation of Law No. 151 of 2020 (primary text).</a:t>
            </a:r>
            <a:endParaRPr lang="en-US" sz="1250" dirty="0"/>
          </a:p>
        </p:txBody>
      </p:sp>
      <p:sp>
        <p:nvSpPr>
          <p:cNvPr id="9" name="Text 7"/>
          <p:cNvSpPr/>
          <p:nvPr/>
        </p:nvSpPr>
        <p:spPr>
          <a:xfrm>
            <a:off x="640080" y="5989320"/>
            <a:ext cx="10908792" cy="457200"/>
          </a:xfrm>
          <a:prstGeom prst="rect">
            <a:avLst/>
          </a:prstGeom>
          <a:noFill/>
          <a:ln/>
        </p:spPr>
        <p:txBody>
          <a:bodyPr wrap="square" rtlCol="0" anchor="ctr"/>
          <a:lstStyle/>
          <a:p>
            <a:pPr algn="l" indent="0" marL="0">
              <a:buNone/>
            </a:pPr>
            <a:r>
              <a:rPr lang="en-US" sz="1050" i="1" dirty="0">
                <a:solidFill>
                  <a:srgbClr val="9FB0C8"/>
                </a:solidFill>
                <a:latin typeface="Calibri" pitchFamily="34" charset="0"/>
                <a:ea typeface="Calibri" pitchFamily="34" charset="-122"/>
                <a:cs typeface="Calibri" pitchFamily="34" charset="-120"/>
              </a:rPr>
              <a:t>Accessed June 2026. Where firms phrase the deadline as 'October 2026', we use the one-year period from the Regulations entering force (2 Nov 2025).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Egypt Personal Data Protection Law 151/2020</dc:title>
  <dc:subject>PptxGenJS Presentation</dc:subject>
  <dc:creator>EMBA IT Strategy</dc:creator>
  <cp:lastModifiedBy>EMBA IT Strategy</cp:lastModifiedBy>
  <cp:revision>1</cp:revision>
  <dcterms:created xsi:type="dcterms:W3CDTF">2026-06-26T07:22:40Z</dcterms:created>
  <dcterms:modified xsi:type="dcterms:W3CDTF">2026-06-26T07:22:40Z</dcterms:modified>
</cp:coreProperties>
</file>