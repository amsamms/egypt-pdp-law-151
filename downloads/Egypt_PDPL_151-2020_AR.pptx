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Shape 2"/>
          <p:cNvSpPr/>
          <p:nvPr/>
        </p:nvSpPr>
        <p:spPr>
          <a:xfrm>
            <a:off x="0" y="0"/>
            <a:ext cx="12188952" cy="109728"/>
          </a:xfrm>
          <a:prstGeom prst="rect">
            <a:avLst/>
          </a:prstGeom>
          <a:solidFill>
            <a:srgbClr val="C8A24A"/>
          </a:solidFill>
          <a:ln/>
        </p:spPr>
      </p:sp>
      <p:sp>
        <p:nvSpPr>
          <p:cNvPr id="5" name="Shape 3"/>
          <p:cNvSpPr/>
          <p:nvPr/>
        </p:nvSpPr>
        <p:spPr>
          <a:xfrm>
            <a:off x="0" y="109728"/>
            <a:ext cx="12188952" cy="27432"/>
          </a:xfrm>
          <a:prstGeom prst="rect">
            <a:avLst/>
          </a:prstGeom>
          <a:solidFill>
            <a:srgbClr val="C8102E"/>
          </a:solidFill>
          <a:ln/>
        </p:spPr>
      </p:sp>
      <p:sp>
        <p:nvSpPr>
          <p:cNvPr id="6" name="Shape 4"/>
          <p:cNvSpPr/>
          <p:nvPr/>
        </p:nvSpPr>
        <p:spPr>
          <a:xfrm>
            <a:off x="731520" y="1280160"/>
            <a:ext cx="1463040" cy="1463040"/>
          </a:xfrm>
          <a:prstGeom prst="ellipse">
            <a:avLst/>
          </a:prstGeom>
          <a:solidFill>
            <a:srgbClr val="0E2444"/>
          </a:solidFill>
          <a:ln w="19050">
            <a:solidFill>
              <a:srgbClr val="C8A24A"/>
            </a:solidFill>
            <a:prstDash val="solid"/>
          </a:ln>
        </p:spPr>
      </p:sp>
      <p:sp>
        <p:nvSpPr>
          <p:cNvPr id="7" name="Text 5"/>
          <p:cNvSpPr/>
          <p:nvPr/>
        </p:nvSpPr>
        <p:spPr>
          <a:xfrm>
            <a:off x="731520" y="1280160"/>
            <a:ext cx="1463040" cy="1463040"/>
          </a:xfrm>
          <a:prstGeom prst="rect">
            <a:avLst/>
          </a:prstGeom>
          <a:noFill/>
          <a:ln/>
        </p:spPr>
        <p:txBody>
          <a:bodyPr wrap="square" rtlCol="0" anchor="ctr"/>
          <a:lstStyle/>
          <a:p>
            <a:pPr algn="ctr" indent="0" marL="0">
              <a:buNone/>
            </a:pPr>
            <a:r>
              <a:rPr lang="en-US" sz="5400" dirty="0">
                <a:solidFill>
                  <a:srgbClr val="E3C682"/>
                </a:solidFill>
              </a:rPr>
              <a:t>⚖</a:t>
            </a:r>
            <a:endParaRPr lang="en-US" sz="5400" dirty="0"/>
          </a:p>
        </p:txBody>
      </p:sp>
      <p:sp>
        <p:nvSpPr>
          <p:cNvPr id="8" name="Text 6"/>
          <p:cNvSpPr/>
          <p:nvPr/>
        </p:nvSpPr>
        <p:spPr>
          <a:xfrm>
            <a:off x="640080" y="1371600"/>
            <a:ext cx="8229600" cy="365760"/>
          </a:xfrm>
          <a:prstGeom prst="rect">
            <a:avLst/>
          </a:prstGeom>
          <a:noFill/>
          <a:ln/>
        </p:spPr>
        <p:txBody>
          <a:bodyPr wrap="square" rtlCol="0" anchor="ctr"/>
          <a:lstStyle/>
          <a:p>
            <a:pPr rtl="1" algn="r" indent="0" marL="0">
              <a:buNone/>
            </a:pPr>
            <a:r>
              <a:rPr lang="en-US" sz="1300" b="1" spc="200" kern="0" dirty="0">
                <a:solidFill>
                  <a:srgbClr val="C8A24A"/>
                </a:solidFill>
                <a:latin typeface="Arial" pitchFamily="34" charset="0"/>
                <a:ea typeface="Arial" pitchFamily="34" charset="-122"/>
                <a:cs typeface="Arial" pitchFamily="34" charset="-120"/>
              </a:rPr>
              <a:t>مصر · استراتيجية تكنولوجيا المعلومات</a:t>
            </a:r>
            <a:endParaRPr lang="en-US" sz="1300" dirty="0"/>
          </a:p>
        </p:txBody>
      </p:sp>
      <p:sp>
        <p:nvSpPr>
          <p:cNvPr id="9" name="Text 7"/>
          <p:cNvSpPr/>
          <p:nvPr/>
        </p:nvSpPr>
        <p:spPr>
          <a:xfrm>
            <a:off x="3931920" y="1828800"/>
            <a:ext cx="7589520" cy="1463040"/>
          </a:xfrm>
          <a:prstGeom prst="rect">
            <a:avLst/>
          </a:prstGeom>
          <a:noFill/>
          <a:ln/>
        </p:spPr>
        <p:txBody>
          <a:bodyPr wrap="square" rtlCol="0" anchor="t"/>
          <a:lstStyle/>
          <a:p>
            <a:pPr rtl="1" algn="r" indent="0" marL="0">
              <a:buNone/>
            </a:pPr>
            <a:r>
              <a:rPr lang="en-US" sz="4600" dirty="0">
                <a:solidFill>
                  <a:srgbClr val="FFFFFF"/>
                </a:solidFill>
                <a:latin typeface="Arial" pitchFamily="34" charset="0"/>
                <a:ea typeface="Arial" pitchFamily="34" charset="-122"/>
                <a:cs typeface="Arial" pitchFamily="34" charset="-120"/>
              </a:rPr>
              <a:t>قانون حماية البيانات الشخصية المصري</a:t>
            </a:r>
            <a:endParaRPr lang="en-US" sz="4600" dirty="0"/>
          </a:p>
        </p:txBody>
      </p:sp>
      <p:sp>
        <p:nvSpPr>
          <p:cNvPr id="10" name="Text 8"/>
          <p:cNvSpPr/>
          <p:nvPr/>
        </p:nvSpPr>
        <p:spPr>
          <a:xfrm>
            <a:off x="640080" y="3200400"/>
            <a:ext cx="9144000" cy="822960"/>
          </a:xfrm>
          <a:prstGeom prst="rect">
            <a:avLst/>
          </a:prstGeom>
          <a:noFill/>
          <a:ln/>
        </p:spPr>
        <p:txBody>
          <a:bodyPr wrap="square" rtlCol="0" anchor="ctr"/>
          <a:lstStyle/>
          <a:p>
            <a:pPr rtl="1" algn="r" indent="0" marL="0">
              <a:buNone/>
            </a:pPr>
            <a:r>
              <a:rPr lang="en-US" sz="4000" dirty="0">
                <a:solidFill>
                  <a:srgbClr val="E3C682"/>
                </a:solidFill>
                <a:latin typeface="Arial" pitchFamily="34" charset="0"/>
                <a:ea typeface="Arial" pitchFamily="34" charset="-122"/>
                <a:cs typeface="Arial" pitchFamily="34" charset="-120"/>
              </a:rPr>
              <a:t>القانون رقم 151 لسنة 2020</a:t>
            </a:r>
            <a:endParaRPr lang="en-US" sz="4000" dirty="0"/>
          </a:p>
        </p:txBody>
      </p:sp>
      <p:sp>
        <p:nvSpPr>
          <p:cNvPr id="11" name="Text 9"/>
          <p:cNvSpPr/>
          <p:nvPr/>
        </p:nvSpPr>
        <p:spPr>
          <a:xfrm>
            <a:off x="640080" y="4114800"/>
            <a:ext cx="8686800" cy="822960"/>
          </a:xfrm>
          <a:prstGeom prst="rect">
            <a:avLst/>
          </a:prstGeom>
          <a:noFill/>
          <a:ln/>
        </p:spPr>
        <p:txBody>
          <a:bodyPr wrap="square" rtlCol="0" anchor="t"/>
          <a:lstStyle/>
          <a:p>
            <a:pPr rtl="1" algn="r" indent="0" marL="0">
              <a:buNone/>
            </a:pPr>
            <a:r>
              <a:rPr lang="en-US" sz="1500" dirty="0">
                <a:solidFill>
                  <a:srgbClr val="D9E0EC"/>
                </a:solidFill>
                <a:latin typeface="Arial" pitchFamily="34" charset="0"/>
                <a:ea typeface="Arial" pitchFamily="34" charset="-122"/>
                <a:cs typeface="Arial" pitchFamily="34" charset="-120"/>
              </a:rPr>
              <a:t>الدليل المبسّط للقانون الذي دخل حيّز التنفيذ فعليًا في 2025، ولماذا أصبحت كل شركة مصرية أمام موعد نهائي.</a:t>
            </a:r>
            <a:endParaRPr lang="en-US" sz="1500" dirty="0"/>
          </a:p>
        </p:txBody>
      </p:sp>
      <p:sp>
        <p:nvSpPr>
          <p:cNvPr id="12" name="Shape 10"/>
          <p:cNvSpPr/>
          <p:nvPr/>
        </p:nvSpPr>
        <p:spPr>
          <a:xfrm>
            <a:off x="640080" y="5074920"/>
            <a:ext cx="6035040" cy="1051560"/>
          </a:xfrm>
          <a:prstGeom prst="roundRect">
            <a:avLst>
              <a:gd name="adj" fmla="val 8696"/>
            </a:avLst>
          </a:prstGeom>
          <a:solidFill>
            <a:srgbClr val="122440"/>
          </a:solidFill>
          <a:ln w="12700">
            <a:solidFill>
              <a:srgbClr val="C8102E"/>
            </a:solidFill>
            <a:prstDash val="solid"/>
          </a:ln>
        </p:spPr>
      </p:sp>
      <p:sp>
        <p:nvSpPr>
          <p:cNvPr id="13" name="Text 11"/>
          <p:cNvSpPr/>
          <p:nvPr/>
        </p:nvSpPr>
        <p:spPr>
          <a:xfrm>
            <a:off x="868680" y="5212080"/>
            <a:ext cx="5486400" cy="274320"/>
          </a:xfrm>
          <a:prstGeom prst="rect">
            <a:avLst/>
          </a:prstGeom>
          <a:noFill/>
          <a:ln/>
        </p:spPr>
        <p:txBody>
          <a:bodyPr wrap="square" rtlCol="0" anchor="ctr"/>
          <a:lstStyle/>
          <a:p>
            <a:pPr rtl="1" algn="r" indent="0" marL="0">
              <a:buNone/>
            </a:pPr>
            <a:r>
              <a:rPr lang="en-US" sz="1100" b="1" spc="100" kern="0" dirty="0">
                <a:solidFill>
                  <a:srgbClr val="E23A52"/>
                </a:solidFill>
                <a:latin typeface="Arial" pitchFamily="34" charset="0"/>
                <a:ea typeface="Arial" pitchFamily="34" charset="-122"/>
                <a:cs typeface="Arial" pitchFamily="34" charset="-120"/>
              </a:rPr>
              <a:t>العدّ التنازلي للتطبيق الكامل</a:t>
            </a:r>
            <a:endParaRPr lang="en-US" sz="1100" dirty="0"/>
          </a:p>
        </p:txBody>
      </p:sp>
      <p:sp>
        <p:nvSpPr>
          <p:cNvPr id="14" name="Text 12"/>
          <p:cNvSpPr/>
          <p:nvPr/>
        </p:nvSpPr>
        <p:spPr>
          <a:xfrm>
            <a:off x="868680" y="5486400"/>
            <a:ext cx="5486400" cy="548640"/>
          </a:xfrm>
          <a:prstGeom prst="rect">
            <a:avLst/>
          </a:prstGeom>
          <a:noFill/>
          <a:ln/>
        </p:spPr>
        <p:txBody>
          <a:bodyPr wrap="square" rtlCol="0" anchor="ctr"/>
          <a:lstStyle/>
          <a:p>
            <a:pPr algn="r" indent="0" marL="0">
              <a:buNone/>
            </a:pPr>
            <a:r>
              <a:rPr lang="en-US" sz="2600" b="1" dirty="0">
                <a:solidFill>
                  <a:srgbClr val="FFFFFF"/>
                </a:solidFill>
                <a:latin typeface="Arial" pitchFamily="34" charset="0"/>
                <a:ea typeface="Arial" pitchFamily="34" charset="-122"/>
                <a:cs typeface="Arial" pitchFamily="34" charset="-120"/>
              </a:rPr>
              <a:t>≈ 128 </a:t>
            </a:r>
            <a:pPr algn="r" indent="0" marL="0">
              <a:buNone/>
            </a:pPr>
            <a:r>
              <a:rPr lang="en-US" sz="1400" dirty="0">
                <a:solidFill>
                  <a:srgbClr val="D9E0EC"/>
                </a:solidFill>
                <a:latin typeface="Arial" pitchFamily="34" charset="0"/>
                <a:ea typeface="Arial" pitchFamily="34" charset="-122"/>
                <a:cs typeface="Arial" pitchFamily="34" charset="-120"/>
              </a:rPr>
              <a:t>يومًا حتى ~2 نوفمبر 2026</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الجزء الذي يغفله الجميع</a:t>
            </a:r>
            <a:endParaRPr lang="en-US" sz="1200" dirty="0"/>
          </a:p>
        </p:txBody>
      </p:sp>
      <p:sp>
        <p:nvSpPr>
          <p:cNvPr id="7" name="Text 5"/>
          <p:cNvSpPr/>
          <p:nvPr/>
        </p:nvSpPr>
        <p:spPr>
          <a:xfrm>
            <a:off x="640080" y="868680"/>
            <a:ext cx="10908792" cy="1280160"/>
          </a:xfrm>
          <a:prstGeom prst="rect">
            <a:avLst/>
          </a:prstGeom>
          <a:noFill/>
          <a:ln/>
        </p:spPr>
        <p:txBody>
          <a:bodyPr wrap="square" rtlCol="0" anchor="t"/>
          <a:lstStyle/>
          <a:p>
            <a:pPr rtl="1" algn="r" indent="0" marL="0">
              <a:buNone/>
            </a:pPr>
            <a:r>
              <a:rPr lang="en-US" sz="3000" dirty="0">
                <a:solidFill>
                  <a:srgbClr val="FFFFFF"/>
                </a:solidFill>
                <a:latin typeface="Arial" pitchFamily="34" charset="0"/>
                <a:ea typeface="Arial" pitchFamily="34" charset="-122"/>
                <a:cs typeface="Arial" pitchFamily="34" charset="-120"/>
              </a:rPr>
              <a:t>لمدة خمس سنوات، ظلّ القانون 151 حبرًا على ورق لا يُلزم أحدًا. وفي 2025 تغيّر كل شيء.</a:t>
            </a:r>
            <a:endParaRPr lang="en-US" sz="3000" dirty="0"/>
          </a:p>
        </p:txBody>
      </p:sp>
      <p:sp>
        <p:nvSpPr>
          <p:cNvPr id="8" name="Shape 6"/>
          <p:cNvSpPr/>
          <p:nvPr/>
        </p:nvSpPr>
        <p:spPr>
          <a:xfrm>
            <a:off x="640080" y="2240280"/>
            <a:ext cx="10908792" cy="1143000"/>
          </a:xfrm>
          <a:prstGeom prst="rect">
            <a:avLst/>
          </a:prstGeom>
          <a:solidFill>
            <a:srgbClr val="122440"/>
          </a:solidFill>
          <a:ln w="12700">
            <a:solidFill>
              <a:srgbClr val="2C4060"/>
            </a:solidFill>
            <a:prstDash val="solid"/>
          </a:ln>
        </p:spPr>
      </p:sp>
      <p:sp>
        <p:nvSpPr>
          <p:cNvPr id="9" name="Shape 7"/>
          <p:cNvSpPr/>
          <p:nvPr/>
        </p:nvSpPr>
        <p:spPr>
          <a:xfrm>
            <a:off x="11484864" y="2240280"/>
            <a:ext cx="64008" cy="1143000"/>
          </a:xfrm>
          <a:prstGeom prst="rect">
            <a:avLst/>
          </a:prstGeom>
          <a:solidFill>
            <a:srgbClr val="C8A24A"/>
          </a:solidFill>
          <a:ln/>
        </p:spPr>
      </p:sp>
      <p:sp>
        <p:nvSpPr>
          <p:cNvPr id="10" name="Text 8"/>
          <p:cNvSpPr/>
          <p:nvPr/>
        </p:nvSpPr>
        <p:spPr>
          <a:xfrm>
            <a:off x="868680" y="2331720"/>
            <a:ext cx="10451592" cy="960120"/>
          </a:xfrm>
          <a:prstGeom prst="rect">
            <a:avLst/>
          </a:prstGeom>
          <a:noFill/>
          <a:ln/>
        </p:spPr>
        <p:txBody>
          <a:bodyPr wrap="square" rtlCol="0" anchor="ctr"/>
          <a:lstStyle/>
          <a:p>
            <a:pPr algn="r" indent="0" marL="0">
              <a:buNone/>
            </a:pPr>
            <a:r>
              <a:rPr lang="en-US" sz="1100" b="1" dirty="0">
                <a:solidFill>
                  <a:srgbClr val="C8A24A"/>
                </a:solidFill>
                <a:latin typeface="Arial" pitchFamily="34" charset="0"/>
                <a:ea typeface="Arial" pitchFamily="34" charset="-122"/>
                <a:cs typeface="Arial" pitchFamily="34" charset="-120"/>
              </a:rPr>
              <a:t>ببساطة  </a:t>
            </a:r>
            <a:pPr algn="r" indent="0" marL="0">
              <a:buNone/>
            </a:pPr>
            <a:r>
              <a:rPr lang="en-US" sz="1350" dirty="0">
                <a:solidFill>
                  <a:srgbClr val="D9E0EC"/>
                </a:solidFill>
                <a:latin typeface="Arial" pitchFamily="34" charset="0"/>
                <a:ea typeface="Arial" pitchFamily="34" charset="-122"/>
                <a:cs typeface="Arial" pitchFamily="34" charset="-120"/>
              </a:rPr>
              <a:t>القانون عادةً لا يُطبَّق حتى تصدر الحكومة لائحته التنفيذية أي كتيّب القواعد التفصيلي. أصدرت مصر القانون عام 2020 لكن الكتيّب لم يصدر إلا في نوفمبر 2025. لذا تبدأ الالتزامات والتراخيص والغرامات في التأثير الآن، في 2026.</a:t>
            </a:r>
            <a:endParaRPr lang="en-US" sz="1100" dirty="0"/>
          </a:p>
        </p:txBody>
      </p:sp>
      <p:sp>
        <p:nvSpPr>
          <p:cNvPr id="11" name="Shape 9"/>
          <p:cNvSpPr/>
          <p:nvPr/>
        </p:nvSpPr>
        <p:spPr>
          <a:xfrm>
            <a:off x="9027414"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9192006" y="3840480"/>
            <a:ext cx="2192274" cy="548640"/>
          </a:xfrm>
          <a:prstGeom prst="rect">
            <a:avLst/>
          </a:prstGeom>
          <a:noFill/>
          <a:ln/>
        </p:spPr>
        <p:txBody>
          <a:bodyPr wrap="square" rtlCol="0" anchor="ctr"/>
          <a:lstStyle/>
          <a:p>
            <a:pPr rtl="1" algn="r" indent="0" marL="0">
              <a:buNone/>
            </a:pPr>
            <a:r>
              <a:rPr lang="en-US" sz="2400" b="1" dirty="0">
                <a:solidFill>
                  <a:srgbClr val="E3C682"/>
                </a:solidFill>
                <a:latin typeface="Arial" pitchFamily="34" charset="0"/>
                <a:ea typeface="Arial" pitchFamily="34" charset="-122"/>
                <a:cs typeface="Arial" pitchFamily="34" charset="-120"/>
              </a:rPr>
              <a:t>816</a:t>
            </a:r>
            <a:endParaRPr lang="en-US" sz="2400" dirty="0"/>
          </a:p>
        </p:txBody>
      </p:sp>
      <p:sp>
        <p:nvSpPr>
          <p:cNvPr id="13" name="Text 11"/>
          <p:cNvSpPr/>
          <p:nvPr/>
        </p:nvSpPr>
        <p:spPr>
          <a:xfrm>
            <a:off x="9192006" y="4434840"/>
            <a:ext cx="2192274" cy="685800"/>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قرار رئيس الوزراء بإصدار اللائحة التنفيذية</a:t>
            </a:r>
            <a:endParaRPr lang="en-US" sz="1150" dirty="0"/>
          </a:p>
        </p:txBody>
      </p:sp>
      <p:sp>
        <p:nvSpPr>
          <p:cNvPr id="14" name="Shape 12"/>
          <p:cNvSpPr/>
          <p:nvPr/>
        </p:nvSpPr>
        <p:spPr>
          <a:xfrm>
            <a:off x="6231636"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6396228" y="3840480"/>
            <a:ext cx="2192274" cy="548640"/>
          </a:xfrm>
          <a:prstGeom prst="rect">
            <a:avLst/>
          </a:prstGeom>
          <a:noFill/>
          <a:ln/>
        </p:spPr>
        <p:txBody>
          <a:bodyPr wrap="square" rtlCol="0" anchor="ctr"/>
          <a:lstStyle/>
          <a:p>
            <a:pPr rtl="1" algn="r" indent="0" marL="0">
              <a:buNone/>
            </a:pPr>
            <a:r>
              <a:rPr lang="en-US" sz="2400" b="1" dirty="0">
                <a:solidFill>
                  <a:srgbClr val="E3C682"/>
                </a:solidFill>
                <a:latin typeface="Arial" pitchFamily="34" charset="0"/>
                <a:ea typeface="Arial" pitchFamily="34" charset="-122"/>
                <a:cs typeface="Arial" pitchFamily="34" charset="-120"/>
              </a:rPr>
              <a:t>1 نوفمبر 2025</a:t>
            </a:r>
            <a:endParaRPr lang="en-US" sz="2400" dirty="0"/>
          </a:p>
        </p:txBody>
      </p:sp>
      <p:sp>
        <p:nvSpPr>
          <p:cNvPr id="16" name="Text 14"/>
          <p:cNvSpPr/>
          <p:nvPr/>
        </p:nvSpPr>
        <p:spPr>
          <a:xfrm>
            <a:off x="6396228" y="4434840"/>
            <a:ext cx="2192274" cy="685800"/>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صدور اللائحة (سارية 2 نوفمبر 2025)</a:t>
            </a:r>
            <a:endParaRPr lang="en-US" sz="1150" dirty="0"/>
          </a:p>
        </p:txBody>
      </p:sp>
      <p:sp>
        <p:nvSpPr>
          <p:cNvPr id="17" name="Shape 15"/>
          <p:cNvSpPr/>
          <p:nvPr/>
        </p:nvSpPr>
        <p:spPr>
          <a:xfrm>
            <a:off x="3435858"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3600450" y="3840480"/>
            <a:ext cx="2192274" cy="548640"/>
          </a:xfrm>
          <a:prstGeom prst="rect">
            <a:avLst/>
          </a:prstGeom>
          <a:noFill/>
          <a:ln/>
        </p:spPr>
        <p:txBody>
          <a:bodyPr wrap="square" rtlCol="0" anchor="ctr"/>
          <a:lstStyle/>
          <a:p>
            <a:pPr rtl="1" algn="r" indent="0" marL="0">
              <a:buNone/>
            </a:pPr>
            <a:r>
              <a:rPr lang="en-US" sz="2400" b="1" dirty="0">
                <a:solidFill>
                  <a:srgbClr val="E3C682"/>
                </a:solidFill>
                <a:latin typeface="Arial" pitchFamily="34" charset="0"/>
                <a:ea typeface="Arial" pitchFamily="34" charset="-122"/>
                <a:cs typeface="Arial" pitchFamily="34" charset="-120"/>
              </a:rPr>
              <a:t>~يونيو 2026</a:t>
            </a:r>
            <a:endParaRPr lang="en-US" sz="2400" dirty="0"/>
          </a:p>
        </p:txBody>
      </p:sp>
      <p:sp>
        <p:nvSpPr>
          <p:cNvPr id="19" name="Text 17"/>
          <p:cNvSpPr/>
          <p:nvPr/>
        </p:nvSpPr>
        <p:spPr>
          <a:xfrm>
            <a:off x="3600450" y="4434840"/>
            <a:ext cx="2192274" cy="685800"/>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بوابة التراخيص الإلكترونية للمركز</a:t>
            </a:r>
            <a:endParaRPr lang="en-US" sz="1150" dirty="0"/>
          </a:p>
        </p:txBody>
      </p:sp>
      <p:sp>
        <p:nvSpPr>
          <p:cNvPr id="20" name="Shape 18"/>
          <p:cNvSpPr/>
          <p:nvPr/>
        </p:nvSpPr>
        <p:spPr>
          <a:xfrm>
            <a:off x="640080" y="3657600"/>
            <a:ext cx="2521458" cy="1554480"/>
          </a:xfrm>
          <a:prstGeom prst="roundRect">
            <a:avLst>
              <a:gd name="adj" fmla="val 5294"/>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804672" y="3840480"/>
            <a:ext cx="2192274" cy="548640"/>
          </a:xfrm>
          <a:prstGeom prst="rect">
            <a:avLst/>
          </a:prstGeom>
          <a:noFill/>
          <a:ln/>
        </p:spPr>
        <p:txBody>
          <a:bodyPr wrap="square" rtlCol="0" anchor="ctr"/>
          <a:lstStyle/>
          <a:p>
            <a:pPr rtl="1" algn="r" indent="0" marL="0">
              <a:buNone/>
            </a:pPr>
            <a:r>
              <a:rPr lang="en-US" sz="2400" b="1" dirty="0">
                <a:solidFill>
                  <a:srgbClr val="E3C682"/>
                </a:solidFill>
                <a:latin typeface="Arial" pitchFamily="34" charset="0"/>
                <a:ea typeface="Arial" pitchFamily="34" charset="-122"/>
                <a:cs typeface="Arial" pitchFamily="34" charset="-120"/>
              </a:rPr>
              <a:t>~نوفمبر 2026</a:t>
            </a:r>
            <a:endParaRPr lang="en-US" sz="2400" dirty="0"/>
          </a:p>
        </p:txBody>
      </p:sp>
      <p:sp>
        <p:nvSpPr>
          <p:cNvPr id="22" name="Text 20"/>
          <p:cNvSpPr/>
          <p:nvPr/>
        </p:nvSpPr>
        <p:spPr>
          <a:xfrm>
            <a:off x="804672" y="4434840"/>
            <a:ext cx="2192274" cy="685800"/>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انتهاء فترة السماح والتطبيق الكامل</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من الورق إلى التنفيذ</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رحلة القانون 151</a:t>
            </a:r>
            <a:endParaRPr lang="en-US" sz="3300" dirty="0"/>
          </a:p>
        </p:txBody>
      </p:sp>
      <p:sp>
        <p:nvSpPr>
          <p:cNvPr id="8" name="Shape 6"/>
          <p:cNvSpPr/>
          <p:nvPr/>
        </p:nvSpPr>
        <p:spPr>
          <a:xfrm>
            <a:off x="1005840" y="2468880"/>
            <a:ext cx="10177272" cy="0"/>
          </a:xfrm>
          <a:prstGeom prst="line">
            <a:avLst/>
          </a:prstGeom>
          <a:noFill/>
          <a:ln w="31750">
            <a:solidFill>
              <a:srgbClr val="C8A24A"/>
            </a:solidFill>
            <a:prstDash val="solid"/>
          </a:ln>
        </p:spPr>
      </p:sp>
      <p:sp>
        <p:nvSpPr>
          <p:cNvPr id="9" name="Shape 7"/>
          <p:cNvSpPr/>
          <p:nvPr/>
        </p:nvSpPr>
        <p:spPr>
          <a:xfrm>
            <a:off x="11064240" y="2350008"/>
            <a:ext cx="237744" cy="237744"/>
          </a:xfrm>
          <a:prstGeom prst="ellipse">
            <a:avLst/>
          </a:prstGeom>
          <a:solidFill>
            <a:srgbClr val="C8A24A"/>
          </a:solidFill>
          <a:ln w="25400">
            <a:solidFill>
              <a:srgbClr val="E3C682"/>
            </a:solidFill>
            <a:prstDash val="solid"/>
          </a:ln>
        </p:spPr>
      </p:sp>
      <p:sp>
        <p:nvSpPr>
          <p:cNvPr id="10" name="Text 8"/>
          <p:cNvSpPr/>
          <p:nvPr/>
        </p:nvSpPr>
        <p:spPr>
          <a:xfrm>
            <a:off x="10405872"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Arial" pitchFamily="34" charset="0"/>
                <a:ea typeface="Arial" pitchFamily="34" charset="-122"/>
                <a:cs typeface="Arial" pitchFamily="34" charset="-120"/>
              </a:rPr>
              <a:t>Jul 2020</a:t>
            </a:r>
            <a:endParaRPr lang="en-US" sz="1500" dirty="0"/>
          </a:p>
        </p:txBody>
      </p:sp>
      <p:sp>
        <p:nvSpPr>
          <p:cNvPr id="11" name="Text 9"/>
          <p:cNvSpPr/>
          <p:nvPr/>
        </p:nvSpPr>
        <p:spPr>
          <a:xfrm>
            <a:off x="10314432" y="2971800"/>
            <a:ext cx="1737360" cy="457200"/>
          </a:xfrm>
          <a:prstGeom prst="rect">
            <a:avLst/>
          </a:prstGeom>
          <a:noFill/>
          <a:ln/>
        </p:spPr>
        <p:txBody>
          <a:bodyPr wrap="square" rtlCol="0" anchor="ctr"/>
          <a:lstStyle/>
          <a:p>
            <a:pPr rtl="1" algn="ctr" indent="0" marL="0">
              <a:buNone/>
            </a:pPr>
            <a:r>
              <a:rPr lang="en-US" sz="1100" dirty="0">
                <a:solidFill>
                  <a:srgbClr val="9FB0C8"/>
                </a:solidFill>
                <a:latin typeface="Arial" pitchFamily="34" charset="0"/>
                <a:ea typeface="Arial" pitchFamily="34" charset="-122"/>
                <a:cs typeface="Arial" pitchFamily="34" charset="-120"/>
              </a:rPr>
              <a:t>إصدار القانون</a:t>
            </a:r>
            <a:endParaRPr lang="en-US" sz="1100" dirty="0"/>
          </a:p>
        </p:txBody>
      </p:sp>
      <p:sp>
        <p:nvSpPr>
          <p:cNvPr id="12" name="Shape 10"/>
          <p:cNvSpPr/>
          <p:nvPr/>
        </p:nvSpPr>
        <p:spPr>
          <a:xfrm>
            <a:off x="9028786" y="2350008"/>
            <a:ext cx="237744" cy="237744"/>
          </a:xfrm>
          <a:prstGeom prst="ellipse">
            <a:avLst/>
          </a:prstGeom>
          <a:solidFill>
            <a:srgbClr val="C8A24A"/>
          </a:solidFill>
          <a:ln w="25400">
            <a:solidFill>
              <a:srgbClr val="E3C682"/>
            </a:solidFill>
            <a:prstDash val="solid"/>
          </a:ln>
        </p:spPr>
      </p:sp>
      <p:sp>
        <p:nvSpPr>
          <p:cNvPr id="13" name="Text 11"/>
          <p:cNvSpPr/>
          <p:nvPr/>
        </p:nvSpPr>
        <p:spPr>
          <a:xfrm>
            <a:off x="8370418"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Arial" pitchFamily="34" charset="0"/>
                <a:ea typeface="Arial" pitchFamily="34" charset="-122"/>
                <a:cs typeface="Arial" pitchFamily="34" charset="-120"/>
              </a:rPr>
              <a:t>Oct 2020</a:t>
            </a:r>
            <a:endParaRPr lang="en-US" sz="1500" dirty="0"/>
          </a:p>
        </p:txBody>
      </p:sp>
      <p:sp>
        <p:nvSpPr>
          <p:cNvPr id="14" name="Text 12"/>
          <p:cNvSpPr/>
          <p:nvPr/>
        </p:nvSpPr>
        <p:spPr>
          <a:xfrm>
            <a:off x="8278978" y="2971800"/>
            <a:ext cx="1737360" cy="457200"/>
          </a:xfrm>
          <a:prstGeom prst="rect">
            <a:avLst/>
          </a:prstGeom>
          <a:noFill/>
          <a:ln/>
        </p:spPr>
        <p:txBody>
          <a:bodyPr wrap="square" rtlCol="0" anchor="ctr"/>
          <a:lstStyle/>
          <a:p>
            <a:pPr rtl="1" algn="ctr" indent="0" marL="0">
              <a:buNone/>
            </a:pPr>
            <a:r>
              <a:rPr lang="en-US" sz="1100" dirty="0">
                <a:solidFill>
                  <a:srgbClr val="9FB0C8"/>
                </a:solidFill>
                <a:latin typeface="Arial" pitchFamily="34" charset="0"/>
                <a:ea typeface="Arial" pitchFamily="34" charset="-122"/>
                <a:cs typeface="Arial" pitchFamily="34" charset="-120"/>
              </a:rPr>
              <a:t>بدء السريان</a:t>
            </a:r>
            <a:endParaRPr lang="en-US" sz="1100" dirty="0"/>
          </a:p>
        </p:txBody>
      </p:sp>
      <p:sp>
        <p:nvSpPr>
          <p:cNvPr id="15" name="Shape 13"/>
          <p:cNvSpPr/>
          <p:nvPr/>
        </p:nvSpPr>
        <p:spPr>
          <a:xfrm>
            <a:off x="6993331" y="2350008"/>
            <a:ext cx="237744" cy="237744"/>
          </a:xfrm>
          <a:prstGeom prst="ellipse">
            <a:avLst/>
          </a:prstGeom>
          <a:solidFill>
            <a:srgbClr val="C8A24A"/>
          </a:solidFill>
          <a:ln w="25400">
            <a:solidFill>
              <a:srgbClr val="E3C682"/>
            </a:solidFill>
            <a:prstDash val="solid"/>
          </a:ln>
        </p:spPr>
      </p:sp>
      <p:sp>
        <p:nvSpPr>
          <p:cNvPr id="16" name="Text 14"/>
          <p:cNvSpPr/>
          <p:nvPr/>
        </p:nvSpPr>
        <p:spPr>
          <a:xfrm>
            <a:off x="6334963"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Arial" pitchFamily="34" charset="0"/>
                <a:ea typeface="Arial" pitchFamily="34" charset="-122"/>
                <a:cs typeface="Arial" pitchFamily="34" charset="-120"/>
              </a:rPr>
              <a:t>2020-25</a:t>
            </a:r>
            <a:endParaRPr lang="en-US" sz="1500" dirty="0"/>
          </a:p>
        </p:txBody>
      </p:sp>
      <p:sp>
        <p:nvSpPr>
          <p:cNvPr id="17" name="Text 15"/>
          <p:cNvSpPr/>
          <p:nvPr/>
        </p:nvSpPr>
        <p:spPr>
          <a:xfrm>
            <a:off x="6243523" y="2971800"/>
            <a:ext cx="1737360" cy="457200"/>
          </a:xfrm>
          <a:prstGeom prst="rect">
            <a:avLst/>
          </a:prstGeom>
          <a:noFill/>
          <a:ln/>
        </p:spPr>
        <p:txBody>
          <a:bodyPr wrap="square" rtlCol="0" anchor="ctr"/>
          <a:lstStyle/>
          <a:p>
            <a:pPr rtl="1" algn="ctr" indent="0" marL="0">
              <a:buNone/>
            </a:pPr>
            <a:r>
              <a:rPr lang="en-US" sz="1100" dirty="0">
                <a:solidFill>
                  <a:srgbClr val="9FB0C8"/>
                </a:solidFill>
                <a:latin typeface="Arial" pitchFamily="34" charset="0"/>
                <a:ea typeface="Arial" pitchFamily="34" charset="-122"/>
                <a:cs typeface="Arial" pitchFamily="34" charset="-120"/>
              </a:rPr>
              <a:t>السبات الطويل</a:t>
            </a:r>
            <a:endParaRPr lang="en-US" sz="1100" dirty="0"/>
          </a:p>
        </p:txBody>
      </p:sp>
      <p:sp>
        <p:nvSpPr>
          <p:cNvPr id="18" name="Shape 16"/>
          <p:cNvSpPr/>
          <p:nvPr/>
        </p:nvSpPr>
        <p:spPr>
          <a:xfrm>
            <a:off x="4957877" y="2350008"/>
            <a:ext cx="237744" cy="237744"/>
          </a:xfrm>
          <a:prstGeom prst="ellipse">
            <a:avLst/>
          </a:prstGeom>
          <a:solidFill>
            <a:srgbClr val="C8A24A"/>
          </a:solidFill>
          <a:ln w="25400">
            <a:solidFill>
              <a:srgbClr val="E3C682"/>
            </a:solidFill>
            <a:prstDash val="solid"/>
          </a:ln>
        </p:spPr>
      </p:sp>
      <p:sp>
        <p:nvSpPr>
          <p:cNvPr id="19" name="Text 17"/>
          <p:cNvSpPr/>
          <p:nvPr/>
        </p:nvSpPr>
        <p:spPr>
          <a:xfrm>
            <a:off x="4299509"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Arial" pitchFamily="34" charset="0"/>
                <a:ea typeface="Arial" pitchFamily="34" charset="-122"/>
                <a:cs typeface="Arial" pitchFamily="34" charset="-120"/>
              </a:rPr>
              <a:t>Nov 2025</a:t>
            </a:r>
            <a:endParaRPr lang="en-US" sz="1500" dirty="0"/>
          </a:p>
        </p:txBody>
      </p:sp>
      <p:sp>
        <p:nvSpPr>
          <p:cNvPr id="20" name="Text 18"/>
          <p:cNvSpPr/>
          <p:nvPr/>
        </p:nvSpPr>
        <p:spPr>
          <a:xfrm>
            <a:off x="4208069" y="2971800"/>
            <a:ext cx="1737360" cy="457200"/>
          </a:xfrm>
          <a:prstGeom prst="rect">
            <a:avLst/>
          </a:prstGeom>
          <a:noFill/>
          <a:ln/>
        </p:spPr>
        <p:txBody>
          <a:bodyPr wrap="square" rtlCol="0" anchor="ctr"/>
          <a:lstStyle/>
          <a:p>
            <a:pPr rtl="1" algn="ctr" indent="0" marL="0">
              <a:buNone/>
            </a:pPr>
            <a:r>
              <a:rPr lang="en-US" sz="1100" dirty="0">
                <a:solidFill>
                  <a:srgbClr val="9FB0C8"/>
                </a:solidFill>
                <a:latin typeface="Arial" pitchFamily="34" charset="0"/>
                <a:ea typeface="Arial" pitchFamily="34" charset="-122"/>
                <a:cs typeface="Arial" pitchFamily="34" charset="-120"/>
              </a:rPr>
              <a:t>اللائحة</a:t>
            </a:r>
            <a:endParaRPr lang="en-US" sz="1100" dirty="0"/>
          </a:p>
        </p:txBody>
      </p:sp>
      <p:sp>
        <p:nvSpPr>
          <p:cNvPr id="21" name="Shape 19"/>
          <p:cNvSpPr/>
          <p:nvPr/>
        </p:nvSpPr>
        <p:spPr>
          <a:xfrm>
            <a:off x="2922422" y="2350008"/>
            <a:ext cx="237744" cy="237744"/>
          </a:xfrm>
          <a:prstGeom prst="ellipse">
            <a:avLst/>
          </a:prstGeom>
          <a:solidFill>
            <a:srgbClr val="C8102E"/>
          </a:solidFill>
          <a:ln w="25400">
            <a:solidFill>
              <a:srgbClr val="E23A52"/>
            </a:solidFill>
            <a:prstDash val="solid"/>
          </a:ln>
        </p:spPr>
      </p:sp>
      <p:sp>
        <p:nvSpPr>
          <p:cNvPr id="22" name="Text 20"/>
          <p:cNvSpPr/>
          <p:nvPr/>
        </p:nvSpPr>
        <p:spPr>
          <a:xfrm>
            <a:off x="2264054" y="2651760"/>
            <a:ext cx="1554480" cy="320040"/>
          </a:xfrm>
          <a:prstGeom prst="rect">
            <a:avLst/>
          </a:prstGeom>
          <a:noFill/>
          <a:ln/>
        </p:spPr>
        <p:txBody>
          <a:bodyPr wrap="square" rtlCol="0" anchor="ctr"/>
          <a:lstStyle/>
          <a:p>
            <a:pPr algn="ctr" indent="0" marL="0">
              <a:buNone/>
            </a:pPr>
            <a:r>
              <a:rPr lang="en-US" sz="1500" b="1" dirty="0">
                <a:solidFill>
                  <a:srgbClr val="E23A52"/>
                </a:solidFill>
                <a:latin typeface="Arial" pitchFamily="34" charset="0"/>
                <a:ea typeface="Arial" pitchFamily="34" charset="-122"/>
                <a:cs typeface="Arial" pitchFamily="34" charset="-120"/>
              </a:rPr>
              <a:t>Jun 2026</a:t>
            </a:r>
            <a:endParaRPr lang="en-US" sz="1500" dirty="0"/>
          </a:p>
        </p:txBody>
      </p:sp>
      <p:sp>
        <p:nvSpPr>
          <p:cNvPr id="23" name="Text 21"/>
          <p:cNvSpPr/>
          <p:nvPr/>
        </p:nvSpPr>
        <p:spPr>
          <a:xfrm>
            <a:off x="2172614" y="2971800"/>
            <a:ext cx="1737360" cy="457200"/>
          </a:xfrm>
          <a:prstGeom prst="rect">
            <a:avLst/>
          </a:prstGeom>
          <a:noFill/>
          <a:ln/>
        </p:spPr>
        <p:txBody>
          <a:bodyPr wrap="square" rtlCol="0" anchor="ctr"/>
          <a:lstStyle/>
          <a:p>
            <a:pPr rtl="1" algn="ctr" indent="0" marL="0">
              <a:buNone/>
            </a:pPr>
            <a:r>
              <a:rPr lang="en-US" sz="1100" dirty="0">
                <a:solidFill>
                  <a:srgbClr val="9FB0C8"/>
                </a:solidFill>
                <a:latin typeface="Arial" pitchFamily="34" charset="0"/>
                <a:ea typeface="Arial" pitchFamily="34" charset="-122"/>
                <a:cs typeface="Arial" pitchFamily="34" charset="-120"/>
              </a:rPr>
              <a:t>نحن هنا</a:t>
            </a:r>
            <a:endParaRPr lang="en-US" sz="1100" dirty="0"/>
          </a:p>
        </p:txBody>
      </p:sp>
      <p:sp>
        <p:nvSpPr>
          <p:cNvPr id="24" name="Shape 22"/>
          <p:cNvSpPr/>
          <p:nvPr/>
        </p:nvSpPr>
        <p:spPr>
          <a:xfrm>
            <a:off x="886968" y="2350008"/>
            <a:ext cx="237744" cy="237744"/>
          </a:xfrm>
          <a:prstGeom prst="ellipse">
            <a:avLst/>
          </a:prstGeom>
          <a:solidFill>
            <a:srgbClr val="C8A24A"/>
          </a:solidFill>
          <a:ln w="25400">
            <a:solidFill>
              <a:srgbClr val="E3C682"/>
            </a:solidFill>
            <a:prstDash val="solid"/>
          </a:ln>
        </p:spPr>
      </p:sp>
      <p:sp>
        <p:nvSpPr>
          <p:cNvPr id="25" name="Text 23"/>
          <p:cNvSpPr/>
          <p:nvPr/>
        </p:nvSpPr>
        <p:spPr>
          <a:xfrm>
            <a:off x="228600" y="2651760"/>
            <a:ext cx="1554480" cy="320040"/>
          </a:xfrm>
          <a:prstGeom prst="rect">
            <a:avLst/>
          </a:prstGeom>
          <a:noFill/>
          <a:ln/>
        </p:spPr>
        <p:txBody>
          <a:bodyPr wrap="square" rtlCol="0" anchor="ctr"/>
          <a:lstStyle/>
          <a:p>
            <a:pPr algn="ctr" indent="0" marL="0">
              <a:buNone/>
            </a:pPr>
            <a:r>
              <a:rPr lang="en-US" sz="1500" b="1" dirty="0">
                <a:solidFill>
                  <a:srgbClr val="E3C682"/>
                </a:solidFill>
                <a:latin typeface="Arial" pitchFamily="34" charset="0"/>
                <a:ea typeface="Arial" pitchFamily="34" charset="-122"/>
                <a:cs typeface="Arial" pitchFamily="34" charset="-120"/>
              </a:rPr>
              <a:t>Nov 2026</a:t>
            </a:r>
            <a:endParaRPr lang="en-US" sz="1500" dirty="0"/>
          </a:p>
        </p:txBody>
      </p:sp>
      <p:sp>
        <p:nvSpPr>
          <p:cNvPr id="26" name="Text 24"/>
          <p:cNvSpPr/>
          <p:nvPr/>
        </p:nvSpPr>
        <p:spPr>
          <a:xfrm>
            <a:off x="137160" y="2971800"/>
            <a:ext cx="1737360" cy="457200"/>
          </a:xfrm>
          <a:prstGeom prst="rect">
            <a:avLst/>
          </a:prstGeom>
          <a:noFill/>
          <a:ln/>
        </p:spPr>
        <p:txBody>
          <a:bodyPr wrap="square" rtlCol="0" anchor="ctr"/>
          <a:lstStyle/>
          <a:p>
            <a:pPr rtl="1" algn="ctr" indent="0" marL="0">
              <a:buNone/>
            </a:pPr>
            <a:r>
              <a:rPr lang="en-US" sz="1100" dirty="0">
                <a:solidFill>
                  <a:srgbClr val="9FB0C8"/>
                </a:solidFill>
                <a:latin typeface="Arial" pitchFamily="34" charset="0"/>
                <a:ea typeface="Arial" pitchFamily="34" charset="-122"/>
                <a:cs typeface="Arial" pitchFamily="34" charset="-120"/>
              </a:rPr>
              <a:t>التطبيق</a:t>
            </a:r>
            <a:endParaRPr lang="en-US" sz="1100" dirty="0"/>
          </a:p>
        </p:txBody>
      </p:sp>
      <p:sp>
        <p:nvSpPr>
          <p:cNvPr id="27" name="Shape 25"/>
          <p:cNvSpPr/>
          <p:nvPr/>
        </p:nvSpPr>
        <p:spPr>
          <a:xfrm>
            <a:off x="640080" y="4023360"/>
            <a:ext cx="10908792" cy="1463040"/>
          </a:xfrm>
          <a:prstGeom prst="roundRect">
            <a:avLst>
              <a:gd name="adj" fmla="val 6250"/>
            </a:avLst>
          </a:prstGeom>
          <a:solidFill>
            <a:srgbClr val="172C4C"/>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8" name="Text 26"/>
          <p:cNvSpPr/>
          <p:nvPr/>
        </p:nvSpPr>
        <p:spPr>
          <a:xfrm>
            <a:off x="914400" y="4206240"/>
            <a:ext cx="10360152" cy="457200"/>
          </a:xfrm>
          <a:prstGeom prst="rect">
            <a:avLst/>
          </a:prstGeom>
          <a:noFill/>
          <a:ln/>
        </p:spPr>
        <p:txBody>
          <a:bodyPr wrap="square" rtlCol="0" anchor="ctr"/>
          <a:lstStyle/>
          <a:p>
            <a:pPr rtl="1" algn="r" indent="0" marL="0">
              <a:buNone/>
            </a:pPr>
            <a:r>
              <a:rPr lang="en-US" sz="2100" dirty="0">
                <a:solidFill>
                  <a:srgbClr val="FFFFFF"/>
                </a:solidFill>
                <a:latin typeface="Arial" pitchFamily="34" charset="0"/>
                <a:ea typeface="Arial" pitchFamily="34" charset="-122"/>
                <a:cs typeface="Arial" pitchFamily="34" charset="-120"/>
              </a:rPr>
              <a:t>نوفمبر 2025, وصول كتيّب القواعد</a:t>
            </a:r>
            <a:endParaRPr lang="en-US" sz="2100" dirty="0"/>
          </a:p>
        </p:txBody>
      </p:sp>
      <p:sp>
        <p:nvSpPr>
          <p:cNvPr id="29" name="Text 27"/>
          <p:cNvSpPr/>
          <p:nvPr/>
        </p:nvSpPr>
        <p:spPr>
          <a:xfrm>
            <a:off x="914400" y="4663440"/>
            <a:ext cx="10360152" cy="731520"/>
          </a:xfrm>
          <a:prstGeom prst="rect">
            <a:avLst/>
          </a:prstGeom>
          <a:noFill/>
          <a:ln/>
        </p:spPr>
        <p:txBody>
          <a:bodyPr wrap="square" rtlCol="0" anchor="t"/>
          <a:lstStyle/>
          <a:p>
            <a:pPr rtl="1" algn="r" indent="0" marL="0">
              <a:buNone/>
            </a:pPr>
            <a:r>
              <a:rPr lang="en-US" sz="1350" dirty="0">
                <a:solidFill>
                  <a:srgbClr val="D9E0EC"/>
                </a:solidFill>
                <a:latin typeface="Arial" pitchFamily="34" charset="0"/>
                <a:ea typeface="Arial" pitchFamily="34" charset="-122"/>
                <a:cs typeface="Arial" pitchFamily="34" charset="-120"/>
              </a:rPr>
              <a:t>أصدر قرار رئيس الوزراء رقم 816 (1 نوفمبر 2025) اللائحة التنفيذية، سارية في 2 نوفمبر 2025. وبعد خمس سنوات من السبات، أصبح القانون قابلًا للتطبيق، وبدأت مهلة امتثال لمدة عام حتى ~نوفمبر 2026.</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الأساسيات</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القانون في لمحة</a:t>
            </a:r>
            <a:endParaRPr lang="en-US" sz="3300" dirty="0"/>
          </a:p>
        </p:txBody>
      </p:sp>
      <p:sp>
        <p:nvSpPr>
          <p:cNvPr id="8" name="Shape 6"/>
          <p:cNvSpPr/>
          <p:nvPr/>
        </p:nvSpPr>
        <p:spPr>
          <a:xfrm>
            <a:off x="9027414"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027414"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Arial" pitchFamily="34" charset="0"/>
                <a:ea typeface="Arial" pitchFamily="34" charset="-122"/>
                <a:cs typeface="Arial" pitchFamily="34" charset="-120"/>
              </a:rPr>
              <a:t>2020</a:t>
            </a:r>
            <a:endParaRPr lang="en-US" sz="3000" dirty="0"/>
          </a:p>
        </p:txBody>
      </p:sp>
      <p:sp>
        <p:nvSpPr>
          <p:cNvPr id="10" name="Text 8"/>
          <p:cNvSpPr/>
          <p:nvPr/>
        </p:nvSpPr>
        <p:spPr>
          <a:xfrm>
            <a:off x="9027414" y="3246120"/>
            <a:ext cx="2521458" cy="320040"/>
          </a:xfrm>
          <a:prstGeom prst="rect">
            <a:avLst/>
          </a:prstGeom>
          <a:noFill/>
          <a:ln/>
        </p:spPr>
        <p:txBody>
          <a:bodyPr wrap="square"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صدوره</a:t>
            </a:r>
            <a:endParaRPr lang="en-US" sz="1300" dirty="0"/>
          </a:p>
        </p:txBody>
      </p:sp>
      <p:sp>
        <p:nvSpPr>
          <p:cNvPr id="11" name="Text 9"/>
          <p:cNvSpPr/>
          <p:nvPr/>
        </p:nvSpPr>
        <p:spPr>
          <a:xfrm>
            <a:off x="9137142" y="3566160"/>
            <a:ext cx="2302002" cy="1188720"/>
          </a:xfrm>
          <a:prstGeom prst="rect">
            <a:avLst/>
          </a:prstGeom>
          <a:noFill/>
          <a:ln/>
        </p:spPr>
        <p:txBody>
          <a:bodyPr wrap="square" rtlCol="0" anchor="t"/>
          <a:lstStyle/>
          <a:p>
            <a:pPr rtl="1" algn="ctr" indent="0" marL="0">
              <a:buNone/>
            </a:pPr>
            <a:r>
              <a:rPr lang="en-US" sz="1050" dirty="0">
                <a:solidFill>
                  <a:srgbClr val="9FB0C8"/>
                </a:solidFill>
                <a:latin typeface="Arial" pitchFamily="34" charset="0"/>
                <a:ea typeface="Arial" pitchFamily="34" charset="-122"/>
                <a:cs typeface="Arial" pitchFamily="34" charset="-120"/>
              </a:rPr>
              <a:t>13 يوليو؛ ساري 14 أكتوبر 2020</a:t>
            </a:r>
            <a:endParaRPr lang="en-US" sz="1050" dirty="0"/>
          </a:p>
        </p:txBody>
      </p:sp>
      <p:sp>
        <p:nvSpPr>
          <p:cNvPr id="12" name="Shape 10"/>
          <p:cNvSpPr/>
          <p:nvPr/>
        </p:nvSpPr>
        <p:spPr>
          <a:xfrm>
            <a:off x="6231636"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3" name="Text 11"/>
          <p:cNvSpPr/>
          <p:nvPr/>
        </p:nvSpPr>
        <p:spPr>
          <a:xfrm>
            <a:off x="6231636"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Arial" pitchFamily="34" charset="0"/>
                <a:ea typeface="Arial" pitchFamily="34" charset="-122"/>
                <a:cs typeface="Arial" pitchFamily="34" charset="-120"/>
              </a:rPr>
              <a:t>الأول</a:t>
            </a:r>
            <a:endParaRPr lang="en-US" sz="3000" dirty="0"/>
          </a:p>
        </p:txBody>
      </p:sp>
      <p:sp>
        <p:nvSpPr>
          <p:cNvPr id="14" name="Text 12"/>
          <p:cNvSpPr/>
          <p:nvPr/>
        </p:nvSpPr>
        <p:spPr>
          <a:xfrm>
            <a:off x="6231636" y="3246120"/>
            <a:ext cx="2521458" cy="320040"/>
          </a:xfrm>
          <a:prstGeom prst="rect">
            <a:avLst/>
          </a:prstGeom>
          <a:noFill/>
          <a:ln/>
        </p:spPr>
        <p:txBody>
          <a:bodyPr wrap="square"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قانون شامل</a:t>
            </a:r>
            <a:endParaRPr lang="en-US" sz="1300" dirty="0"/>
          </a:p>
        </p:txBody>
      </p:sp>
      <p:sp>
        <p:nvSpPr>
          <p:cNvPr id="15" name="Text 13"/>
          <p:cNvSpPr/>
          <p:nvPr/>
        </p:nvSpPr>
        <p:spPr>
          <a:xfrm>
            <a:off x="6341364" y="3566160"/>
            <a:ext cx="2302002" cy="1188720"/>
          </a:xfrm>
          <a:prstGeom prst="rect">
            <a:avLst/>
          </a:prstGeom>
          <a:noFill/>
          <a:ln/>
        </p:spPr>
        <p:txBody>
          <a:bodyPr wrap="square" rtlCol="0" anchor="t"/>
          <a:lstStyle/>
          <a:p>
            <a:pPr rtl="1" algn="ctr" indent="0" marL="0">
              <a:buNone/>
            </a:pPr>
            <a:r>
              <a:rPr lang="en-US" sz="1050" dirty="0">
                <a:solidFill>
                  <a:srgbClr val="9FB0C8"/>
                </a:solidFill>
                <a:latin typeface="Arial" pitchFamily="34" charset="0"/>
                <a:ea typeface="Arial" pitchFamily="34" charset="-122"/>
                <a:cs typeface="Arial" pitchFamily="34" charset="-120"/>
              </a:rPr>
              <a:t>أول قانون مصري للبيانات</a:t>
            </a:r>
            <a:endParaRPr lang="en-US" sz="1050" dirty="0"/>
          </a:p>
        </p:txBody>
      </p:sp>
      <p:sp>
        <p:nvSpPr>
          <p:cNvPr id="16" name="Shape 14"/>
          <p:cNvSpPr/>
          <p:nvPr/>
        </p:nvSpPr>
        <p:spPr>
          <a:xfrm>
            <a:off x="3435858"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7" name="Text 15"/>
          <p:cNvSpPr/>
          <p:nvPr/>
        </p:nvSpPr>
        <p:spPr>
          <a:xfrm>
            <a:off x="3435858"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Arial" pitchFamily="34" charset="0"/>
                <a:ea typeface="Arial" pitchFamily="34" charset="-122"/>
                <a:cs typeface="Arial" pitchFamily="34" charset="-120"/>
              </a:rPr>
              <a:t>PDPC</a:t>
            </a:r>
            <a:endParaRPr lang="en-US" sz="3000" dirty="0"/>
          </a:p>
        </p:txBody>
      </p:sp>
      <p:sp>
        <p:nvSpPr>
          <p:cNvPr id="18" name="Text 16"/>
          <p:cNvSpPr/>
          <p:nvPr/>
        </p:nvSpPr>
        <p:spPr>
          <a:xfrm>
            <a:off x="3435858" y="3246120"/>
            <a:ext cx="2521458" cy="320040"/>
          </a:xfrm>
          <a:prstGeom prst="rect">
            <a:avLst/>
          </a:prstGeom>
          <a:noFill/>
          <a:ln/>
        </p:spPr>
        <p:txBody>
          <a:bodyPr wrap="square"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الجهة المنظِّمة</a:t>
            </a:r>
            <a:endParaRPr lang="en-US" sz="1300" dirty="0"/>
          </a:p>
        </p:txBody>
      </p:sp>
      <p:sp>
        <p:nvSpPr>
          <p:cNvPr id="19" name="Text 17"/>
          <p:cNvSpPr/>
          <p:nvPr/>
        </p:nvSpPr>
        <p:spPr>
          <a:xfrm>
            <a:off x="3545586" y="3566160"/>
            <a:ext cx="2302002" cy="1188720"/>
          </a:xfrm>
          <a:prstGeom prst="rect">
            <a:avLst/>
          </a:prstGeom>
          <a:noFill/>
          <a:ln/>
        </p:spPr>
        <p:txBody>
          <a:bodyPr wrap="square" rtlCol="0" anchor="t"/>
          <a:lstStyle/>
          <a:p>
            <a:pPr rtl="1" algn="ctr" indent="0" marL="0">
              <a:buNone/>
            </a:pPr>
            <a:r>
              <a:rPr lang="en-US" sz="1050" dirty="0">
                <a:solidFill>
                  <a:srgbClr val="9FB0C8"/>
                </a:solidFill>
                <a:latin typeface="Arial" pitchFamily="34" charset="0"/>
                <a:ea typeface="Arial" pitchFamily="34" charset="-122"/>
                <a:cs typeface="Arial" pitchFamily="34" charset="-120"/>
              </a:rPr>
              <a:t>مركز حماية البيانات، تحت وزارة الاتصالات</a:t>
            </a:r>
            <a:endParaRPr lang="en-US" sz="1050" dirty="0"/>
          </a:p>
        </p:txBody>
      </p:sp>
      <p:sp>
        <p:nvSpPr>
          <p:cNvPr id="20" name="Shape 18"/>
          <p:cNvSpPr/>
          <p:nvPr/>
        </p:nvSpPr>
        <p:spPr>
          <a:xfrm>
            <a:off x="640080" y="2377440"/>
            <a:ext cx="2521458" cy="2468880"/>
          </a:xfrm>
          <a:prstGeom prst="roundRect">
            <a:avLst>
              <a:gd name="adj" fmla="val 370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640080" y="2606040"/>
            <a:ext cx="2521458" cy="640080"/>
          </a:xfrm>
          <a:prstGeom prst="rect">
            <a:avLst/>
          </a:prstGeom>
          <a:noFill/>
          <a:ln/>
        </p:spPr>
        <p:txBody>
          <a:bodyPr wrap="square" rtlCol="0" anchor="ctr"/>
          <a:lstStyle/>
          <a:p>
            <a:pPr algn="ctr" indent="0" marL="0">
              <a:buNone/>
            </a:pPr>
            <a:r>
              <a:rPr lang="en-US" sz="3000" b="1" dirty="0">
                <a:solidFill>
                  <a:srgbClr val="E3C682"/>
                </a:solidFill>
                <a:latin typeface="Arial" pitchFamily="34" charset="0"/>
                <a:ea typeface="Arial" pitchFamily="34" charset="-122"/>
                <a:cs typeface="Arial" pitchFamily="34" charset="-120"/>
              </a:rPr>
              <a:t>5 مليون</a:t>
            </a:r>
            <a:endParaRPr lang="en-US" sz="3000" dirty="0"/>
          </a:p>
        </p:txBody>
      </p:sp>
      <p:sp>
        <p:nvSpPr>
          <p:cNvPr id="22" name="Text 20"/>
          <p:cNvSpPr/>
          <p:nvPr/>
        </p:nvSpPr>
        <p:spPr>
          <a:xfrm>
            <a:off x="640080" y="3246120"/>
            <a:ext cx="2521458" cy="320040"/>
          </a:xfrm>
          <a:prstGeom prst="rect">
            <a:avLst/>
          </a:prstGeom>
          <a:noFill/>
          <a:ln/>
        </p:spPr>
        <p:txBody>
          <a:bodyPr wrap="square"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أقصى غرامة</a:t>
            </a:r>
            <a:endParaRPr lang="en-US" sz="1300" dirty="0"/>
          </a:p>
        </p:txBody>
      </p:sp>
      <p:sp>
        <p:nvSpPr>
          <p:cNvPr id="23" name="Text 21"/>
          <p:cNvSpPr/>
          <p:nvPr/>
        </p:nvSpPr>
        <p:spPr>
          <a:xfrm>
            <a:off x="749808" y="3566160"/>
            <a:ext cx="2302002" cy="1188720"/>
          </a:xfrm>
          <a:prstGeom prst="rect">
            <a:avLst/>
          </a:prstGeom>
          <a:noFill/>
          <a:ln/>
        </p:spPr>
        <p:txBody>
          <a:bodyPr wrap="square" rtlCol="0" anchor="t"/>
          <a:lstStyle/>
          <a:p>
            <a:pPr rtl="1" algn="ctr" indent="0" marL="0">
              <a:buNone/>
            </a:pPr>
            <a:r>
              <a:rPr lang="en-US" sz="1050" dirty="0">
                <a:solidFill>
                  <a:srgbClr val="9FB0C8"/>
                </a:solidFill>
                <a:latin typeface="Arial" pitchFamily="34" charset="0"/>
                <a:ea typeface="Arial" pitchFamily="34" charset="-122"/>
                <a:cs typeface="Arial" pitchFamily="34" charset="-120"/>
              </a:rPr>
              <a:t>إضافةً إلى احتمال الحبس</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افهم المصطلحات</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خمس كلمات تفتح القانون كله</a:t>
            </a:r>
            <a:endParaRPr lang="en-US" sz="3300" dirty="0"/>
          </a:p>
        </p:txBody>
      </p:sp>
      <p:sp>
        <p:nvSpPr>
          <p:cNvPr id="8" name="Shape 6"/>
          <p:cNvSpPr/>
          <p:nvPr/>
        </p:nvSpPr>
        <p:spPr>
          <a:xfrm>
            <a:off x="8095488" y="237744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296656" y="2542032"/>
            <a:ext cx="3051048" cy="457200"/>
          </a:xfrm>
          <a:prstGeom prst="rect">
            <a:avLst/>
          </a:prstGeom>
          <a:noFill/>
          <a:ln/>
        </p:spPr>
        <p:txBody>
          <a:bodyPr wrap="square" rtlCol="0" anchor="t"/>
          <a:lstStyle/>
          <a:p>
            <a:pPr rtl="1" algn="r" indent="0" marL="0">
              <a:buNone/>
            </a:pPr>
            <a:r>
              <a:rPr lang="en-US" sz="1700" dirty="0">
                <a:solidFill>
                  <a:srgbClr val="FFFFFF"/>
                </a:solidFill>
                <a:latin typeface="Arial" pitchFamily="34" charset="0"/>
                <a:ea typeface="Arial" pitchFamily="34" charset="-122"/>
                <a:cs typeface="Arial" pitchFamily="34" charset="-120"/>
              </a:rPr>
              <a:t>البيانات الشخصية</a:t>
            </a:r>
            <a:endParaRPr lang="en-US" sz="1700" dirty="0"/>
          </a:p>
        </p:txBody>
      </p:sp>
      <p:sp>
        <p:nvSpPr>
          <p:cNvPr id="10" name="Text 8"/>
          <p:cNvSpPr/>
          <p:nvPr/>
        </p:nvSpPr>
        <p:spPr>
          <a:xfrm>
            <a:off x="8296656" y="3054096"/>
            <a:ext cx="3051048" cy="923544"/>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أي معلومة تدلّ على شخص بعينه: الاسم، الرقم القومي، الهاتف، الموقع، حتى المعرّف الإلكتروني.</a:t>
            </a:r>
            <a:endParaRPr lang="en-US" sz="1250" dirty="0"/>
          </a:p>
        </p:txBody>
      </p:sp>
      <p:sp>
        <p:nvSpPr>
          <p:cNvPr id="11" name="Shape 9"/>
          <p:cNvSpPr/>
          <p:nvPr/>
        </p:nvSpPr>
        <p:spPr>
          <a:xfrm>
            <a:off x="4367784" y="237744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8952" y="2542032"/>
            <a:ext cx="3051048" cy="457200"/>
          </a:xfrm>
          <a:prstGeom prst="rect">
            <a:avLst/>
          </a:prstGeom>
          <a:noFill/>
          <a:ln/>
        </p:spPr>
        <p:txBody>
          <a:bodyPr wrap="square" rtlCol="0" anchor="t"/>
          <a:lstStyle/>
          <a:p>
            <a:pPr rtl="1" algn="r" indent="0" marL="0">
              <a:buNone/>
            </a:pPr>
            <a:r>
              <a:rPr lang="en-US" sz="1700" dirty="0">
                <a:solidFill>
                  <a:srgbClr val="FFFFFF"/>
                </a:solidFill>
                <a:latin typeface="Arial" pitchFamily="34" charset="0"/>
                <a:ea typeface="Arial" pitchFamily="34" charset="-122"/>
                <a:cs typeface="Arial" pitchFamily="34" charset="-120"/>
              </a:rPr>
              <a:t>البيانات الحسّاسة</a:t>
            </a:r>
            <a:endParaRPr lang="en-US" sz="1700" dirty="0"/>
          </a:p>
        </p:txBody>
      </p:sp>
      <p:sp>
        <p:nvSpPr>
          <p:cNvPr id="13" name="Text 11"/>
          <p:cNvSpPr/>
          <p:nvPr/>
        </p:nvSpPr>
        <p:spPr>
          <a:xfrm>
            <a:off x="4568952" y="3054096"/>
            <a:ext cx="3051048" cy="923544"/>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بيانات بالغة الخصوصية: الصحة، الجينات، السمات الحيوية، المال، الدين، السياسة، الأطفال.</a:t>
            </a:r>
            <a:endParaRPr lang="en-US" sz="1250" dirty="0"/>
          </a:p>
        </p:txBody>
      </p:sp>
      <p:sp>
        <p:nvSpPr>
          <p:cNvPr id="14" name="Shape 12"/>
          <p:cNvSpPr/>
          <p:nvPr/>
        </p:nvSpPr>
        <p:spPr>
          <a:xfrm>
            <a:off x="640080" y="237744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41248" y="2542032"/>
            <a:ext cx="3051048" cy="457200"/>
          </a:xfrm>
          <a:prstGeom prst="rect">
            <a:avLst/>
          </a:prstGeom>
          <a:noFill/>
          <a:ln/>
        </p:spPr>
        <p:txBody>
          <a:bodyPr wrap="square" rtlCol="0" anchor="t"/>
          <a:lstStyle/>
          <a:p>
            <a:pPr rtl="1" algn="r" indent="0" marL="0">
              <a:buNone/>
            </a:pPr>
            <a:r>
              <a:rPr lang="en-US" sz="1700" dirty="0">
                <a:solidFill>
                  <a:srgbClr val="FFFFFF"/>
                </a:solidFill>
                <a:latin typeface="Arial" pitchFamily="34" charset="0"/>
                <a:ea typeface="Arial" pitchFamily="34" charset="-122"/>
                <a:cs typeface="Arial" pitchFamily="34" charset="-120"/>
              </a:rPr>
              <a:t>المتحكّم في البيانات</a:t>
            </a:r>
            <a:endParaRPr lang="en-US" sz="1700" dirty="0"/>
          </a:p>
        </p:txBody>
      </p:sp>
      <p:sp>
        <p:nvSpPr>
          <p:cNvPr id="16" name="Text 14"/>
          <p:cNvSpPr/>
          <p:nvPr/>
        </p:nvSpPr>
        <p:spPr>
          <a:xfrm>
            <a:off x="841248" y="3054096"/>
            <a:ext cx="3051048" cy="923544"/>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صاحب القرار في البيانات: من يقرّر لماذا وكيف تُستخدم البيانات.</a:t>
            </a:r>
            <a:endParaRPr lang="en-US" sz="1250" dirty="0"/>
          </a:p>
        </p:txBody>
      </p:sp>
      <p:sp>
        <p:nvSpPr>
          <p:cNvPr id="17" name="Shape 15"/>
          <p:cNvSpPr/>
          <p:nvPr/>
        </p:nvSpPr>
        <p:spPr>
          <a:xfrm>
            <a:off x="8095488" y="434340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296656" y="4507992"/>
            <a:ext cx="3051048" cy="411480"/>
          </a:xfrm>
          <a:prstGeom prst="rect">
            <a:avLst/>
          </a:prstGeom>
          <a:noFill/>
          <a:ln/>
        </p:spPr>
        <p:txBody>
          <a:bodyPr wrap="square" rtlCol="0" anchor="ctr"/>
          <a:lstStyle/>
          <a:p>
            <a:pPr rtl="1" algn="r" indent="0" marL="0">
              <a:buNone/>
            </a:pPr>
            <a:r>
              <a:rPr lang="en-US" sz="1700" dirty="0">
                <a:solidFill>
                  <a:srgbClr val="FFFFFF"/>
                </a:solidFill>
                <a:latin typeface="Arial" pitchFamily="34" charset="0"/>
                <a:ea typeface="Arial" pitchFamily="34" charset="-122"/>
                <a:cs typeface="Arial" pitchFamily="34" charset="-120"/>
              </a:rPr>
              <a:t>المعالِج للبيانات</a:t>
            </a:r>
            <a:endParaRPr lang="en-US" sz="1700" dirty="0"/>
          </a:p>
        </p:txBody>
      </p:sp>
      <p:sp>
        <p:nvSpPr>
          <p:cNvPr id="19" name="Text 17"/>
          <p:cNvSpPr/>
          <p:nvPr/>
        </p:nvSpPr>
        <p:spPr>
          <a:xfrm>
            <a:off x="8296656" y="4892040"/>
            <a:ext cx="3051048" cy="1051560"/>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جهة تتعامل مع البيانات نيابةً عن المتحكّم (مثل مزوّد سحابي).</a:t>
            </a:r>
            <a:endParaRPr lang="en-US" sz="1250" dirty="0"/>
          </a:p>
        </p:txBody>
      </p:sp>
      <p:sp>
        <p:nvSpPr>
          <p:cNvPr id="20" name="Shape 18"/>
          <p:cNvSpPr/>
          <p:nvPr/>
        </p:nvSpPr>
        <p:spPr>
          <a:xfrm>
            <a:off x="4367784" y="4343400"/>
            <a:ext cx="3453384" cy="1691640"/>
          </a:xfrm>
          <a:prstGeom prst="roundRect">
            <a:avLst>
              <a:gd name="adj" fmla="val 4865"/>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4568952" y="4507992"/>
            <a:ext cx="3051048" cy="411480"/>
          </a:xfrm>
          <a:prstGeom prst="rect">
            <a:avLst/>
          </a:prstGeom>
          <a:noFill/>
          <a:ln/>
        </p:spPr>
        <p:txBody>
          <a:bodyPr wrap="square" rtlCol="0" anchor="ctr"/>
          <a:lstStyle/>
          <a:p>
            <a:pPr rtl="1" algn="r" indent="0" marL="0">
              <a:buNone/>
            </a:pPr>
            <a:r>
              <a:rPr lang="en-US" sz="1700" dirty="0">
                <a:solidFill>
                  <a:srgbClr val="FFFFFF"/>
                </a:solidFill>
                <a:latin typeface="Arial" pitchFamily="34" charset="0"/>
                <a:ea typeface="Arial" pitchFamily="34" charset="-122"/>
                <a:cs typeface="Arial" pitchFamily="34" charset="-120"/>
              </a:rPr>
              <a:t>الموافقة</a:t>
            </a:r>
            <a:endParaRPr lang="en-US" sz="1700" dirty="0"/>
          </a:p>
        </p:txBody>
      </p:sp>
      <p:sp>
        <p:nvSpPr>
          <p:cNvPr id="22" name="Text 20"/>
          <p:cNvSpPr/>
          <p:nvPr/>
        </p:nvSpPr>
        <p:spPr>
          <a:xfrm>
            <a:off x="4568952" y="4892040"/>
            <a:ext cx="3051048" cy="1051560"/>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موافقة واضحة ومحدّدة ومستنيرة، تُمنَح بحرية ويسهل سحبها.</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خرافة شائعة نصحّحها</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000" dirty="0">
                <a:solidFill>
                  <a:srgbClr val="FFFFFF"/>
                </a:solidFill>
                <a:latin typeface="Arial" pitchFamily="34" charset="0"/>
                <a:ea typeface="Arial" pitchFamily="34" charset="-122"/>
                <a:cs typeface="Arial" pitchFamily="34" charset="-120"/>
              </a:rPr>
              <a:t>«تحتاج دائمًا إلى موافقة». غير صحيح.</a:t>
            </a:r>
            <a:endParaRPr lang="en-US" sz="3000" dirty="0"/>
          </a:p>
        </p:txBody>
      </p:sp>
      <p:sp>
        <p:nvSpPr>
          <p:cNvPr id="8" name="Text 6"/>
          <p:cNvSpPr/>
          <p:nvPr/>
        </p:nvSpPr>
        <p:spPr>
          <a:xfrm>
            <a:off x="640080" y="1737360"/>
            <a:ext cx="10908792" cy="640080"/>
          </a:xfrm>
          <a:prstGeom prst="rect">
            <a:avLst/>
          </a:prstGeom>
          <a:noFill/>
          <a:ln/>
        </p:spPr>
        <p:txBody>
          <a:bodyPr wrap="square" rtlCol="0" anchor="t"/>
          <a:lstStyle/>
          <a:p>
            <a:pPr rtl="1" algn="r" indent="0" marL="0">
              <a:buNone/>
            </a:pPr>
            <a:r>
              <a:rPr lang="en-US" sz="1500" dirty="0">
                <a:solidFill>
                  <a:srgbClr val="D9E0EC"/>
                </a:solidFill>
                <a:latin typeface="Arial" pitchFamily="34" charset="0"/>
                <a:ea typeface="Arial" pitchFamily="34" charset="-122"/>
                <a:cs typeface="Arial" pitchFamily="34" charset="-120"/>
              </a:rPr>
              <a:t>الموافقة ليست سوى واحدٍ من ستة أسس قانونية للمعالجة (المادة 6):</a:t>
            </a:r>
            <a:endParaRPr lang="en-US" sz="1500" dirty="0"/>
          </a:p>
        </p:txBody>
      </p:sp>
      <p:sp>
        <p:nvSpPr>
          <p:cNvPr id="9" name="Shape 7"/>
          <p:cNvSpPr/>
          <p:nvPr/>
        </p:nvSpPr>
        <p:spPr>
          <a:xfrm>
            <a:off x="8065008" y="2331720"/>
            <a:ext cx="3483864" cy="868680"/>
          </a:xfrm>
          <a:prstGeom prst="roundRect">
            <a:avLst>
              <a:gd name="adj" fmla="val 8421"/>
            </a:avLst>
          </a:prstGeom>
          <a:solidFill>
            <a:srgbClr val="122440"/>
          </a:solidFill>
          <a:ln w="12700">
            <a:solidFill>
              <a:srgbClr val="2C4060"/>
            </a:solidFill>
            <a:prstDash val="solid"/>
          </a:ln>
        </p:spPr>
      </p:sp>
      <p:sp>
        <p:nvSpPr>
          <p:cNvPr id="10" name="Shape 8"/>
          <p:cNvSpPr/>
          <p:nvPr/>
        </p:nvSpPr>
        <p:spPr>
          <a:xfrm>
            <a:off x="10981944" y="2578608"/>
            <a:ext cx="365760" cy="365760"/>
          </a:xfrm>
          <a:prstGeom prst="ellipse">
            <a:avLst/>
          </a:prstGeom>
          <a:solidFill>
            <a:srgbClr val="0E2444"/>
          </a:solidFill>
          <a:ln w="19050">
            <a:solidFill>
              <a:srgbClr val="C8A24A"/>
            </a:solidFill>
            <a:prstDash val="solid"/>
          </a:ln>
        </p:spPr>
      </p:sp>
      <p:sp>
        <p:nvSpPr>
          <p:cNvPr id="11" name="Text 9"/>
          <p:cNvSpPr/>
          <p:nvPr/>
        </p:nvSpPr>
        <p:spPr>
          <a:xfrm>
            <a:off x="10981944" y="2578608"/>
            <a:ext cx="365760" cy="365760"/>
          </a:xfrm>
          <a:prstGeom prst="rect">
            <a:avLst/>
          </a:prstGeom>
          <a:noFill/>
          <a:ln/>
        </p:spPr>
        <p:txBody>
          <a:bodyPr wrap="square" rtlCol="0" anchor="ctr"/>
          <a:lstStyle/>
          <a:p>
            <a:pPr algn="ctr" indent="0" marL="0">
              <a:buNone/>
            </a:pPr>
            <a:r>
              <a:rPr lang="en-US" sz="1400" b="1" dirty="0">
                <a:solidFill>
                  <a:srgbClr val="E3C682"/>
                </a:solidFill>
                <a:latin typeface="Arial" pitchFamily="34" charset="0"/>
                <a:ea typeface="Arial" pitchFamily="34" charset="-122"/>
                <a:cs typeface="Arial" pitchFamily="34" charset="-120"/>
              </a:rPr>
              <a:t>1</a:t>
            </a:r>
            <a:endParaRPr lang="en-US" sz="1400" dirty="0"/>
          </a:p>
        </p:txBody>
      </p:sp>
      <p:sp>
        <p:nvSpPr>
          <p:cNvPr id="12" name="Text 10"/>
          <p:cNvSpPr/>
          <p:nvPr/>
        </p:nvSpPr>
        <p:spPr>
          <a:xfrm>
            <a:off x="8247888" y="2331720"/>
            <a:ext cx="2615184" cy="868680"/>
          </a:xfrm>
          <a:prstGeom prst="rect">
            <a:avLst/>
          </a:prstGeom>
          <a:noFill/>
          <a:ln/>
        </p:spPr>
        <p:txBody>
          <a:bodyPr wrap="square" rtlCol="0" anchor="ctr"/>
          <a:lstStyle/>
          <a:p>
            <a:pPr rtl="1" algn="r" indent="0" marL="0">
              <a:buNone/>
            </a:pPr>
            <a:r>
              <a:rPr lang="en-US" sz="1300" dirty="0">
                <a:solidFill>
                  <a:srgbClr val="F6F1E7"/>
                </a:solidFill>
                <a:latin typeface="Arial" pitchFamily="34" charset="0"/>
                <a:ea typeface="Arial" pitchFamily="34" charset="-122"/>
                <a:cs typeface="Arial" pitchFamily="34" charset="-120"/>
              </a:rPr>
              <a:t>الموافقة الصريحة</a:t>
            </a:r>
            <a:endParaRPr lang="en-US" sz="1300" dirty="0"/>
          </a:p>
        </p:txBody>
      </p:sp>
      <p:sp>
        <p:nvSpPr>
          <p:cNvPr id="13" name="Shape 11"/>
          <p:cNvSpPr/>
          <p:nvPr/>
        </p:nvSpPr>
        <p:spPr>
          <a:xfrm>
            <a:off x="4352544" y="2331720"/>
            <a:ext cx="3483864" cy="868680"/>
          </a:xfrm>
          <a:prstGeom prst="roundRect">
            <a:avLst>
              <a:gd name="adj" fmla="val 8421"/>
            </a:avLst>
          </a:prstGeom>
          <a:solidFill>
            <a:srgbClr val="122440"/>
          </a:solidFill>
          <a:ln w="12700">
            <a:solidFill>
              <a:srgbClr val="2C4060"/>
            </a:solidFill>
            <a:prstDash val="solid"/>
          </a:ln>
        </p:spPr>
      </p:sp>
      <p:sp>
        <p:nvSpPr>
          <p:cNvPr id="14" name="Shape 12"/>
          <p:cNvSpPr/>
          <p:nvPr/>
        </p:nvSpPr>
        <p:spPr>
          <a:xfrm>
            <a:off x="7269480" y="2578608"/>
            <a:ext cx="365760" cy="365760"/>
          </a:xfrm>
          <a:prstGeom prst="ellipse">
            <a:avLst/>
          </a:prstGeom>
          <a:solidFill>
            <a:srgbClr val="0E2444"/>
          </a:solidFill>
          <a:ln w="19050">
            <a:solidFill>
              <a:srgbClr val="C8A24A"/>
            </a:solidFill>
            <a:prstDash val="solid"/>
          </a:ln>
        </p:spPr>
      </p:sp>
      <p:sp>
        <p:nvSpPr>
          <p:cNvPr id="15" name="Text 13"/>
          <p:cNvSpPr/>
          <p:nvPr/>
        </p:nvSpPr>
        <p:spPr>
          <a:xfrm>
            <a:off x="7269480" y="2578608"/>
            <a:ext cx="365760" cy="365760"/>
          </a:xfrm>
          <a:prstGeom prst="rect">
            <a:avLst/>
          </a:prstGeom>
          <a:noFill/>
          <a:ln/>
        </p:spPr>
        <p:txBody>
          <a:bodyPr wrap="square" rtlCol="0" anchor="ctr"/>
          <a:lstStyle/>
          <a:p>
            <a:pPr algn="ctr" indent="0" marL="0">
              <a:buNone/>
            </a:pPr>
            <a:r>
              <a:rPr lang="en-US" sz="1400" b="1" dirty="0">
                <a:solidFill>
                  <a:srgbClr val="E3C682"/>
                </a:solidFill>
                <a:latin typeface="Arial" pitchFamily="34" charset="0"/>
                <a:ea typeface="Arial" pitchFamily="34" charset="-122"/>
                <a:cs typeface="Arial" pitchFamily="34" charset="-120"/>
              </a:rPr>
              <a:t>2</a:t>
            </a:r>
            <a:endParaRPr lang="en-US" sz="1400" dirty="0"/>
          </a:p>
        </p:txBody>
      </p:sp>
      <p:sp>
        <p:nvSpPr>
          <p:cNvPr id="16" name="Text 14"/>
          <p:cNvSpPr/>
          <p:nvPr/>
        </p:nvSpPr>
        <p:spPr>
          <a:xfrm>
            <a:off x="4535424" y="2331720"/>
            <a:ext cx="2615184" cy="868680"/>
          </a:xfrm>
          <a:prstGeom prst="rect">
            <a:avLst/>
          </a:prstGeom>
          <a:noFill/>
          <a:ln/>
        </p:spPr>
        <p:txBody>
          <a:bodyPr wrap="square" rtlCol="0" anchor="ctr"/>
          <a:lstStyle/>
          <a:p>
            <a:pPr rtl="1" algn="r" indent="0" marL="0">
              <a:buNone/>
            </a:pPr>
            <a:r>
              <a:rPr lang="en-US" sz="1300" dirty="0">
                <a:solidFill>
                  <a:srgbClr val="F6F1E7"/>
                </a:solidFill>
                <a:latin typeface="Arial" pitchFamily="34" charset="0"/>
                <a:ea typeface="Arial" pitchFamily="34" charset="-122"/>
                <a:cs typeface="Arial" pitchFamily="34" charset="-120"/>
              </a:rPr>
              <a:t>تنفيذ عقد</a:t>
            </a:r>
            <a:endParaRPr lang="en-US" sz="1300" dirty="0"/>
          </a:p>
        </p:txBody>
      </p:sp>
      <p:sp>
        <p:nvSpPr>
          <p:cNvPr id="17" name="Shape 15"/>
          <p:cNvSpPr/>
          <p:nvPr/>
        </p:nvSpPr>
        <p:spPr>
          <a:xfrm>
            <a:off x="640080" y="2331720"/>
            <a:ext cx="3483864" cy="868680"/>
          </a:xfrm>
          <a:prstGeom prst="roundRect">
            <a:avLst>
              <a:gd name="adj" fmla="val 8421"/>
            </a:avLst>
          </a:prstGeom>
          <a:solidFill>
            <a:srgbClr val="122440"/>
          </a:solidFill>
          <a:ln w="12700">
            <a:solidFill>
              <a:srgbClr val="2C4060"/>
            </a:solidFill>
            <a:prstDash val="solid"/>
          </a:ln>
        </p:spPr>
      </p:sp>
      <p:sp>
        <p:nvSpPr>
          <p:cNvPr id="18" name="Shape 16"/>
          <p:cNvSpPr/>
          <p:nvPr/>
        </p:nvSpPr>
        <p:spPr>
          <a:xfrm>
            <a:off x="3557016" y="2578608"/>
            <a:ext cx="365760" cy="365760"/>
          </a:xfrm>
          <a:prstGeom prst="ellipse">
            <a:avLst/>
          </a:prstGeom>
          <a:solidFill>
            <a:srgbClr val="0E2444"/>
          </a:solidFill>
          <a:ln w="19050">
            <a:solidFill>
              <a:srgbClr val="C8A24A"/>
            </a:solidFill>
            <a:prstDash val="solid"/>
          </a:ln>
        </p:spPr>
      </p:sp>
      <p:sp>
        <p:nvSpPr>
          <p:cNvPr id="19" name="Text 17"/>
          <p:cNvSpPr/>
          <p:nvPr/>
        </p:nvSpPr>
        <p:spPr>
          <a:xfrm>
            <a:off x="3557016" y="2578608"/>
            <a:ext cx="365760" cy="365760"/>
          </a:xfrm>
          <a:prstGeom prst="rect">
            <a:avLst/>
          </a:prstGeom>
          <a:noFill/>
          <a:ln/>
        </p:spPr>
        <p:txBody>
          <a:bodyPr wrap="square" rtlCol="0" anchor="ctr"/>
          <a:lstStyle/>
          <a:p>
            <a:pPr algn="ctr" indent="0" marL="0">
              <a:buNone/>
            </a:pPr>
            <a:r>
              <a:rPr lang="en-US" sz="1400" b="1" dirty="0">
                <a:solidFill>
                  <a:srgbClr val="E3C682"/>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822960" y="2331720"/>
            <a:ext cx="2615184" cy="868680"/>
          </a:xfrm>
          <a:prstGeom prst="rect">
            <a:avLst/>
          </a:prstGeom>
          <a:noFill/>
          <a:ln/>
        </p:spPr>
        <p:txBody>
          <a:bodyPr wrap="square" rtlCol="0" anchor="ctr"/>
          <a:lstStyle/>
          <a:p>
            <a:pPr rtl="1" algn="r" indent="0" marL="0">
              <a:buNone/>
            </a:pPr>
            <a:r>
              <a:rPr lang="en-US" sz="1300" dirty="0">
                <a:solidFill>
                  <a:srgbClr val="F6F1E7"/>
                </a:solidFill>
                <a:latin typeface="Arial" pitchFamily="34" charset="0"/>
                <a:ea typeface="Arial" pitchFamily="34" charset="-122"/>
                <a:cs typeface="Arial" pitchFamily="34" charset="-120"/>
              </a:rPr>
              <a:t>التزام قانوني / أمر قضائي</a:t>
            </a:r>
            <a:endParaRPr lang="en-US" sz="1300" dirty="0"/>
          </a:p>
        </p:txBody>
      </p:sp>
      <p:sp>
        <p:nvSpPr>
          <p:cNvPr id="21" name="Shape 19"/>
          <p:cNvSpPr/>
          <p:nvPr/>
        </p:nvSpPr>
        <p:spPr>
          <a:xfrm>
            <a:off x="8065008" y="3429000"/>
            <a:ext cx="3483864" cy="868680"/>
          </a:xfrm>
          <a:prstGeom prst="roundRect">
            <a:avLst>
              <a:gd name="adj" fmla="val 8421"/>
            </a:avLst>
          </a:prstGeom>
          <a:solidFill>
            <a:srgbClr val="122440"/>
          </a:solidFill>
          <a:ln w="12700">
            <a:solidFill>
              <a:srgbClr val="2C4060"/>
            </a:solidFill>
            <a:prstDash val="solid"/>
          </a:ln>
        </p:spPr>
      </p:sp>
      <p:sp>
        <p:nvSpPr>
          <p:cNvPr id="22" name="Shape 20"/>
          <p:cNvSpPr/>
          <p:nvPr/>
        </p:nvSpPr>
        <p:spPr>
          <a:xfrm>
            <a:off x="10981944" y="3675888"/>
            <a:ext cx="365760" cy="365760"/>
          </a:xfrm>
          <a:prstGeom prst="ellipse">
            <a:avLst/>
          </a:prstGeom>
          <a:solidFill>
            <a:srgbClr val="0E2444"/>
          </a:solidFill>
          <a:ln w="19050">
            <a:solidFill>
              <a:srgbClr val="C8A24A"/>
            </a:solidFill>
            <a:prstDash val="solid"/>
          </a:ln>
        </p:spPr>
      </p:sp>
      <p:sp>
        <p:nvSpPr>
          <p:cNvPr id="23" name="Text 21"/>
          <p:cNvSpPr/>
          <p:nvPr/>
        </p:nvSpPr>
        <p:spPr>
          <a:xfrm>
            <a:off x="10981944" y="3675888"/>
            <a:ext cx="365760" cy="365760"/>
          </a:xfrm>
          <a:prstGeom prst="rect">
            <a:avLst/>
          </a:prstGeom>
          <a:noFill/>
          <a:ln/>
        </p:spPr>
        <p:txBody>
          <a:bodyPr wrap="square" rtlCol="0" anchor="ctr"/>
          <a:lstStyle/>
          <a:p>
            <a:pPr algn="ctr" indent="0" marL="0">
              <a:buNone/>
            </a:pPr>
            <a:r>
              <a:rPr lang="en-US" sz="1400" b="1" dirty="0">
                <a:solidFill>
                  <a:srgbClr val="E3C682"/>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8247888" y="3429000"/>
            <a:ext cx="2615184" cy="868680"/>
          </a:xfrm>
          <a:prstGeom prst="rect">
            <a:avLst/>
          </a:prstGeom>
          <a:noFill/>
          <a:ln/>
        </p:spPr>
        <p:txBody>
          <a:bodyPr wrap="square" rtlCol="0" anchor="ctr"/>
          <a:lstStyle/>
          <a:p>
            <a:pPr rtl="1" algn="r" indent="0" marL="0">
              <a:buNone/>
            </a:pPr>
            <a:r>
              <a:rPr lang="en-US" sz="1300" dirty="0">
                <a:solidFill>
                  <a:srgbClr val="F6F1E7"/>
                </a:solidFill>
                <a:latin typeface="Arial" pitchFamily="34" charset="0"/>
                <a:ea typeface="Arial" pitchFamily="34" charset="-122"/>
                <a:cs typeface="Arial" pitchFamily="34" charset="-120"/>
              </a:rPr>
              <a:t>المصلحة المشروعة للمتحكّم</a:t>
            </a:r>
            <a:endParaRPr lang="en-US" sz="1300" dirty="0"/>
          </a:p>
        </p:txBody>
      </p:sp>
      <p:sp>
        <p:nvSpPr>
          <p:cNvPr id="25" name="Shape 23"/>
          <p:cNvSpPr/>
          <p:nvPr/>
        </p:nvSpPr>
        <p:spPr>
          <a:xfrm>
            <a:off x="4352544" y="3429000"/>
            <a:ext cx="3483864" cy="868680"/>
          </a:xfrm>
          <a:prstGeom prst="roundRect">
            <a:avLst>
              <a:gd name="adj" fmla="val 8421"/>
            </a:avLst>
          </a:prstGeom>
          <a:solidFill>
            <a:srgbClr val="122440"/>
          </a:solidFill>
          <a:ln w="12700">
            <a:solidFill>
              <a:srgbClr val="2C4060"/>
            </a:solidFill>
            <a:prstDash val="solid"/>
          </a:ln>
        </p:spPr>
      </p:sp>
      <p:sp>
        <p:nvSpPr>
          <p:cNvPr id="26" name="Shape 24"/>
          <p:cNvSpPr/>
          <p:nvPr/>
        </p:nvSpPr>
        <p:spPr>
          <a:xfrm>
            <a:off x="7269480" y="3675888"/>
            <a:ext cx="365760" cy="365760"/>
          </a:xfrm>
          <a:prstGeom prst="ellipse">
            <a:avLst/>
          </a:prstGeom>
          <a:solidFill>
            <a:srgbClr val="0E2444"/>
          </a:solidFill>
          <a:ln w="19050">
            <a:solidFill>
              <a:srgbClr val="C8A24A"/>
            </a:solidFill>
            <a:prstDash val="solid"/>
          </a:ln>
        </p:spPr>
      </p:sp>
      <p:sp>
        <p:nvSpPr>
          <p:cNvPr id="27" name="Text 25"/>
          <p:cNvSpPr/>
          <p:nvPr/>
        </p:nvSpPr>
        <p:spPr>
          <a:xfrm>
            <a:off x="7269480" y="3675888"/>
            <a:ext cx="365760" cy="365760"/>
          </a:xfrm>
          <a:prstGeom prst="rect">
            <a:avLst/>
          </a:prstGeom>
          <a:noFill/>
          <a:ln/>
        </p:spPr>
        <p:txBody>
          <a:bodyPr wrap="square" rtlCol="0" anchor="ctr"/>
          <a:lstStyle/>
          <a:p>
            <a:pPr algn="ctr" indent="0" marL="0">
              <a:buNone/>
            </a:pPr>
            <a:r>
              <a:rPr lang="en-US" sz="1400" b="1" dirty="0">
                <a:solidFill>
                  <a:srgbClr val="E3C682"/>
                </a:solidFill>
                <a:latin typeface="Arial" pitchFamily="34" charset="0"/>
                <a:ea typeface="Arial" pitchFamily="34" charset="-122"/>
                <a:cs typeface="Arial" pitchFamily="34" charset="-120"/>
              </a:rPr>
              <a:t>5</a:t>
            </a:r>
            <a:endParaRPr lang="en-US" sz="1400" dirty="0"/>
          </a:p>
        </p:txBody>
      </p:sp>
      <p:sp>
        <p:nvSpPr>
          <p:cNvPr id="28" name="Text 26"/>
          <p:cNvSpPr/>
          <p:nvPr/>
        </p:nvSpPr>
        <p:spPr>
          <a:xfrm>
            <a:off x="4535424" y="3429000"/>
            <a:ext cx="2615184" cy="868680"/>
          </a:xfrm>
          <a:prstGeom prst="rect">
            <a:avLst/>
          </a:prstGeom>
          <a:noFill/>
          <a:ln/>
        </p:spPr>
        <p:txBody>
          <a:bodyPr wrap="square" rtlCol="0" anchor="ctr"/>
          <a:lstStyle/>
          <a:p>
            <a:pPr rtl="1" algn="r" indent="0" marL="0">
              <a:buNone/>
            </a:pPr>
            <a:r>
              <a:rPr lang="en-US" sz="1300" dirty="0">
                <a:solidFill>
                  <a:srgbClr val="F6F1E7"/>
                </a:solidFill>
                <a:latin typeface="Arial" pitchFamily="34" charset="0"/>
                <a:ea typeface="Arial" pitchFamily="34" charset="-122"/>
                <a:cs typeface="Arial" pitchFamily="34" charset="-120"/>
              </a:rPr>
              <a:t>حماية المصالح الحيوية لشخص</a:t>
            </a:r>
            <a:endParaRPr lang="en-US" sz="1300" dirty="0"/>
          </a:p>
        </p:txBody>
      </p:sp>
      <p:sp>
        <p:nvSpPr>
          <p:cNvPr id="29" name="Shape 27"/>
          <p:cNvSpPr/>
          <p:nvPr/>
        </p:nvSpPr>
        <p:spPr>
          <a:xfrm>
            <a:off x="640080" y="3429000"/>
            <a:ext cx="3483864" cy="868680"/>
          </a:xfrm>
          <a:prstGeom prst="roundRect">
            <a:avLst>
              <a:gd name="adj" fmla="val 8421"/>
            </a:avLst>
          </a:prstGeom>
          <a:solidFill>
            <a:srgbClr val="122440"/>
          </a:solidFill>
          <a:ln w="12700">
            <a:solidFill>
              <a:srgbClr val="2C4060"/>
            </a:solidFill>
            <a:prstDash val="solid"/>
          </a:ln>
        </p:spPr>
      </p:sp>
      <p:sp>
        <p:nvSpPr>
          <p:cNvPr id="30" name="Shape 28"/>
          <p:cNvSpPr/>
          <p:nvPr/>
        </p:nvSpPr>
        <p:spPr>
          <a:xfrm>
            <a:off x="3557016" y="3675888"/>
            <a:ext cx="365760" cy="365760"/>
          </a:xfrm>
          <a:prstGeom prst="ellipse">
            <a:avLst/>
          </a:prstGeom>
          <a:solidFill>
            <a:srgbClr val="0E2444"/>
          </a:solidFill>
          <a:ln w="19050">
            <a:solidFill>
              <a:srgbClr val="C8A24A"/>
            </a:solidFill>
            <a:prstDash val="solid"/>
          </a:ln>
        </p:spPr>
      </p:sp>
      <p:sp>
        <p:nvSpPr>
          <p:cNvPr id="31" name="Text 29"/>
          <p:cNvSpPr/>
          <p:nvPr/>
        </p:nvSpPr>
        <p:spPr>
          <a:xfrm>
            <a:off x="3557016" y="3675888"/>
            <a:ext cx="365760" cy="365760"/>
          </a:xfrm>
          <a:prstGeom prst="rect">
            <a:avLst/>
          </a:prstGeom>
          <a:noFill/>
          <a:ln/>
        </p:spPr>
        <p:txBody>
          <a:bodyPr wrap="square" rtlCol="0" anchor="ctr"/>
          <a:lstStyle/>
          <a:p>
            <a:pPr algn="ctr" indent="0" marL="0">
              <a:buNone/>
            </a:pPr>
            <a:r>
              <a:rPr lang="en-US" sz="1400" b="1" dirty="0">
                <a:solidFill>
                  <a:srgbClr val="E3C682"/>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822960" y="3429000"/>
            <a:ext cx="2615184" cy="868680"/>
          </a:xfrm>
          <a:prstGeom prst="rect">
            <a:avLst/>
          </a:prstGeom>
          <a:noFill/>
          <a:ln/>
        </p:spPr>
        <p:txBody>
          <a:bodyPr wrap="square" rtlCol="0" anchor="ctr"/>
          <a:lstStyle/>
          <a:p>
            <a:pPr rtl="1" algn="r" indent="0" marL="0">
              <a:buNone/>
            </a:pPr>
            <a:r>
              <a:rPr lang="en-US" sz="1300" dirty="0">
                <a:solidFill>
                  <a:srgbClr val="F6F1E7"/>
                </a:solidFill>
                <a:latin typeface="Arial" pitchFamily="34" charset="0"/>
                <a:ea typeface="Arial" pitchFamily="34" charset="-122"/>
                <a:cs typeface="Arial" pitchFamily="34" charset="-120"/>
              </a:rPr>
              <a:t>مهمة عامة / سلطة رسمية</a:t>
            </a:r>
            <a:endParaRPr lang="en-US" sz="1300" dirty="0"/>
          </a:p>
        </p:txBody>
      </p:sp>
      <p:sp>
        <p:nvSpPr>
          <p:cNvPr id="33" name="Shape 31"/>
          <p:cNvSpPr/>
          <p:nvPr/>
        </p:nvSpPr>
        <p:spPr>
          <a:xfrm>
            <a:off x="640080" y="5074920"/>
            <a:ext cx="10908792" cy="868680"/>
          </a:xfrm>
          <a:prstGeom prst="rect">
            <a:avLst/>
          </a:prstGeom>
          <a:solidFill>
            <a:srgbClr val="122440"/>
          </a:solidFill>
          <a:ln w="12700">
            <a:solidFill>
              <a:srgbClr val="2C4060"/>
            </a:solidFill>
            <a:prstDash val="solid"/>
          </a:ln>
        </p:spPr>
      </p:sp>
      <p:sp>
        <p:nvSpPr>
          <p:cNvPr id="34" name="Shape 32"/>
          <p:cNvSpPr/>
          <p:nvPr/>
        </p:nvSpPr>
        <p:spPr>
          <a:xfrm>
            <a:off x="11484864" y="5074920"/>
            <a:ext cx="64008" cy="868680"/>
          </a:xfrm>
          <a:prstGeom prst="rect">
            <a:avLst/>
          </a:prstGeom>
          <a:solidFill>
            <a:srgbClr val="C8A24A"/>
          </a:solidFill>
          <a:ln/>
        </p:spPr>
      </p:sp>
      <p:sp>
        <p:nvSpPr>
          <p:cNvPr id="35" name="Text 33"/>
          <p:cNvSpPr/>
          <p:nvPr/>
        </p:nvSpPr>
        <p:spPr>
          <a:xfrm>
            <a:off x="868680" y="5166360"/>
            <a:ext cx="10451592" cy="685800"/>
          </a:xfrm>
          <a:prstGeom prst="rect">
            <a:avLst/>
          </a:prstGeom>
          <a:noFill/>
          <a:ln/>
        </p:spPr>
        <p:txBody>
          <a:bodyPr wrap="square" rtlCol="0" anchor="ctr"/>
          <a:lstStyle/>
          <a:p>
            <a:pPr algn="r" indent="0" marL="0">
              <a:buNone/>
            </a:pPr>
            <a:r>
              <a:rPr lang="en-US" sz="1100" b="1" dirty="0">
                <a:solidFill>
                  <a:srgbClr val="C8A24A"/>
                </a:solidFill>
                <a:latin typeface="Arial" pitchFamily="34" charset="0"/>
                <a:ea typeface="Arial" pitchFamily="34" charset="-122"/>
                <a:cs typeface="Arial" pitchFamily="34" charset="-120"/>
              </a:rPr>
              <a:t>مثال  </a:t>
            </a:r>
            <a:pPr algn="r" indent="0" marL="0">
              <a:buNone/>
            </a:pPr>
            <a:r>
              <a:rPr lang="en-US" sz="1350" dirty="0">
                <a:solidFill>
                  <a:srgbClr val="D9E0EC"/>
                </a:solidFill>
                <a:latin typeface="Arial" pitchFamily="34" charset="0"/>
                <a:ea typeface="Arial" pitchFamily="34" charset="-122"/>
                <a:cs typeface="Arial" pitchFamily="34" charset="-120"/>
              </a:rPr>
              <a:t>المتجر الذي يشحن طلبك لا يحتاج موافقة منفصلة، بل يعتمد على «تنفيذ عقد».</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السلطة للفرد</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بياناتك، حقوقك</a:t>
            </a:r>
            <a:endParaRPr lang="en-US" sz="3300" dirty="0"/>
          </a:p>
        </p:txBody>
      </p:sp>
      <p:sp>
        <p:nvSpPr>
          <p:cNvPr id="8" name="Shape 6"/>
          <p:cNvSpPr/>
          <p:nvPr/>
        </p:nvSpPr>
        <p:spPr>
          <a:xfrm>
            <a:off x="8083296" y="2377440"/>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284464" y="2542032"/>
            <a:ext cx="3063240"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حق العلم</a:t>
            </a:r>
            <a:endParaRPr lang="en-US" sz="1600" dirty="0"/>
          </a:p>
        </p:txBody>
      </p:sp>
      <p:sp>
        <p:nvSpPr>
          <p:cNvPr id="10" name="Text 8"/>
          <p:cNvSpPr/>
          <p:nvPr/>
        </p:nvSpPr>
        <p:spPr>
          <a:xfrm>
            <a:off x="8284464" y="3054096"/>
            <a:ext cx="3063240" cy="557784"/>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أن تعرف أن بياناتك تُجمع ولماذا.</a:t>
            </a:r>
            <a:endParaRPr lang="en-US" sz="1200" dirty="0"/>
          </a:p>
        </p:txBody>
      </p:sp>
      <p:sp>
        <p:nvSpPr>
          <p:cNvPr id="11" name="Shape 9"/>
          <p:cNvSpPr/>
          <p:nvPr/>
        </p:nvSpPr>
        <p:spPr>
          <a:xfrm>
            <a:off x="4361688" y="2377440"/>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2856" y="2542032"/>
            <a:ext cx="3063240"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الاطّلاع</a:t>
            </a:r>
            <a:endParaRPr lang="en-US" sz="1600" dirty="0"/>
          </a:p>
        </p:txBody>
      </p:sp>
      <p:sp>
        <p:nvSpPr>
          <p:cNvPr id="13" name="Text 11"/>
          <p:cNvSpPr/>
          <p:nvPr/>
        </p:nvSpPr>
        <p:spPr>
          <a:xfrm>
            <a:off x="4562856" y="3054096"/>
            <a:ext cx="3063240" cy="557784"/>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الحصول على نسخة من بياناتك.</a:t>
            </a:r>
            <a:endParaRPr lang="en-US" sz="1200" dirty="0"/>
          </a:p>
        </p:txBody>
      </p:sp>
      <p:sp>
        <p:nvSpPr>
          <p:cNvPr id="14" name="Shape 12"/>
          <p:cNvSpPr/>
          <p:nvPr/>
        </p:nvSpPr>
        <p:spPr>
          <a:xfrm>
            <a:off x="640080" y="2377440"/>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41248" y="2542032"/>
            <a:ext cx="3063240"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التصحيح</a:t>
            </a:r>
            <a:endParaRPr lang="en-US" sz="1600" dirty="0"/>
          </a:p>
        </p:txBody>
      </p:sp>
      <p:sp>
        <p:nvSpPr>
          <p:cNvPr id="16" name="Text 14"/>
          <p:cNvSpPr/>
          <p:nvPr/>
        </p:nvSpPr>
        <p:spPr>
          <a:xfrm>
            <a:off x="841248" y="3054096"/>
            <a:ext cx="3063240" cy="557784"/>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تصحيح البيانات الخاطئة أو الناقصة.</a:t>
            </a:r>
            <a:endParaRPr lang="en-US" sz="1200" dirty="0"/>
          </a:p>
        </p:txBody>
      </p:sp>
      <p:sp>
        <p:nvSpPr>
          <p:cNvPr id="17" name="Shape 15"/>
          <p:cNvSpPr/>
          <p:nvPr/>
        </p:nvSpPr>
        <p:spPr>
          <a:xfrm>
            <a:off x="8083296" y="3959352"/>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284464" y="4123944"/>
            <a:ext cx="3063240"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المحو</a:t>
            </a:r>
            <a:endParaRPr lang="en-US" sz="1600" dirty="0"/>
          </a:p>
        </p:txBody>
      </p:sp>
      <p:sp>
        <p:nvSpPr>
          <p:cNvPr id="19" name="Text 17"/>
          <p:cNvSpPr/>
          <p:nvPr/>
        </p:nvSpPr>
        <p:spPr>
          <a:xfrm>
            <a:off x="8284464" y="4636008"/>
            <a:ext cx="3063240" cy="557784"/>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حذف بياناتك عند انتفاء الحاجة.</a:t>
            </a:r>
            <a:endParaRPr lang="en-US" sz="1200" dirty="0"/>
          </a:p>
        </p:txBody>
      </p:sp>
      <p:sp>
        <p:nvSpPr>
          <p:cNvPr id="20" name="Shape 18"/>
          <p:cNvSpPr/>
          <p:nvPr/>
        </p:nvSpPr>
        <p:spPr>
          <a:xfrm>
            <a:off x="4361688" y="3959352"/>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4562856" y="4123944"/>
            <a:ext cx="3063240"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الاعتراض</a:t>
            </a:r>
            <a:endParaRPr lang="en-US" sz="1600" dirty="0"/>
          </a:p>
        </p:txBody>
      </p:sp>
      <p:sp>
        <p:nvSpPr>
          <p:cNvPr id="22" name="Text 20"/>
          <p:cNvSpPr/>
          <p:nvPr/>
        </p:nvSpPr>
        <p:spPr>
          <a:xfrm>
            <a:off x="4562856" y="4636008"/>
            <a:ext cx="3063240" cy="557784"/>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رفض استخدامات كالتسويق المباشر.</a:t>
            </a:r>
            <a:endParaRPr lang="en-US" sz="1200" dirty="0"/>
          </a:p>
        </p:txBody>
      </p:sp>
      <p:sp>
        <p:nvSpPr>
          <p:cNvPr id="23" name="Shape 21"/>
          <p:cNvSpPr/>
          <p:nvPr/>
        </p:nvSpPr>
        <p:spPr>
          <a:xfrm>
            <a:off x="640080" y="3959352"/>
            <a:ext cx="3465576" cy="1325880"/>
          </a:xfrm>
          <a:prstGeom prst="roundRect">
            <a:avLst>
              <a:gd name="adj" fmla="val 620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4" name="Text 22"/>
          <p:cNvSpPr/>
          <p:nvPr/>
        </p:nvSpPr>
        <p:spPr>
          <a:xfrm>
            <a:off x="841248" y="4123944"/>
            <a:ext cx="3063240"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سحب الموافقة</a:t>
            </a:r>
            <a:endParaRPr lang="en-US" sz="1600" dirty="0"/>
          </a:p>
        </p:txBody>
      </p:sp>
      <p:sp>
        <p:nvSpPr>
          <p:cNvPr id="25" name="Text 23"/>
          <p:cNvSpPr/>
          <p:nvPr/>
        </p:nvSpPr>
        <p:spPr>
          <a:xfrm>
            <a:off x="841248" y="4636008"/>
            <a:ext cx="3063240" cy="557784"/>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تغيير رأيك في أي وقت دون عقوبة.</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من يحتفظ بالبيانات تقع عليه واجبات</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ما يجب على كل شركة فعله الآن</a:t>
            </a:r>
            <a:endParaRPr lang="en-US" sz="3300" dirty="0"/>
          </a:p>
        </p:txBody>
      </p:sp>
      <p:sp>
        <p:nvSpPr>
          <p:cNvPr id="8" name="Shape 6"/>
          <p:cNvSpPr/>
          <p:nvPr/>
        </p:nvSpPr>
        <p:spPr>
          <a:xfrm>
            <a:off x="9027414"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228582" y="249631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التسجيل والترخيص</a:t>
            </a:r>
            <a:endParaRPr lang="en-US" sz="1500" dirty="0"/>
          </a:p>
        </p:txBody>
      </p:sp>
      <p:sp>
        <p:nvSpPr>
          <p:cNvPr id="10" name="Text 8"/>
          <p:cNvSpPr/>
          <p:nvPr/>
        </p:nvSpPr>
        <p:spPr>
          <a:xfrm>
            <a:off x="9228582" y="3008376"/>
            <a:ext cx="2119122" cy="60350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احصل على ترخيص المركز قبل المعالجة.</a:t>
            </a:r>
            <a:endParaRPr lang="en-US" sz="1150" dirty="0"/>
          </a:p>
        </p:txBody>
      </p:sp>
      <p:sp>
        <p:nvSpPr>
          <p:cNvPr id="11" name="Shape 9"/>
          <p:cNvSpPr/>
          <p:nvPr/>
        </p:nvSpPr>
        <p:spPr>
          <a:xfrm>
            <a:off x="6231636"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6432804" y="249631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تأمين البيانات</a:t>
            </a:r>
            <a:endParaRPr lang="en-US" sz="1500" dirty="0"/>
          </a:p>
        </p:txBody>
      </p:sp>
      <p:sp>
        <p:nvSpPr>
          <p:cNvPr id="13" name="Text 11"/>
          <p:cNvSpPr/>
          <p:nvPr/>
        </p:nvSpPr>
        <p:spPr>
          <a:xfrm>
            <a:off x="6432804" y="3008376"/>
            <a:ext cx="2119122" cy="60350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التشفير والتحكّم في الوصول وضمانات حقيقية.</a:t>
            </a:r>
            <a:endParaRPr lang="en-US" sz="1150" dirty="0"/>
          </a:p>
        </p:txBody>
      </p:sp>
      <p:sp>
        <p:nvSpPr>
          <p:cNvPr id="14" name="Shape 12"/>
          <p:cNvSpPr/>
          <p:nvPr/>
        </p:nvSpPr>
        <p:spPr>
          <a:xfrm>
            <a:off x="3435858"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3637026" y="249631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الإبلاغ عن الاختراق</a:t>
            </a:r>
            <a:endParaRPr lang="en-US" sz="1500" dirty="0"/>
          </a:p>
        </p:txBody>
      </p:sp>
      <p:sp>
        <p:nvSpPr>
          <p:cNvPr id="16" name="Text 14"/>
          <p:cNvSpPr/>
          <p:nvPr/>
        </p:nvSpPr>
        <p:spPr>
          <a:xfrm>
            <a:off x="3637026" y="3008376"/>
            <a:ext cx="2119122" cy="60350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المركز خلال 72 ساعة، والأفراد خلال 3 أيام.</a:t>
            </a:r>
            <a:endParaRPr lang="en-US" sz="1150" dirty="0"/>
          </a:p>
        </p:txBody>
      </p:sp>
      <p:sp>
        <p:nvSpPr>
          <p:cNvPr id="17" name="Shape 15"/>
          <p:cNvSpPr/>
          <p:nvPr/>
        </p:nvSpPr>
        <p:spPr>
          <a:xfrm>
            <a:off x="640080" y="2331720"/>
            <a:ext cx="2521458" cy="1371600"/>
          </a:xfrm>
          <a:prstGeom prst="roundRect">
            <a:avLst>
              <a:gd name="adj" fmla="val 60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41248" y="249631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تعيين مسؤول حماية</a:t>
            </a:r>
            <a:endParaRPr lang="en-US" sz="1500" dirty="0"/>
          </a:p>
        </p:txBody>
      </p:sp>
      <p:sp>
        <p:nvSpPr>
          <p:cNvPr id="19" name="Text 17"/>
          <p:cNvSpPr/>
          <p:nvPr/>
        </p:nvSpPr>
        <p:spPr>
          <a:xfrm>
            <a:off x="841248" y="3008376"/>
            <a:ext cx="2119122" cy="60350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تعيين مسؤول كفء إلزامي (المادة 8).</a:t>
            </a:r>
            <a:endParaRPr lang="en-US" sz="1150" dirty="0"/>
          </a:p>
        </p:txBody>
      </p:sp>
      <p:sp>
        <p:nvSpPr>
          <p:cNvPr id="20" name="Shape 18"/>
          <p:cNvSpPr/>
          <p:nvPr/>
        </p:nvSpPr>
        <p:spPr>
          <a:xfrm>
            <a:off x="640080" y="4069080"/>
            <a:ext cx="10908792" cy="914400"/>
          </a:xfrm>
          <a:prstGeom prst="rect">
            <a:avLst/>
          </a:prstGeom>
          <a:solidFill>
            <a:srgbClr val="122440"/>
          </a:solidFill>
          <a:ln w="12700">
            <a:solidFill>
              <a:srgbClr val="2C4060"/>
            </a:solidFill>
            <a:prstDash val="solid"/>
          </a:ln>
        </p:spPr>
      </p:sp>
      <p:sp>
        <p:nvSpPr>
          <p:cNvPr id="21" name="Shape 19"/>
          <p:cNvSpPr/>
          <p:nvPr/>
        </p:nvSpPr>
        <p:spPr>
          <a:xfrm>
            <a:off x="11484864" y="4069080"/>
            <a:ext cx="64008" cy="914400"/>
          </a:xfrm>
          <a:prstGeom prst="rect">
            <a:avLst/>
          </a:prstGeom>
          <a:solidFill>
            <a:srgbClr val="C8A24A"/>
          </a:solidFill>
          <a:ln/>
        </p:spPr>
      </p:sp>
      <p:sp>
        <p:nvSpPr>
          <p:cNvPr id="22" name="Text 20"/>
          <p:cNvSpPr/>
          <p:nvPr/>
        </p:nvSpPr>
        <p:spPr>
          <a:xfrm>
            <a:off x="868680" y="4160520"/>
            <a:ext cx="10451592" cy="731520"/>
          </a:xfrm>
          <a:prstGeom prst="rect">
            <a:avLst/>
          </a:prstGeom>
          <a:noFill/>
          <a:ln/>
        </p:spPr>
        <p:txBody>
          <a:bodyPr wrap="square" rtlCol="0" anchor="ctr"/>
          <a:lstStyle/>
          <a:p>
            <a:pPr algn="r" indent="0" marL="0">
              <a:buNone/>
            </a:pPr>
            <a:r>
              <a:rPr lang="en-US" sz="1100" b="1" dirty="0">
                <a:solidFill>
                  <a:srgbClr val="C8A24A"/>
                </a:solidFill>
                <a:latin typeface="Arial" pitchFamily="34" charset="0"/>
                <a:ea typeface="Arial" pitchFamily="34" charset="-122"/>
                <a:cs typeface="Arial" pitchFamily="34" charset="-120"/>
              </a:rPr>
              <a:t>خرافة وحقيقة  </a:t>
            </a:r>
            <a:pPr algn="r" indent="0" marL="0">
              <a:buNone/>
            </a:pPr>
            <a:r>
              <a:rPr lang="en-US" sz="1350" dirty="0">
                <a:solidFill>
                  <a:srgbClr val="D9E0EC"/>
                </a:solidFill>
                <a:latin typeface="Arial" pitchFamily="34" charset="0"/>
                <a:ea typeface="Arial" pitchFamily="34" charset="-122"/>
                <a:cs typeface="Arial" pitchFamily="34" charset="-120"/>
              </a:rPr>
              <a:t>تقول ملخّصات كثيرة إن مسؤول الحماية غير مطلوب في مصر. خطأ, تُلزم المادة 8 بتعيينه، وعدم التعيين مخالفة (200 ألف-2 مليون ج.م).</a:t>
            </a:r>
            <a:endParaRPr lang="en-US" sz="1100" dirty="0"/>
          </a:p>
        </p:txBody>
      </p:sp>
      <p:sp>
        <p:nvSpPr>
          <p:cNvPr id="23" name="Text 21"/>
          <p:cNvSpPr/>
          <p:nvPr/>
        </p:nvSpPr>
        <p:spPr>
          <a:xfrm>
            <a:off x="640080" y="5120640"/>
            <a:ext cx="10908792" cy="457200"/>
          </a:xfrm>
          <a:prstGeom prst="rect">
            <a:avLst/>
          </a:prstGeom>
          <a:noFill/>
          <a:ln/>
        </p:spPr>
        <p:txBody>
          <a:bodyPr wrap="square" rtlCol="0" anchor="ctr"/>
          <a:lstStyle/>
          <a:p>
            <a:pPr rtl="1" algn="r" indent="0" marL="0">
              <a:buNone/>
            </a:pPr>
            <a:r>
              <a:rPr lang="en-US" sz="1300" i="1" dirty="0">
                <a:solidFill>
                  <a:srgbClr val="E3C682"/>
                </a:solidFill>
                <a:latin typeface="Arial" pitchFamily="34" charset="0"/>
                <a:ea typeface="Arial" pitchFamily="34" charset="-122"/>
                <a:cs typeface="Arial" pitchFamily="34" charset="-120"/>
              </a:rPr>
              <a:t>⏱ ساعة الـ72 لإبلاغ المركز تبدأ لحظة اكتشاف الاختراق.</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الجهة الرقابية الجديدة</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تعرّف على المركز</a:t>
            </a:r>
            <a:endParaRPr lang="en-US" sz="3300" dirty="0"/>
          </a:p>
        </p:txBody>
      </p:sp>
      <p:sp>
        <p:nvSpPr>
          <p:cNvPr id="8" name="Text 6"/>
          <p:cNvSpPr/>
          <p:nvPr/>
        </p:nvSpPr>
        <p:spPr>
          <a:xfrm>
            <a:off x="640080" y="1737360"/>
            <a:ext cx="10908792" cy="640080"/>
          </a:xfrm>
          <a:prstGeom prst="rect">
            <a:avLst/>
          </a:prstGeom>
          <a:noFill/>
          <a:ln/>
        </p:spPr>
        <p:txBody>
          <a:bodyPr wrap="square" rtlCol="0" anchor="t"/>
          <a:lstStyle/>
          <a:p>
            <a:pPr rtl="1" algn="r" indent="0" marL="0">
              <a:buNone/>
            </a:pPr>
            <a:r>
              <a:rPr lang="en-US" sz="1500" dirty="0">
                <a:solidFill>
                  <a:srgbClr val="D9E0EC"/>
                </a:solidFill>
                <a:latin typeface="Arial" pitchFamily="34" charset="0"/>
                <a:ea typeface="Arial" pitchFamily="34" charset="-122"/>
                <a:cs typeface="Arial" pitchFamily="34" charset="-120"/>
              </a:rPr>
              <a:t>مركز حماية البيانات الشخصية يرخّص ويراقب ويعاقب، تحت وزارة الاتصالات وتكنولوجيا المعلومات.</a:t>
            </a:r>
            <a:endParaRPr lang="en-US" sz="1500" dirty="0"/>
          </a:p>
        </p:txBody>
      </p:sp>
      <p:sp>
        <p:nvSpPr>
          <p:cNvPr id="9" name="Shape 7"/>
          <p:cNvSpPr/>
          <p:nvPr/>
        </p:nvSpPr>
        <p:spPr>
          <a:xfrm>
            <a:off x="8083296" y="2331720"/>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0" name="Text 8"/>
          <p:cNvSpPr/>
          <p:nvPr/>
        </p:nvSpPr>
        <p:spPr>
          <a:xfrm>
            <a:off x="8284464" y="2496312"/>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الترخيص</a:t>
            </a:r>
            <a:endParaRPr lang="en-US" sz="1500" dirty="0"/>
          </a:p>
        </p:txBody>
      </p:sp>
      <p:sp>
        <p:nvSpPr>
          <p:cNvPr id="11" name="Text 9"/>
          <p:cNvSpPr/>
          <p:nvPr/>
        </p:nvSpPr>
        <p:spPr>
          <a:xfrm>
            <a:off x="8284464" y="3008376"/>
            <a:ext cx="3063240" cy="46634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يُصدر التراخيص والتصاريح لمعالجة البيانات.</a:t>
            </a:r>
            <a:endParaRPr lang="en-US" sz="1150" dirty="0"/>
          </a:p>
        </p:txBody>
      </p:sp>
      <p:sp>
        <p:nvSpPr>
          <p:cNvPr id="12" name="Shape 10"/>
          <p:cNvSpPr/>
          <p:nvPr/>
        </p:nvSpPr>
        <p:spPr>
          <a:xfrm>
            <a:off x="4361688" y="2331720"/>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3" name="Text 11"/>
          <p:cNvSpPr/>
          <p:nvPr/>
        </p:nvSpPr>
        <p:spPr>
          <a:xfrm>
            <a:off x="4562856" y="2496312"/>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الرقابة</a:t>
            </a:r>
            <a:endParaRPr lang="en-US" sz="1500" dirty="0"/>
          </a:p>
        </p:txBody>
      </p:sp>
      <p:sp>
        <p:nvSpPr>
          <p:cNvPr id="14" name="Text 12"/>
          <p:cNvSpPr/>
          <p:nvPr/>
        </p:nvSpPr>
        <p:spPr>
          <a:xfrm>
            <a:off x="4562856" y="3008376"/>
            <a:ext cx="3063240" cy="46634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يدقّق الامتثال ويحقّق في الشكاوى.</a:t>
            </a:r>
            <a:endParaRPr lang="en-US" sz="1150" dirty="0"/>
          </a:p>
        </p:txBody>
      </p:sp>
      <p:sp>
        <p:nvSpPr>
          <p:cNvPr id="15" name="Shape 13"/>
          <p:cNvSpPr/>
          <p:nvPr/>
        </p:nvSpPr>
        <p:spPr>
          <a:xfrm>
            <a:off x="640080" y="2331720"/>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6" name="Text 14"/>
          <p:cNvSpPr/>
          <p:nvPr/>
        </p:nvSpPr>
        <p:spPr>
          <a:xfrm>
            <a:off x="841248" y="2496312"/>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التنظيم</a:t>
            </a:r>
            <a:endParaRPr lang="en-US" sz="1500" dirty="0"/>
          </a:p>
        </p:txBody>
      </p:sp>
      <p:sp>
        <p:nvSpPr>
          <p:cNvPr id="17" name="Text 15"/>
          <p:cNvSpPr/>
          <p:nvPr/>
        </p:nvSpPr>
        <p:spPr>
          <a:xfrm>
            <a:off x="841248" y="3008376"/>
            <a:ext cx="3063240" cy="46634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يُصدر القواعد والإرشادات المُلزِمة.</a:t>
            </a:r>
            <a:endParaRPr lang="en-US" sz="1150" dirty="0"/>
          </a:p>
        </p:txBody>
      </p:sp>
      <p:sp>
        <p:nvSpPr>
          <p:cNvPr id="18" name="Shape 16"/>
          <p:cNvSpPr/>
          <p:nvPr/>
        </p:nvSpPr>
        <p:spPr>
          <a:xfrm>
            <a:off x="8083296" y="3822192"/>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9" name="Text 17"/>
          <p:cNvSpPr/>
          <p:nvPr/>
        </p:nvSpPr>
        <p:spPr>
          <a:xfrm>
            <a:off x="8284464" y="3986784"/>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الإنفاذ</a:t>
            </a:r>
            <a:endParaRPr lang="en-US" sz="1500" dirty="0"/>
          </a:p>
        </p:txBody>
      </p:sp>
      <p:sp>
        <p:nvSpPr>
          <p:cNvPr id="20" name="Text 18"/>
          <p:cNvSpPr/>
          <p:nvPr/>
        </p:nvSpPr>
        <p:spPr>
          <a:xfrm>
            <a:off x="8284464" y="4498848"/>
            <a:ext cx="3063240" cy="46634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يفرض الغرامات ويحيل الجرائم للنيابة.</a:t>
            </a:r>
            <a:endParaRPr lang="en-US" sz="1150" dirty="0"/>
          </a:p>
        </p:txBody>
      </p:sp>
      <p:sp>
        <p:nvSpPr>
          <p:cNvPr id="21" name="Shape 19"/>
          <p:cNvSpPr/>
          <p:nvPr/>
        </p:nvSpPr>
        <p:spPr>
          <a:xfrm>
            <a:off x="4361688" y="3822192"/>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2" name="Text 20"/>
          <p:cNvSpPr/>
          <p:nvPr/>
        </p:nvSpPr>
        <p:spPr>
          <a:xfrm>
            <a:off x="4562856" y="3986784"/>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التوعية</a:t>
            </a:r>
            <a:endParaRPr lang="en-US" sz="1500" dirty="0"/>
          </a:p>
        </p:txBody>
      </p:sp>
      <p:sp>
        <p:nvSpPr>
          <p:cNvPr id="23" name="Text 21"/>
          <p:cNvSpPr/>
          <p:nvPr/>
        </p:nvSpPr>
        <p:spPr>
          <a:xfrm>
            <a:off x="4562856" y="4498848"/>
            <a:ext cx="3063240" cy="46634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يبني ثقافة الخصوصية عبر التوعية.</a:t>
            </a:r>
            <a:endParaRPr lang="en-US" sz="1150" dirty="0"/>
          </a:p>
        </p:txBody>
      </p:sp>
      <p:sp>
        <p:nvSpPr>
          <p:cNvPr id="24" name="Shape 22"/>
          <p:cNvSpPr/>
          <p:nvPr/>
        </p:nvSpPr>
        <p:spPr>
          <a:xfrm>
            <a:off x="640080" y="3822192"/>
            <a:ext cx="3465576" cy="1234440"/>
          </a:xfrm>
          <a:prstGeom prst="roundRect">
            <a:avLst>
              <a:gd name="adj" fmla="val 6667"/>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5" name="Text 23"/>
          <p:cNvSpPr/>
          <p:nvPr/>
        </p:nvSpPr>
        <p:spPr>
          <a:xfrm>
            <a:off x="841248" y="3986784"/>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النقل الخارجي</a:t>
            </a:r>
            <a:endParaRPr lang="en-US" sz="1500" dirty="0"/>
          </a:p>
        </p:txBody>
      </p:sp>
      <p:sp>
        <p:nvSpPr>
          <p:cNvPr id="26" name="Text 24"/>
          <p:cNvSpPr/>
          <p:nvPr/>
        </p:nvSpPr>
        <p:spPr>
          <a:xfrm>
            <a:off x="841248" y="4498848"/>
            <a:ext cx="3063240" cy="46634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يوافق على النقل للخارج أو يرفضه.</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ثمن الخطأ</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العقوبات في لمحة</a:t>
            </a:r>
            <a:endParaRPr lang="en-US" sz="3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10908792" cy="914400"/>
        </p:xfrm>
        <a:graphic>
          <a:graphicData uri="http://schemas.openxmlformats.org/drawingml/2006/table">
            <a:tbl>
              <a:tblPr/>
              <a:tblGrid>
                <a:gridCol w="2743200"/>
                <a:gridCol w="2194560"/>
                <a:gridCol w="2194560"/>
                <a:gridCol w="3776472"/>
              </a:tblGrid>
              <a:tr h="457200">
                <a:tc>
                  <a:txBody>
                    <a:bodyPr/>
                    <a:lstStyle/>
                    <a:p>
                      <a:pPr algn="r" indent="0" marL="0">
                        <a:buNone/>
                      </a:pPr>
                      <a:r>
                        <a:rPr lang="en-US" sz="1300" b="1" dirty="0">
                          <a:solidFill>
                            <a:srgbClr val="FFFFFF"/>
                          </a:solidFill>
                        </a:rPr>
                        <a:t>المخالفة</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ctr" indent="0" marL="0">
                        <a:buNone/>
                      </a:pPr>
                      <a:r>
                        <a:rPr lang="en-US" sz="1300" b="1" dirty="0">
                          <a:solidFill>
                            <a:srgbClr val="FFFFFF"/>
                          </a:solidFill>
                        </a:rPr>
                        <a:t>أدنى غرامة (ج.م)</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ctr" indent="0" marL="0">
                        <a:buNone/>
                      </a:pPr>
                      <a:r>
                        <a:rPr lang="en-US" sz="1300" b="1" dirty="0">
                          <a:solidFill>
                            <a:srgbClr val="FFFFFF"/>
                          </a:solidFill>
                        </a:rPr>
                        <a:t>أقصى غرامة (ج.م)</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ctr" indent="0" marL="0">
                        <a:buNone/>
                      </a:pPr>
                      <a:r>
                        <a:rPr lang="en-US" sz="1300" b="1" dirty="0">
                          <a:solidFill>
                            <a:srgbClr val="FFFFFF"/>
                          </a:solidFill>
                        </a:rPr>
                        <a:t>حبس؟</a:t>
                      </a:r>
                      <a:endParaRPr lang="en-US" sz="130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r>
              <a:tr h="457200">
                <a:tc>
                  <a:txBody>
                    <a:bodyPr/>
                    <a:lstStyle/>
                    <a:p>
                      <a:pPr algn="r" indent="0" marL="0">
                        <a:buNone/>
                      </a:pPr>
                      <a:r>
                        <a:rPr lang="en-US" sz="1250" b="1" dirty="0">
                          <a:solidFill>
                            <a:srgbClr val="E3C682"/>
                          </a:solidFill>
                        </a:rPr>
                        <a:t>مخالفة عامة</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9FB0C8"/>
                          </a:solidFill>
                        </a:rPr>
                        <a:t>لا</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457200">
                <a:tc>
                  <a:txBody>
                    <a:bodyPr/>
                    <a:lstStyle/>
                    <a:p>
                      <a:pPr algn="r" indent="0" marL="0">
                        <a:buNone/>
                      </a:pPr>
                      <a:r>
                        <a:rPr lang="en-US" sz="1250" b="1" dirty="0">
                          <a:solidFill>
                            <a:srgbClr val="E3C682"/>
                          </a:solidFill>
                        </a:rPr>
                        <a:t>مخالفة الترخيص</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500,000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5,000,000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E23A52"/>
                          </a:solidFill>
                        </a:rPr>
                        <a:t>نعم</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457200">
                <a:tc>
                  <a:txBody>
                    <a:bodyPr/>
                    <a:lstStyle/>
                    <a:p>
                      <a:pPr algn="r" indent="0" marL="0">
                        <a:buNone/>
                      </a:pPr>
                      <a:r>
                        <a:rPr lang="en-US" sz="1250" b="1" dirty="0">
                          <a:solidFill>
                            <a:srgbClr val="E3C682"/>
                          </a:solidFill>
                        </a:rPr>
                        <a:t>اختراق أمن البيانات</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300,000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3,000,000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E23A52"/>
                          </a:solidFill>
                        </a:rPr>
                        <a:t>نعم</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457200">
                <a:tc>
                  <a:txBody>
                    <a:bodyPr/>
                    <a:lstStyle/>
                    <a:p>
                      <a:pPr algn="r" indent="0" marL="0">
                        <a:buNone/>
                      </a:pPr>
                      <a:r>
                        <a:rPr lang="en-US" sz="1250" b="1" dirty="0">
                          <a:solidFill>
                            <a:srgbClr val="E3C682"/>
                          </a:solidFill>
                        </a:rPr>
                        <a:t>تسويق غير مشروع</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200,000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2,000,000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9FB0C8"/>
                          </a:solidFill>
                        </a:rPr>
                        <a:t>لا</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457200">
                <a:tc>
                  <a:txBody>
                    <a:bodyPr/>
                    <a:lstStyle/>
                    <a:p>
                      <a:pPr algn="r" indent="0" marL="0">
                        <a:buNone/>
                      </a:pPr>
                      <a:r>
                        <a:rPr lang="en-US" sz="1250" b="1" dirty="0">
                          <a:solidFill>
                            <a:srgbClr val="E3C682"/>
                          </a:solidFill>
                        </a:rPr>
                        <a:t>عدم تعيين مسؤول</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F6F1E7"/>
                          </a:solidFill>
                        </a:rPr>
                        <a:t>2,000,000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algn="ctr" indent="0" marL="0">
                        <a:buNone/>
                      </a:pPr>
                      <a:r>
                        <a:rPr lang="en-US" sz="1250" dirty="0">
                          <a:solidFill>
                            <a:srgbClr val="9FB0C8"/>
                          </a:solidFill>
                        </a:rPr>
                        <a:t>لا</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457200">
                <a:tc>
                  <a:txBody>
                    <a:bodyPr/>
                    <a:lstStyle/>
                    <a:p>
                      <a:pPr algn="r" indent="0" marL="0">
                        <a:buNone/>
                      </a:pPr>
                      <a:r>
                        <a:rPr lang="en-US" sz="1250" b="1" dirty="0">
                          <a:solidFill>
                            <a:srgbClr val="E3C682"/>
                          </a:solidFill>
                        </a:rPr>
                        <a:t>بيانات حسّاسة / نقل غير قانوني</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300,000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F6F1E7"/>
                          </a:solidFill>
                        </a:rPr>
                        <a:t>5,000,000</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algn="ctr" indent="0" marL="0">
                        <a:buNone/>
                      </a:pPr>
                      <a:r>
                        <a:rPr lang="en-US" sz="1250" dirty="0">
                          <a:solidFill>
                            <a:srgbClr val="E23A52"/>
                          </a:solidFill>
                        </a:rPr>
                        <a:t>نعم</a:t>
                      </a:r>
                      <a:endParaRPr lang="en-US" sz="12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bl>
          </a:graphicData>
        </a:graphic>
      </p:graphicFrame>
      <p:sp>
        <p:nvSpPr>
          <p:cNvPr id="9" name="Text 6"/>
          <p:cNvSpPr/>
          <p:nvPr/>
        </p:nvSpPr>
        <p:spPr>
          <a:xfrm>
            <a:off x="640080" y="5989320"/>
            <a:ext cx="10908792" cy="365760"/>
          </a:xfrm>
          <a:prstGeom prst="rect">
            <a:avLst/>
          </a:prstGeom>
          <a:noFill/>
          <a:ln/>
        </p:spPr>
        <p:txBody>
          <a:bodyPr wrap="square" rtlCol="0" anchor="ctr"/>
          <a:lstStyle/>
          <a:p>
            <a:pPr rtl="1" algn="r" indent="0" marL="0">
              <a:buNone/>
            </a:pPr>
            <a:r>
              <a:rPr lang="en-US" sz="1250" i="1" dirty="0">
                <a:solidFill>
                  <a:srgbClr val="E23A52"/>
                </a:solidFill>
                <a:latin typeface="Arial" pitchFamily="34" charset="0"/>
                <a:ea typeface="Arial" pitchFamily="34" charset="-122"/>
                <a:cs typeface="Arial" pitchFamily="34" charset="-120"/>
              </a:rPr>
              <a:t>المخالفات المتكرّرة قد تضاعف الغرامة، والمخالفات الجنائية تضيف الحبس.</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خروج البيانات من مصر</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ترسل بيانات للخارج؟ ثلاث بوابات.</a:t>
            </a:r>
            <a:endParaRPr lang="en-US" sz="3300" dirty="0"/>
          </a:p>
        </p:txBody>
      </p:sp>
      <p:sp>
        <p:nvSpPr>
          <p:cNvPr id="8" name="Shape 6"/>
          <p:cNvSpPr/>
          <p:nvPr/>
        </p:nvSpPr>
        <p:spPr>
          <a:xfrm>
            <a:off x="8095488" y="2377440"/>
            <a:ext cx="3453384"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296656" y="2542032"/>
            <a:ext cx="3051048"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حماية كافية</a:t>
            </a:r>
            <a:endParaRPr lang="en-US" sz="1600" dirty="0"/>
          </a:p>
        </p:txBody>
      </p:sp>
      <p:sp>
        <p:nvSpPr>
          <p:cNvPr id="10" name="Text 8"/>
          <p:cNvSpPr/>
          <p:nvPr/>
        </p:nvSpPr>
        <p:spPr>
          <a:xfrm>
            <a:off x="8296656" y="3054096"/>
            <a:ext cx="3051048" cy="786384"/>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يجب أن تحمي الدولة المستقبِلة البيانات بمستوى لا يقل عن مصر.</a:t>
            </a:r>
            <a:endParaRPr lang="en-US" sz="1250" dirty="0"/>
          </a:p>
        </p:txBody>
      </p:sp>
      <p:sp>
        <p:nvSpPr>
          <p:cNvPr id="11" name="Shape 9"/>
          <p:cNvSpPr/>
          <p:nvPr/>
        </p:nvSpPr>
        <p:spPr>
          <a:xfrm>
            <a:off x="4367784" y="2377440"/>
            <a:ext cx="3453384"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8952" y="2542032"/>
            <a:ext cx="3051048"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ترخيص المركز أولًا</a:t>
            </a:r>
            <a:endParaRPr lang="en-US" sz="1600" dirty="0"/>
          </a:p>
        </p:txBody>
      </p:sp>
      <p:sp>
        <p:nvSpPr>
          <p:cNvPr id="13" name="Text 11"/>
          <p:cNvSpPr/>
          <p:nvPr/>
        </p:nvSpPr>
        <p:spPr>
          <a:xfrm>
            <a:off x="4568952" y="3054096"/>
            <a:ext cx="3051048" cy="786384"/>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ترخيص معتمَد قبل أي نقل (المادة 14).</a:t>
            </a:r>
            <a:endParaRPr lang="en-US" sz="1250" dirty="0"/>
          </a:p>
        </p:txBody>
      </p:sp>
      <p:sp>
        <p:nvSpPr>
          <p:cNvPr id="14" name="Shape 12"/>
          <p:cNvSpPr/>
          <p:nvPr/>
        </p:nvSpPr>
        <p:spPr>
          <a:xfrm>
            <a:off x="640080" y="2377440"/>
            <a:ext cx="3453384"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41248" y="2542032"/>
            <a:ext cx="3051048"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90 يومًا، الصمت رفض</a:t>
            </a:r>
            <a:endParaRPr lang="en-US" sz="1600" dirty="0"/>
          </a:p>
        </p:txBody>
      </p:sp>
      <p:sp>
        <p:nvSpPr>
          <p:cNvPr id="16" name="Text 14"/>
          <p:cNvSpPr/>
          <p:nvPr/>
        </p:nvSpPr>
        <p:spPr>
          <a:xfrm>
            <a:off x="841248" y="3054096"/>
            <a:ext cx="3051048" cy="786384"/>
          </a:xfrm>
          <a:prstGeom prst="rect">
            <a:avLst/>
          </a:prstGeom>
          <a:noFill/>
          <a:ln/>
        </p:spPr>
        <p:txBody>
          <a:bodyPr wrap="square" rtlCol="0" anchor="t"/>
          <a:lstStyle/>
          <a:p>
            <a:pPr rtl="1" algn="r" indent="0" marL="0">
              <a:buNone/>
            </a:pPr>
            <a:r>
              <a:rPr lang="en-US" sz="1250" dirty="0">
                <a:solidFill>
                  <a:srgbClr val="D9E0EC"/>
                </a:solidFill>
                <a:latin typeface="Arial" pitchFamily="34" charset="0"/>
                <a:ea typeface="Arial" pitchFamily="34" charset="-122"/>
                <a:cs typeface="Arial" pitchFamily="34" charset="-120"/>
              </a:rPr>
              <a:t>يبتّ المركز خلال 90 يومًا، وعدم الرد يعني الرفض.</a:t>
            </a:r>
            <a:endParaRPr lang="en-US" sz="1250" dirty="0"/>
          </a:p>
        </p:txBody>
      </p:sp>
      <p:sp>
        <p:nvSpPr>
          <p:cNvPr id="17" name="Shape 15"/>
          <p:cNvSpPr/>
          <p:nvPr/>
        </p:nvSpPr>
        <p:spPr>
          <a:xfrm>
            <a:off x="640080" y="4206240"/>
            <a:ext cx="10908792" cy="914400"/>
          </a:xfrm>
          <a:prstGeom prst="rect">
            <a:avLst/>
          </a:prstGeom>
          <a:solidFill>
            <a:srgbClr val="122440"/>
          </a:solidFill>
          <a:ln w="12700">
            <a:solidFill>
              <a:srgbClr val="2C4060"/>
            </a:solidFill>
            <a:prstDash val="solid"/>
          </a:ln>
        </p:spPr>
      </p:sp>
      <p:sp>
        <p:nvSpPr>
          <p:cNvPr id="18" name="Shape 16"/>
          <p:cNvSpPr/>
          <p:nvPr/>
        </p:nvSpPr>
        <p:spPr>
          <a:xfrm>
            <a:off x="11484864" y="4206240"/>
            <a:ext cx="64008" cy="914400"/>
          </a:xfrm>
          <a:prstGeom prst="rect">
            <a:avLst/>
          </a:prstGeom>
          <a:solidFill>
            <a:srgbClr val="C8A24A"/>
          </a:solidFill>
          <a:ln/>
        </p:spPr>
      </p:sp>
      <p:sp>
        <p:nvSpPr>
          <p:cNvPr id="19" name="Text 17"/>
          <p:cNvSpPr/>
          <p:nvPr/>
        </p:nvSpPr>
        <p:spPr>
          <a:xfrm>
            <a:off x="868680" y="4297680"/>
            <a:ext cx="10451592" cy="731520"/>
          </a:xfrm>
          <a:prstGeom prst="rect">
            <a:avLst/>
          </a:prstGeom>
          <a:noFill/>
          <a:ln/>
        </p:spPr>
        <p:txBody>
          <a:bodyPr wrap="square" rtlCol="0" anchor="ctr"/>
          <a:lstStyle/>
          <a:p>
            <a:pPr algn="r" indent="0" marL="0">
              <a:buNone/>
            </a:pPr>
            <a:r>
              <a:rPr lang="en-US" sz="1100" b="1" dirty="0">
                <a:solidFill>
                  <a:srgbClr val="C8A24A"/>
                </a:solidFill>
                <a:latin typeface="Arial" pitchFamily="34" charset="0"/>
                <a:ea typeface="Arial" pitchFamily="34" charset="-122"/>
                <a:cs typeface="Arial" pitchFamily="34" charset="-120"/>
              </a:rPr>
              <a:t>ببساطة  </a:t>
            </a:r>
            <a:pPr algn="r" indent="0" marL="0">
              <a:buNone/>
            </a:pPr>
            <a:r>
              <a:rPr lang="en-US" sz="1350" dirty="0">
                <a:solidFill>
                  <a:srgbClr val="D9E0EC"/>
                </a:solidFill>
                <a:latin typeface="Arial" pitchFamily="34" charset="0"/>
                <a:ea typeface="Arial" pitchFamily="34" charset="-122"/>
                <a:cs typeface="Arial" pitchFamily="34" charset="-120"/>
              </a:rPr>
              <a:t>لا يمكنك نقل بيانات المصريين بحرية للخارج. طابِق حماية مصر، واحصل على ترخيص المركز، وتذكّر أن صمته يعني الرفض.</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مقابل المعيار العالمي الذهبي</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القانون المصري مقابل GDPR الأوروبي</a:t>
            </a:r>
            <a:endParaRPr lang="en-US" sz="3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08792" cy="914400"/>
        </p:xfrm>
        <a:graphic>
          <a:graphicData uri="http://schemas.openxmlformats.org/drawingml/2006/table">
            <a:tbl>
              <a:tblPr/>
              <a:tblGrid>
                <a:gridCol w="3017520"/>
                <a:gridCol w="3931920"/>
                <a:gridCol w="3931920"/>
              </a:tblGrid>
              <a:tr h="502920">
                <a:tc>
                  <a:txBody>
                    <a:bodyPr/>
                    <a:lstStyle/>
                    <a:p>
                      <a:pPr algn="r" indent="0" marL="0">
                        <a:buNone/>
                      </a:pPr>
                      <a:r>
                        <a:rPr lang="en-US" sz="1250" b="1" dirty="0">
                          <a:solidFill>
                            <a:srgbClr val="FFFFFF"/>
                          </a:solidFill>
                        </a:rPr>
                        <a:t>البند</a:t>
                      </a:r>
                      <a:endParaRPr lang="en-US" sz="125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r" indent="0" marL="0">
                        <a:buNone/>
                      </a:pPr>
                      <a:r>
                        <a:rPr lang="en-US" sz="1250" b="1" dirty="0">
                          <a:solidFill>
                            <a:srgbClr val="FFFFFF"/>
                          </a:solidFill>
                        </a:rPr>
                        <a:t>مصر: 151/2020</a:t>
                      </a:r>
                      <a:endParaRPr lang="en-US" sz="125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c>
                  <a:txBody>
                    <a:bodyPr/>
                    <a:lstStyle/>
                    <a:p>
                      <a:pPr algn="r" indent="0" marL="0">
                        <a:buNone/>
                      </a:pPr>
                      <a:r>
                        <a:rPr lang="en-US" sz="1250" b="1" dirty="0">
                          <a:solidFill>
                            <a:srgbClr val="FFFFFF"/>
                          </a:solidFill>
                        </a:rPr>
                        <a:t>الاتحاد الأوروبي: GDPR</a:t>
                      </a:r>
                      <a:endParaRPr lang="en-US" sz="1250" dirty="0"/>
                    </a:p>
                  </a:txBody>
                  <a:tcPr marL="91440" marR="91440" marT="45720" marB="45720">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0E2444"/>
                    </a:solidFill>
                  </a:tcPr>
                </a:tc>
              </a:tr>
              <a:tr h="502920">
                <a:tc>
                  <a:txBody>
                    <a:bodyPr/>
                    <a:lstStyle/>
                    <a:p>
                      <a:pPr rtl="1" algn="r" indent="0" marL="0">
                        <a:buNone/>
                      </a:pPr>
                      <a:r>
                        <a:rPr lang="en-US" sz="1150" b="1" dirty="0">
                          <a:solidFill>
                            <a:srgbClr val="E3C682"/>
                          </a:solidFill>
                        </a:rPr>
                        <a:t>الأسس القانونية</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ستة أسس (م.6)</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ستة أسس (م.6)</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502920">
                <a:tc>
                  <a:txBody>
                    <a:bodyPr/>
                    <a:lstStyle/>
                    <a:p>
                      <a:pPr rtl="1" algn="r" indent="0" marL="0">
                        <a:buNone/>
                      </a:pPr>
                      <a:r>
                        <a:rPr lang="en-US" sz="1150" b="1" dirty="0">
                          <a:solidFill>
                            <a:srgbClr val="E3C682"/>
                          </a:solidFill>
                        </a:rPr>
                        <a:t>الموافقة</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rtl="1" algn="r" indent="0" marL="0">
                        <a:buNone/>
                      </a:pPr>
                      <a:r>
                        <a:rPr lang="en-US" sz="1150" dirty="0">
                          <a:solidFill>
                            <a:srgbClr val="D9E0EC"/>
                          </a:solidFill>
                        </a:rPr>
                        <a:t>صريحة؛ لازمة للحسّاسة</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rtl="1" algn="r" indent="0" marL="0">
                        <a:buNone/>
                      </a:pPr>
                      <a:r>
                        <a:rPr lang="en-US" sz="1150" dirty="0">
                          <a:solidFill>
                            <a:srgbClr val="D9E0EC"/>
                          </a:solidFill>
                        </a:rPr>
                        <a:t>أحد ستة أسس؛ صريحة للخاصة</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502920">
                <a:tc>
                  <a:txBody>
                    <a:bodyPr/>
                    <a:lstStyle/>
                    <a:p>
                      <a:pPr rtl="1" algn="r" indent="0" marL="0">
                        <a:buNone/>
                      </a:pPr>
                      <a:r>
                        <a:rPr lang="en-US" sz="1150" b="1" dirty="0">
                          <a:solidFill>
                            <a:srgbClr val="E3C682"/>
                          </a:solidFill>
                        </a:rPr>
                        <a:t>مسؤول الحماية</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إلزامي للجميع (م.8)</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لبعض المتحكّمين فقط</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502920">
                <a:tc>
                  <a:txBody>
                    <a:bodyPr/>
                    <a:lstStyle/>
                    <a:p>
                      <a:pPr rtl="1" algn="r" indent="0" marL="0">
                        <a:buNone/>
                      </a:pPr>
                      <a:r>
                        <a:rPr lang="en-US" sz="1150" b="1" dirty="0">
                          <a:solidFill>
                            <a:srgbClr val="E3C682"/>
                          </a:solidFill>
                        </a:rPr>
                        <a:t>الإبلاغ عن الاختراق</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rtl="1" algn="r" indent="0" marL="0">
                        <a:buNone/>
                      </a:pPr>
                      <a:r>
                        <a:rPr lang="en-US" sz="1150" dirty="0">
                          <a:solidFill>
                            <a:srgbClr val="D9E0EC"/>
                          </a:solidFill>
                        </a:rPr>
                        <a:t>72 ساعة للمركز؛ 3 أيام للأفراد</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rtl="1" algn="r" indent="0" marL="0">
                        <a:buNone/>
                      </a:pPr>
                      <a:r>
                        <a:rPr lang="en-US" sz="1150" dirty="0">
                          <a:solidFill>
                            <a:srgbClr val="D9E0EC"/>
                          </a:solidFill>
                        </a:rPr>
                        <a:t>72 ساعة للجهة؛ الأفراد عند الخطر</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502920">
                <a:tc>
                  <a:txBody>
                    <a:bodyPr/>
                    <a:lstStyle/>
                    <a:p>
                      <a:pPr rtl="1" algn="r" indent="0" marL="0">
                        <a:buNone/>
                      </a:pPr>
                      <a:r>
                        <a:rPr lang="en-US" sz="1150" b="1" dirty="0">
                          <a:solidFill>
                            <a:srgbClr val="E3C682"/>
                          </a:solidFill>
                        </a:rPr>
                        <a:t>أقصى غرامة</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5 مليون ج.م + احتمال الحبس</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20 مليون يورو أو 4% من الإيرادات</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r h="502920">
                <a:tc>
                  <a:txBody>
                    <a:bodyPr/>
                    <a:lstStyle/>
                    <a:p>
                      <a:pPr rtl="1" algn="r" indent="0" marL="0">
                        <a:buNone/>
                      </a:pPr>
                      <a:r>
                        <a:rPr lang="en-US" sz="1150" b="1" dirty="0">
                          <a:solidFill>
                            <a:srgbClr val="E3C682"/>
                          </a:solidFill>
                        </a:rPr>
                        <a:t>النقل الخارجي</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rtl="1" algn="r" indent="0" marL="0">
                        <a:buNone/>
                      </a:pPr>
                      <a:r>
                        <a:rPr lang="en-US" sz="1150" dirty="0">
                          <a:solidFill>
                            <a:srgbClr val="D9E0EC"/>
                          </a:solidFill>
                        </a:rPr>
                        <a:t>ترخيص المركز + كفاية؛ 90 يومًا</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c>
                  <a:txBody>
                    <a:bodyPr/>
                    <a:lstStyle/>
                    <a:p>
                      <a:pPr rtl="1" algn="r" indent="0" marL="0">
                        <a:buNone/>
                      </a:pPr>
                      <a:r>
                        <a:rPr lang="en-US" sz="1150" dirty="0">
                          <a:solidFill>
                            <a:srgbClr val="D9E0EC"/>
                          </a:solidFill>
                        </a:rPr>
                        <a:t>كفاية أو SCCs أو BCRs</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22440"/>
                    </a:solidFill>
                  </a:tcPr>
                </a:tc>
              </a:tr>
              <a:tr h="502920">
                <a:tc>
                  <a:txBody>
                    <a:bodyPr/>
                    <a:lstStyle/>
                    <a:p>
                      <a:pPr rtl="1" algn="r" indent="0" marL="0">
                        <a:buNone/>
                      </a:pPr>
                      <a:r>
                        <a:rPr lang="en-US" sz="1150" b="1" dirty="0">
                          <a:solidFill>
                            <a:srgbClr val="E3C682"/>
                          </a:solidFill>
                        </a:rPr>
                        <a:t>الجهة المنظِّمة</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المركز (تحت وزارة الاتصالات)</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c>
                  <a:txBody>
                    <a:bodyPr/>
                    <a:lstStyle/>
                    <a:p>
                      <a:pPr rtl="1" algn="r" indent="0" marL="0">
                        <a:buNone/>
                      </a:pPr>
                      <a:r>
                        <a:rPr lang="en-US" sz="1150" dirty="0">
                          <a:solidFill>
                            <a:srgbClr val="D9E0EC"/>
                          </a:solidFill>
                        </a:rPr>
                        <a:t>هيئات وطنية / المجلس الأوروبي</a:t>
                      </a:r>
                      <a:endParaRPr lang="en-US" sz="1150" dirty="0"/>
                    </a:p>
                  </a:txBody>
                  <a:tcPr marL="91440" marR="91440" marT="45720" marB="45720" anchor="ctr">
                    <a:lnL w="12700" cap="flat" cmpd="sng" algn="ctr">
                      <a:solidFill>
                        <a:srgbClr val="2C4060"/>
                      </a:solidFill>
                      <a:prstDash val="solid"/>
                      <a:round/>
                      <a:headEnd type="none" w="med" len="med"/>
                      <a:tailEnd type="none" w="med" len="med"/>
                    </a:lnL>
                    <a:lnR w="12700" cap="flat" cmpd="sng" algn="ctr">
                      <a:solidFill>
                        <a:srgbClr val="2C4060"/>
                      </a:solidFill>
                      <a:prstDash val="solid"/>
                      <a:round/>
                      <a:headEnd type="none" w="med" len="med"/>
                      <a:tailEnd type="none" w="med" len="med"/>
                    </a:lnR>
                    <a:lnT w="12700" cap="flat" cmpd="sng" algn="ctr">
                      <a:solidFill>
                        <a:srgbClr val="2C4060"/>
                      </a:solidFill>
                      <a:prstDash val="solid"/>
                      <a:round/>
                      <a:headEnd type="none" w="med" len="med"/>
                      <a:tailEnd type="none" w="med" len="med"/>
                    </a:lnT>
                    <a:lnB w="12700" cap="flat" cmpd="sng" algn="ctr">
                      <a:solidFill>
                        <a:srgbClr val="2C4060"/>
                      </a:solidFill>
                      <a:prstDash val="solid"/>
                      <a:round/>
                      <a:headEnd type="none" w="med" len="med"/>
                      <a:tailEnd type="none" w="med" len="med"/>
                    </a:lnB>
                    <a:solidFill>
                      <a:srgbClr val="172C4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على أرض الواقع في مصر</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ما الذي يتغيّر، قطاعًا بقطاع</a:t>
            </a:r>
            <a:endParaRPr lang="en-US" sz="3300" dirty="0"/>
          </a:p>
        </p:txBody>
      </p:sp>
      <p:sp>
        <p:nvSpPr>
          <p:cNvPr id="8" name="Shape 6"/>
          <p:cNvSpPr/>
          <p:nvPr/>
        </p:nvSpPr>
        <p:spPr>
          <a:xfrm>
            <a:off x="8083296" y="2331720"/>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8284464" y="2496312"/>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البنوك</a:t>
            </a:r>
            <a:endParaRPr lang="en-US" sz="1500" dirty="0"/>
          </a:p>
        </p:txBody>
      </p:sp>
      <p:sp>
        <p:nvSpPr>
          <p:cNvPr id="10" name="Text 8"/>
          <p:cNvSpPr/>
          <p:nvPr/>
        </p:nvSpPr>
        <p:spPr>
          <a:xfrm>
            <a:off x="8284464" y="3008376"/>
            <a:ext cx="3063240" cy="64922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CIB وبنك مصر: تحديث السياسات، موافقة صريحة، تعزيز الأمن.</a:t>
            </a:r>
            <a:endParaRPr lang="en-US" sz="1150" dirty="0"/>
          </a:p>
        </p:txBody>
      </p:sp>
      <p:sp>
        <p:nvSpPr>
          <p:cNvPr id="11" name="Shape 9"/>
          <p:cNvSpPr/>
          <p:nvPr/>
        </p:nvSpPr>
        <p:spPr>
          <a:xfrm>
            <a:off x="4361688" y="2331720"/>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4562856" y="2496312"/>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التجارة الإلكترونية</a:t>
            </a:r>
            <a:endParaRPr lang="en-US" sz="1500" dirty="0"/>
          </a:p>
        </p:txBody>
      </p:sp>
      <p:sp>
        <p:nvSpPr>
          <p:cNvPr id="13" name="Text 11"/>
          <p:cNvSpPr/>
          <p:nvPr/>
        </p:nvSpPr>
        <p:spPr>
          <a:xfrm>
            <a:off x="4562856" y="3008376"/>
            <a:ext cx="3063240" cy="64922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جوميا وأمازون مصر: إعادة صياغة الاتفاقيات وخيارات الموافقة.</a:t>
            </a:r>
            <a:endParaRPr lang="en-US" sz="1150" dirty="0"/>
          </a:p>
        </p:txBody>
      </p:sp>
      <p:sp>
        <p:nvSpPr>
          <p:cNvPr id="14" name="Shape 12"/>
          <p:cNvSpPr/>
          <p:nvPr/>
        </p:nvSpPr>
        <p:spPr>
          <a:xfrm>
            <a:off x="640080" y="2331720"/>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841248" y="2496312"/>
            <a:ext cx="3063240"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الرعاية الصحية</a:t>
            </a:r>
            <a:endParaRPr lang="en-US" sz="1500" dirty="0"/>
          </a:p>
        </p:txBody>
      </p:sp>
      <p:sp>
        <p:nvSpPr>
          <p:cNvPr id="16" name="Text 14"/>
          <p:cNvSpPr/>
          <p:nvPr/>
        </p:nvSpPr>
        <p:spPr>
          <a:xfrm>
            <a:off x="841248" y="3008376"/>
            <a:ext cx="3063240" cy="64922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المستشفيات: سجلّات المرضى بيانات حسّاسة؛ موافقة صريحة للمشاركة.</a:t>
            </a:r>
            <a:endParaRPr lang="en-US" sz="1150" dirty="0"/>
          </a:p>
        </p:txBody>
      </p:sp>
      <p:sp>
        <p:nvSpPr>
          <p:cNvPr id="17" name="Shape 15"/>
          <p:cNvSpPr/>
          <p:nvPr/>
        </p:nvSpPr>
        <p:spPr>
          <a:xfrm>
            <a:off x="8083296" y="4005072"/>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284464" y="4169664"/>
            <a:ext cx="3063240" cy="411480"/>
          </a:xfrm>
          <a:prstGeom prst="rect">
            <a:avLst/>
          </a:prstGeom>
          <a:noFill/>
          <a:ln/>
        </p:spPr>
        <p:txBody>
          <a:bodyPr wrap="square" rtlCol="0" anchor="ctr"/>
          <a:lstStyle/>
          <a:p>
            <a:pPr rtl="1" algn="r" indent="0" marL="0">
              <a:buNone/>
            </a:pPr>
            <a:r>
              <a:rPr lang="en-US" sz="1500" dirty="0">
                <a:solidFill>
                  <a:srgbClr val="FFFFFF"/>
                </a:solidFill>
                <a:latin typeface="Arial" pitchFamily="34" charset="0"/>
                <a:ea typeface="Arial" pitchFamily="34" charset="-122"/>
                <a:cs typeface="Arial" pitchFamily="34" charset="-120"/>
              </a:rPr>
              <a:t>الاتصالات</a:t>
            </a:r>
            <a:endParaRPr lang="en-US" sz="1500" dirty="0"/>
          </a:p>
        </p:txBody>
      </p:sp>
      <p:sp>
        <p:nvSpPr>
          <p:cNvPr id="19" name="Text 17"/>
          <p:cNvSpPr/>
          <p:nvPr/>
        </p:nvSpPr>
        <p:spPr>
          <a:xfrm>
            <a:off x="8284464" y="4572000"/>
            <a:ext cx="3063240" cy="758952"/>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فودافون وأورنج واتصالات: تعديل الاتفاقيات وتحديثات أمنية.</a:t>
            </a:r>
            <a:endParaRPr lang="en-US" sz="1150" dirty="0"/>
          </a:p>
        </p:txBody>
      </p:sp>
      <p:sp>
        <p:nvSpPr>
          <p:cNvPr id="20" name="Shape 18"/>
          <p:cNvSpPr/>
          <p:nvPr/>
        </p:nvSpPr>
        <p:spPr>
          <a:xfrm>
            <a:off x="4361688" y="4005072"/>
            <a:ext cx="3465576" cy="1417320"/>
          </a:xfrm>
          <a:prstGeom prst="roundRect">
            <a:avLst>
              <a:gd name="adj" fmla="val 5806"/>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4562856" y="4169664"/>
            <a:ext cx="3063240" cy="411480"/>
          </a:xfrm>
          <a:prstGeom prst="rect">
            <a:avLst/>
          </a:prstGeom>
          <a:noFill/>
          <a:ln/>
        </p:spPr>
        <p:txBody>
          <a:bodyPr wrap="square" rtlCol="0" anchor="ctr"/>
          <a:lstStyle/>
          <a:p>
            <a:pPr rtl="1" algn="r" indent="0" marL="0">
              <a:buNone/>
            </a:pPr>
            <a:r>
              <a:rPr lang="en-US" sz="1500" dirty="0">
                <a:solidFill>
                  <a:srgbClr val="FFFFFF"/>
                </a:solidFill>
                <a:latin typeface="Arial" pitchFamily="34" charset="0"/>
                <a:ea typeface="Arial" pitchFamily="34" charset="-122"/>
                <a:cs typeface="Arial" pitchFamily="34" charset="-120"/>
              </a:rPr>
              <a:t>الحكومة</a:t>
            </a:r>
            <a:endParaRPr lang="en-US" sz="1500" dirty="0"/>
          </a:p>
        </p:txBody>
      </p:sp>
      <p:sp>
        <p:nvSpPr>
          <p:cNvPr id="22" name="Text 20"/>
          <p:cNvSpPr/>
          <p:nvPr/>
        </p:nvSpPr>
        <p:spPr>
          <a:xfrm>
            <a:off x="4562856" y="4572000"/>
            <a:ext cx="3063240" cy="758952"/>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السجلّات الحكومية على أساس المهمة العامة لكنها ملزَمة بالأمن والحقوق.</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منظور الاستراتيجية</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الامتثال ليس تكلفة، بل ميزة.</a:t>
            </a:r>
            <a:endParaRPr lang="en-US" sz="3300" dirty="0"/>
          </a:p>
        </p:txBody>
      </p:sp>
      <p:sp>
        <p:nvSpPr>
          <p:cNvPr id="8" name="Shape 6"/>
          <p:cNvSpPr/>
          <p:nvPr/>
        </p:nvSpPr>
        <p:spPr>
          <a:xfrm>
            <a:off x="9027414"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228582" y="263347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حوكمة تقنية المعلومات</a:t>
            </a:r>
            <a:endParaRPr lang="en-US" sz="1500" dirty="0"/>
          </a:p>
        </p:txBody>
      </p:sp>
      <p:sp>
        <p:nvSpPr>
          <p:cNvPr id="10" name="Text 8"/>
          <p:cNvSpPr/>
          <p:nvPr/>
        </p:nvSpPr>
        <p:spPr>
          <a:xfrm>
            <a:off x="9228582" y="3145536"/>
            <a:ext cx="2119122" cy="78638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إعادة تصميم الجرد والتصنيف والتحكّم في الوصول.</a:t>
            </a:r>
            <a:endParaRPr lang="en-US" sz="1150" dirty="0"/>
          </a:p>
        </p:txBody>
      </p:sp>
      <p:sp>
        <p:nvSpPr>
          <p:cNvPr id="11" name="Shape 9"/>
          <p:cNvSpPr/>
          <p:nvPr/>
        </p:nvSpPr>
        <p:spPr>
          <a:xfrm>
            <a:off x="6231636"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2" name="Text 10"/>
          <p:cNvSpPr/>
          <p:nvPr/>
        </p:nvSpPr>
        <p:spPr>
          <a:xfrm>
            <a:off x="6432804" y="263347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ثقة العملاء</a:t>
            </a:r>
            <a:endParaRPr lang="en-US" sz="1500" dirty="0"/>
          </a:p>
        </p:txBody>
      </p:sp>
      <p:sp>
        <p:nvSpPr>
          <p:cNvPr id="13" name="Text 11"/>
          <p:cNvSpPr/>
          <p:nvPr/>
        </p:nvSpPr>
        <p:spPr>
          <a:xfrm>
            <a:off x="6432804" y="3145536"/>
            <a:ext cx="2119122" cy="78638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الامتثال الظاهر يدل على الجدارة بالثقة.</a:t>
            </a:r>
            <a:endParaRPr lang="en-US" sz="1150" dirty="0"/>
          </a:p>
        </p:txBody>
      </p:sp>
      <p:sp>
        <p:nvSpPr>
          <p:cNvPr id="14" name="Shape 12"/>
          <p:cNvSpPr/>
          <p:nvPr/>
        </p:nvSpPr>
        <p:spPr>
          <a:xfrm>
            <a:off x="3435858"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5" name="Text 13"/>
          <p:cNvSpPr/>
          <p:nvPr/>
        </p:nvSpPr>
        <p:spPr>
          <a:xfrm>
            <a:off x="3637026" y="263347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الاستثمار</a:t>
            </a:r>
            <a:endParaRPr lang="en-US" sz="1500" dirty="0"/>
          </a:p>
        </p:txBody>
      </p:sp>
      <p:sp>
        <p:nvSpPr>
          <p:cNvPr id="16" name="Text 14"/>
          <p:cNvSpPr/>
          <p:nvPr/>
        </p:nvSpPr>
        <p:spPr>
          <a:xfrm>
            <a:off x="3637026" y="3145536"/>
            <a:ext cx="2119122" cy="78638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حماية موازية لـGDPR تجذب الاستثمار الأجنبي.</a:t>
            </a:r>
            <a:endParaRPr lang="en-US" sz="1150" dirty="0"/>
          </a:p>
        </p:txBody>
      </p:sp>
      <p:sp>
        <p:nvSpPr>
          <p:cNvPr id="17" name="Shape 15"/>
          <p:cNvSpPr/>
          <p:nvPr/>
        </p:nvSpPr>
        <p:spPr>
          <a:xfrm>
            <a:off x="640080" y="2468880"/>
            <a:ext cx="2521458" cy="1554480"/>
          </a:xfrm>
          <a:prstGeom prst="roundRect">
            <a:avLst>
              <a:gd name="adj" fmla="val 5294"/>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8" name="Text 16"/>
          <p:cNvSpPr/>
          <p:nvPr/>
        </p:nvSpPr>
        <p:spPr>
          <a:xfrm>
            <a:off x="841248" y="2633472"/>
            <a:ext cx="2119122" cy="457200"/>
          </a:xfrm>
          <a:prstGeom prst="rect">
            <a:avLst/>
          </a:prstGeom>
          <a:noFill/>
          <a:ln/>
        </p:spPr>
        <p:txBody>
          <a:bodyPr wrap="square"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تقليل المخاطر</a:t>
            </a:r>
            <a:endParaRPr lang="en-US" sz="1500" dirty="0"/>
          </a:p>
        </p:txBody>
      </p:sp>
      <p:sp>
        <p:nvSpPr>
          <p:cNvPr id="19" name="Text 17"/>
          <p:cNvSpPr/>
          <p:nvPr/>
        </p:nvSpPr>
        <p:spPr>
          <a:xfrm>
            <a:off x="841248" y="3145536"/>
            <a:ext cx="2119122" cy="786384"/>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اختراقات وغرامات أقل ووضع أمني أقوى.</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ما يجب فعله قبل نوفمبر 2026</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خارطة امتثال من أربع خطوات</a:t>
            </a:r>
            <a:endParaRPr lang="en-US" sz="3300" dirty="0"/>
          </a:p>
        </p:txBody>
      </p:sp>
      <p:sp>
        <p:nvSpPr>
          <p:cNvPr id="8" name="Shape 6"/>
          <p:cNvSpPr/>
          <p:nvPr/>
        </p:nvSpPr>
        <p:spPr>
          <a:xfrm>
            <a:off x="9027414"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9" name="Text 7"/>
          <p:cNvSpPr/>
          <p:nvPr/>
        </p:nvSpPr>
        <p:spPr>
          <a:xfrm>
            <a:off x="9228582" y="2596896"/>
            <a:ext cx="2119122" cy="365760"/>
          </a:xfrm>
          <a:prstGeom prst="rect">
            <a:avLst/>
          </a:prstGeom>
          <a:noFill/>
          <a:ln/>
        </p:spPr>
        <p:txBody>
          <a:bodyPr wrap="square" rtlCol="0" anchor="ctr"/>
          <a:lstStyle/>
          <a:p>
            <a:pPr rtl="1" algn="r" indent="0" marL="0">
              <a:buNone/>
            </a:pPr>
            <a:r>
              <a:rPr lang="en-US" sz="2000" b="1" dirty="0">
                <a:solidFill>
                  <a:srgbClr val="E3C682"/>
                </a:solidFill>
                <a:latin typeface="Arial" pitchFamily="34" charset="0"/>
                <a:ea typeface="Arial" pitchFamily="34" charset="-122"/>
                <a:cs typeface="Arial" pitchFamily="34" charset="-120"/>
              </a:rPr>
              <a:t>1</a:t>
            </a:r>
            <a:endParaRPr lang="en-US" sz="2000" dirty="0"/>
          </a:p>
        </p:txBody>
      </p:sp>
      <p:sp>
        <p:nvSpPr>
          <p:cNvPr id="10" name="Text 8"/>
          <p:cNvSpPr/>
          <p:nvPr/>
        </p:nvSpPr>
        <p:spPr>
          <a:xfrm>
            <a:off x="9228582" y="3017520"/>
            <a:ext cx="2119122"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التقييم</a:t>
            </a:r>
            <a:endParaRPr lang="en-US" sz="1600" dirty="0"/>
          </a:p>
        </p:txBody>
      </p:sp>
      <p:sp>
        <p:nvSpPr>
          <p:cNvPr id="11" name="Text 9"/>
          <p:cNvSpPr/>
          <p:nvPr/>
        </p:nvSpPr>
        <p:spPr>
          <a:xfrm>
            <a:off x="9228582" y="3529584"/>
            <a:ext cx="2119122" cy="676656"/>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دقّق بياناتك، وحدّد الفجوات، ورتّب المخاطر.</a:t>
            </a:r>
            <a:endParaRPr lang="en-US" sz="1150" dirty="0"/>
          </a:p>
        </p:txBody>
      </p:sp>
      <p:sp>
        <p:nvSpPr>
          <p:cNvPr id="12" name="Shape 10"/>
          <p:cNvSpPr/>
          <p:nvPr/>
        </p:nvSpPr>
        <p:spPr>
          <a:xfrm>
            <a:off x="6231636"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3" name="Text 11"/>
          <p:cNvSpPr/>
          <p:nvPr/>
        </p:nvSpPr>
        <p:spPr>
          <a:xfrm>
            <a:off x="6432804" y="2596896"/>
            <a:ext cx="2119122" cy="365760"/>
          </a:xfrm>
          <a:prstGeom prst="rect">
            <a:avLst/>
          </a:prstGeom>
          <a:noFill/>
          <a:ln/>
        </p:spPr>
        <p:txBody>
          <a:bodyPr wrap="square" rtlCol="0" anchor="ctr"/>
          <a:lstStyle/>
          <a:p>
            <a:pPr rtl="1" algn="r" indent="0" marL="0">
              <a:buNone/>
            </a:pPr>
            <a:r>
              <a:rPr lang="en-US" sz="2000" b="1" dirty="0">
                <a:solidFill>
                  <a:srgbClr val="E3C682"/>
                </a:solidFill>
                <a:latin typeface="Arial" pitchFamily="34" charset="0"/>
                <a:ea typeface="Arial" pitchFamily="34" charset="-122"/>
                <a:cs typeface="Arial" pitchFamily="34" charset="-120"/>
              </a:rPr>
              <a:t>2</a:t>
            </a:r>
            <a:endParaRPr lang="en-US" sz="2000" dirty="0"/>
          </a:p>
        </p:txBody>
      </p:sp>
      <p:sp>
        <p:nvSpPr>
          <p:cNvPr id="14" name="Text 12"/>
          <p:cNvSpPr/>
          <p:nvPr/>
        </p:nvSpPr>
        <p:spPr>
          <a:xfrm>
            <a:off x="6432804" y="3017520"/>
            <a:ext cx="2119122"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التصميم</a:t>
            </a:r>
            <a:endParaRPr lang="en-US" sz="1600" dirty="0"/>
          </a:p>
        </p:txBody>
      </p:sp>
      <p:sp>
        <p:nvSpPr>
          <p:cNvPr id="15" name="Text 13"/>
          <p:cNvSpPr/>
          <p:nvPr/>
        </p:nvSpPr>
        <p:spPr>
          <a:xfrm>
            <a:off x="6432804" y="3529584"/>
            <a:ext cx="2119122" cy="676656"/>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اكتب السياسات وأضف الضوابط والخصوصية من التصميم.</a:t>
            </a:r>
            <a:endParaRPr lang="en-US" sz="1150" dirty="0"/>
          </a:p>
        </p:txBody>
      </p:sp>
      <p:sp>
        <p:nvSpPr>
          <p:cNvPr id="16" name="Shape 14"/>
          <p:cNvSpPr/>
          <p:nvPr/>
        </p:nvSpPr>
        <p:spPr>
          <a:xfrm>
            <a:off x="3435858"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17" name="Text 15"/>
          <p:cNvSpPr/>
          <p:nvPr/>
        </p:nvSpPr>
        <p:spPr>
          <a:xfrm>
            <a:off x="3637026" y="2596896"/>
            <a:ext cx="2119122" cy="365760"/>
          </a:xfrm>
          <a:prstGeom prst="rect">
            <a:avLst/>
          </a:prstGeom>
          <a:noFill/>
          <a:ln/>
        </p:spPr>
        <p:txBody>
          <a:bodyPr wrap="square" rtlCol="0" anchor="ctr"/>
          <a:lstStyle/>
          <a:p>
            <a:pPr rtl="1" algn="r" indent="0" marL="0">
              <a:buNone/>
            </a:pPr>
            <a:r>
              <a:rPr lang="en-US" sz="2000" b="1" dirty="0">
                <a:solidFill>
                  <a:srgbClr val="E3C682"/>
                </a:solidFill>
                <a:latin typeface="Arial" pitchFamily="34" charset="0"/>
                <a:ea typeface="Arial" pitchFamily="34" charset="-122"/>
                <a:cs typeface="Arial" pitchFamily="34" charset="-120"/>
              </a:rPr>
              <a:t>3</a:t>
            </a:r>
            <a:endParaRPr lang="en-US" sz="2000" dirty="0"/>
          </a:p>
        </p:txBody>
      </p:sp>
      <p:sp>
        <p:nvSpPr>
          <p:cNvPr id="18" name="Text 16"/>
          <p:cNvSpPr/>
          <p:nvPr/>
        </p:nvSpPr>
        <p:spPr>
          <a:xfrm>
            <a:off x="3637026" y="3017520"/>
            <a:ext cx="2119122"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التنفيذ</a:t>
            </a:r>
            <a:endParaRPr lang="en-US" sz="1600" dirty="0"/>
          </a:p>
        </p:txBody>
      </p:sp>
      <p:sp>
        <p:nvSpPr>
          <p:cNvPr id="19" name="Text 17"/>
          <p:cNvSpPr/>
          <p:nvPr/>
        </p:nvSpPr>
        <p:spPr>
          <a:xfrm>
            <a:off x="3637026" y="3529584"/>
            <a:ext cx="2119122" cy="676656"/>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سجّل لدى المركز وعيّن مسؤولًا ودرّب وحدّث.</a:t>
            </a:r>
            <a:endParaRPr lang="en-US" sz="1150" dirty="0"/>
          </a:p>
        </p:txBody>
      </p:sp>
      <p:sp>
        <p:nvSpPr>
          <p:cNvPr id="20" name="Shape 18"/>
          <p:cNvSpPr/>
          <p:nvPr/>
        </p:nvSpPr>
        <p:spPr>
          <a:xfrm>
            <a:off x="640080" y="2468880"/>
            <a:ext cx="2521458" cy="1828800"/>
          </a:xfrm>
          <a:prstGeom prst="roundRect">
            <a:avLst>
              <a:gd name="adj" fmla="val 4500"/>
            </a:avLst>
          </a:prstGeom>
          <a:solidFill>
            <a:srgbClr val="122440"/>
          </a:solidFill>
          <a:ln w="12700">
            <a:solidFill>
              <a:srgbClr val="2C4060"/>
            </a:solidFill>
            <a:prstDash val="solid"/>
          </a:ln>
          <a:effectLst>
            <a:outerShdw sx="100000" sy="100000" kx="0" ky="0" algn="bl" rotWithShape="0" blurRad="88900" dist="38100" dir="8100000">
              <a:srgbClr val="000000">
                <a:alpha val="28000"/>
              </a:srgbClr>
            </a:outerShdw>
          </a:effectLst>
        </p:spPr>
      </p:sp>
      <p:sp>
        <p:nvSpPr>
          <p:cNvPr id="21" name="Text 19"/>
          <p:cNvSpPr/>
          <p:nvPr/>
        </p:nvSpPr>
        <p:spPr>
          <a:xfrm>
            <a:off x="841248" y="2596896"/>
            <a:ext cx="2119122" cy="365760"/>
          </a:xfrm>
          <a:prstGeom prst="rect">
            <a:avLst/>
          </a:prstGeom>
          <a:noFill/>
          <a:ln/>
        </p:spPr>
        <p:txBody>
          <a:bodyPr wrap="square" rtlCol="0" anchor="ctr"/>
          <a:lstStyle/>
          <a:p>
            <a:pPr rtl="1" algn="r" indent="0" marL="0">
              <a:buNone/>
            </a:pPr>
            <a:r>
              <a:rPr lang="en-US" sz="2000" b="1" dirty="0">
                <a:solidFill>
                  <a:srgbClr val="E3C682"/>
                </a:solidFill>
                <a:latin typeface="Arial" pitchFamily="34" charset="0"/>
                <a:ea typeface="Arial" pitchFamily="34" charset="-122"/>
                <a:cs typeface="Arial" pitchFamily="34" charset="-120"/>
              </a:rPr>
              <a:t>4</a:t>
            </a:r>
            <a:endParaRPr lang="en-US" sz="2000" dirty="0"/>
          </a:p>
        </p:txBody>
      </p:sp>
      <p:sp>
        <p:nvSpPr>
          <p:cNvPr id="22" name="Text 20"/>
          <p:cNvSpPr/>
          <p:nvPr/>
        </p:nvSpPr>
        <p:spPr>
          <a:xfrm>
            <a:off x="841248" y="3017520"/>
            <a:ext cx="2119122" cy="457200"/>
          </a:xfrm>
          <a:prstGeom prst="rect">
            <a:avLst/>
          </a:prstGeom>
          <a:noFill/>
          <a:ln/>
        </p:spPr>
        <p:txBody>
          <a:bodyPr wrap="square" rtlCol="0" anchor="t"/>
          <a:lstStyle/>
          <a:p>
            <a:pPr rtl="1" algn="r" indent="0" marL="0">
              <a:buNone/>
            </a:pPr>
            <a:r>
              <a:rPr lang="en-US" sz="1600" dirty="0">
                <a:solidFill>
                  <a:srgbClr val="FFFFFF"/>
                </a:solidFill>
                <a:latin typeface="Arial" pitchFamily="34" charset="0"/>
                <a:ea typeface="Arial" pitchFamily="34" charset="-122"/>
                <a:cs typeface="Arial" pitchFamily="34" charset="-120"/>
              </a:rPr>
              <a:t>المتابعة</a:t>
            </a:r>
            <a:endParaRPr lang="en-US" sz="1600" dirty="0"/>
          </a:p>
        </p:txBody>
      </p:sp>
      <p:sp>
        <p:nvSpPr>
          <p:cNvPr id="23" name="Text 21"/>
          <p:cNvSpPr/>
          <p:nvPr/>
        </p:nvSpPr>
        <p:spPr>
          <a:xfrm>
            <a:off x="841248" y="3529584"/>
            <a:ext cx="2119122" cy="676656"/>
          </a:xfrm>
          <a:prstGeom prst="rect">
            <a:avLst/>
          </a:prstGeom>
          <a:noFill/>
          <a:ln/>
        </p:spPr>
        <p:txBody>
          <a:bodyPr wrap="square" rtlCol="0" anchor="t"/>
          <a:lstStyle/>
          <a:p>
            <a:pPr rtl="1" algn="r" indent="0" marL="0">
              <a:buNone/>
            </a:pPr>
            <a:r>
              <a:rPr lang="en-US" sz="1150" dirty="0">
                <a:solidFill>
                  <a:srgbClr val="D9E0EC"/>
                </a:solidFill>
                <a:latin typeface="Arial" pitchFamily="34" charset="0"/>
                <a:ea typeface="Arial" pitchFamily="34" charset="-122"/>
                <a:cs typeface="Arial" pitchFamily="34" charset="-120"/>
              </a:rPr>
              <a:t>تدقيق مستمر وتدريبات، ومتابعة القواعد الجديدة.</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اختبار سريع</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اختبر نفسك</a:t>
            </a:r>
            <a:endParaRPr lang="en-US" sz="3300" dirty="0"/>
          </a:p>
        </p:txBody>
      </p:sp>
      <p:sp>
        <p:nvSpPr>
          <p:cNvPr id="8" name="Shape 6"/>
          <p:cNvSpPr/>
          <p:nvPr/>
        </p:nvSpPr>
        <p:spPr>
          <a:xfrm>
            <a:off x="6195060" y="2240280"/>
            <a:ext cx="5353812" cy="1051560"/>
          </a:xfrm>
          <a:prstGeom prst="roundRect">
            <a:avLst>
              <a:gd name="adj" fmla="val 6957"/>
            </a:avLst>
          </a:prstGeom>
          <a:solidFill>
            <a:srgbClr val="122440"/>
          </a:solidFill>
          <a:ln w="12700">
            <a:solidFill>
              <a:srgbClr val="2C4060"/>
            </a:solidFill>
            <a:prstDash val="solid"/>
          </a:ln>
        </p:spPr>
      </p:sp>
      <p:sp>
        <p:nvSpPr>
          <p:cNvPr id="9" name="Text 7"/>
          <p:cNvSpPr/>
          <p:nvPr/>
        </p:nvSpPr>
        <p:spPr>
          <a:xfrm>
            <a:off x="6377940" y="2350008"/>
            <a:ext cx="4988052" cy="411480"/>
          </a:xfrm>
          <a:prstGeom prst="rect">
            <a:avLst/>
          </a:prstGeom>
          <a:noFill/>
          <a:ln/>
        </p:spPr>
        <p:txBody>
          <a:bodyPr wrap="square" rtlCol="0" anchor="ctr"/>
          <a:lstStyle/>
          <a:p>
            <a:pPr rtl="1" algn="r" indent="0" marL="0">
              <a:buNone/>
            </a:pPr>
            <a:r>
              <a:rPr lang="en-US" sz="1400" dirty="0">
                <a:solidFill>
                  <a:srgbClr val="E3C682"/>
                </a:solidFill>
                <a:latin typeface="Arial" pitchFamily="34" charset="0"/>
                <a:ea typeface="Arial" pitchFamily="34" charset="-122"/>
                <a:cs typeface="Arial" pitchFamily="34" charset="-120"/>
              </a:rPr>
              <a:t>Q1. متى أصبح القانون قابلًا للتطبيق؟</a:t>
            </a:r>
            <a:endParaRPr lang="en-US" sz="1400" dirty="0"/>
          </a:p>
        </p:txBody>
      </p:sp>
      <p:sp>
        <p:nvSpPr>
          <p:cNvPr id="10" name="Text 8"/>
          <p:cNvSpPr/>
          <p:nvPr/>
        </p:nvSpPr>
        <p:spPr>
          <a:xfrm>
            <a:off x="6377940" y="2743200"/>
            <a:ext cx="4988052" cy="502920"/>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2025 عند صدور اللائحة التنفيذية.</a:t>
            </a:r>
            <a:endParaRPr lang="en-US" sz="1200" dirty="0"/>
          </a:p>
        </p:txBody>
      </p:sp>
      <p:sp>
        <p:nvSpPr>
          <p:cNvPr id="11" name="Shape 9"/>
          <p:cNvSpPr/>
          <p:nvPr/>
        </p:nvSpPr>
        <p:spPr>
          <a:xfrm>
            <a:off x="640080" y="2240280"/>
            <a:ext cx="5353812" cy="1051560"/>
          </a:xfrm>
          <a:prstGeom prst="roundRect">
            <a:avLst>
              <a:gd name="adj" fmla="val 6957"/>
            </a:avLst>
          </a:prstGeom>
          <a:solidFill>
            <a:srgbClr val="122440"/>
          </a:solidFill>
          <a:ln w="12700">
            <a:solidFill>
              <a:srgbClr val="2C4060"/>
            </a:solidFill>
            <a:prstDash val="solid"/>
          </a:ln>
        </p:spPr>
      </p:sp>
      <p:sp>
        <p:nvSpPr>
          <p:cNvPr id="12" name="Text 10"/>
          <p:cNvSpPr/>
          <p:nvPr/>
        </p:nvSpPr>
        <p:spPr>
          <a:xfrm>
            <a:off x="822960" y="2350008"/>
            <a:ext cx="4988052" cy="411480"/>
          </a:xfrm>
          <a:prstGeom prst="rect">
            <a:avLst/>
          </a:prstGeom>
          <a:noFill/>
          <a:ln/>
        </p:spPr>
        <p:txBody>
          <a:bodyPr wrap="square" rtlCol="0" anchor="ctr"/>
          <a:lstStyle/>
          <a:p>
            <a:pPr rtl="1" algn="r" indent="0" marL="0">
              <a:buNone/>
            </a:pPr>
            <a:r>
              <a:rPr lang="en-US" sz="1400" dirty="0">
                <a:solidFill>
                  <a:srgbClr val="E3C682"/>
                </a:solidFill>
                <a:latin typeface="Arial" pitchFamily="34" charset="0"/>
                <a:ea typeface="Arial" pitchFamily="34" charset="-122"/>
                <a:cs typeface="Arial" pitchFamily="34" charset="-120"/>
              </a:rPr>
              <a:t>Q2. كم عدد الأسس القانونية؟</a:t>
            </a:r>
            <a:endParaRPr lang="en-US" sz="1400" dirty="0"/>
          </a:p>
        </p:txBody>
      </p:sp>
      <p:sp>
        <p:nvSpPr>
          <p:cNvPr id="13" name="Text 11"/>
          <p:cNvSpPr/>
          <p:nvPr/>
        </p:nvSpPr>
        <p:spPr>
          <a:xfrm>
            <a:off x="822960" y="2743200"/>
            <a:ext cx="4988052" cy="502920"/>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ستة (المادة 6), الموافقة واحد منها.</a:t>
            </a:r>
            <a:endParaRPr lang="en-US" sz="1200" dirty="0"/>
          </a:p>
        </p:txBody>
      </p:sp>
      <p:sp>
        <p:nvSpPr>
          <p:cNvPr id="14" name="Shape 12"/>
          <p:cNvSpPr/>
          <p:nvPr/>
        </p:nvSpPr>
        <p:spPr>
          <a:xfrm>
            <a:off x="6195060" y="3493008"/>
            <a:ext cx="5353812" cy="1051560"/>
          </a:xfrm>
          <a:prstGeom prst="roundRect">
            <a:avLst>
              <a:gd name="adj" fmla="val 6957"/>
            </a:avLst>
          </a:prstGeom>
          <a:solidFill>
            <a:srgbClr val="122440"/>
          </a:solidFill>
          <a:ln w="12700">
            <a:solidFill>
              <a:srgbClr val="2C4060"/>
            </a:solidFill>
            <a:prstDash val="solid"/>
          </a:ln>
        </p:spPr>
      </p:sp>
      <p:sp>
        <p:nvSpPr>
          <p:cNvPr id="15" name="Text 13"/>
          <p:cNvSpPr/>
          <p:nvPr/>
        </p:nvSpPr>
        <p:spPr>
          <a:xfrm>
            <a:off x="6377940" y="3602736"/>
            <a:ext cx="4988052" cy="411480"/>
          </a:xfrm>
          <a:prstGeom prst="rect">
            <a:avLst/>
          </a:prstGeom>
          <a:noFill/>
          <a:ln/>
        </p:spPr>
        <p:txBody>
          <a:bodyPr wrap="square" rtlCol="0" anchor="ctr"/>
          <a:lstStyle/>
          <a:p>
            <a:pPr rtl="1" algn="r" indent="0" marL="0">
              <a:buNone/>
            </a:pPr>
            <a:r>
              <a:rPr lang="en-US" sz="1400" dirty="0">
                <a:solidFill>
                  <a:srgbClr val="E3C682"/>
                </a:solidFill>
                <a:latin typeface="Arial" pitchFamily="34" charset="0"/>
                <a:ea typeface="Arial" pitchFamily="34" charset="-122"/>
                <a:cs typeface="Arial" pitchFamily="34" charset="-120"/>
              </a:rPr>
              <a:t>Q3. هل تعيين مسؤول الحماية إلزامي؟</a:t>
            </a:r>
            <a:endParaRPr lang="en-US" sz="1400" dirty="0"/>
          </a:p>
        </p:txBody>
      </p:sp>
      <p:sp>
        <p:nvSpPr>
          <p:cNvPr id="16" name="Text 14"/>
          <p:cNvSpPr/>
          <p:nvPr/>
        </p:nvSpPr>
        <p:spPr>
          <a:xfrm>
            <a:off x="6377940" y="3995928"/>
            <a:ext cx="4988052" cy="502920"/>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نعم, تُلزم المادة 8 الجميع.</a:t>
            </a:r>
            <a:endParaRPr lang="en-US" sz="1200" dirty="0"/>
          </a:p>
        </p:txBody>
      </p:sp>
      <p:sp>
        <p:nvSpPr>
          <p:cNvPr id="17" name="Shape 15"/>
          <p:cNvSpPr/>
          <p:nvPr/>
        </p:nvSpPr>
        <p:spPr>
          <a:xfrm>
            <a:off x="640080" y="3493008"/>
            <a:ext cx="5353812" cy="1051560"/>
          </a:xfrm>
          <a:prstGeom prst="roundRect">
            <a:avLst>
              <a:gd name="adj" fmla="val 6957"/>
            </a:avLst>
          </a:prstGeom>
          <a:solidFill>
            <a:srgbClr val="122440"/>
          </a:solidFill>
          <a:ln w="12700">
            <a:solidFill>
              <a:srgbClr val="2C4060"/>
            </a:solidFill>
            <a:prstDash val="solid"/>
          </a:ln>
        </p:spPr>
      </p:sp>
      <p:sp>
        <p:nvSpPr>
          <p:cNvPr id="18" name="Text 16"/>
          <p:cNvSpPr/>
          <p:nvPr/>
        </p:nvSpPr>
        <p:spPr>
          <a:xfrm>
            <a:off x="822960" y="3602736"/>
            <a:ext cx="4988052" cy="411480"/>
          </a:xfrm>
          <a:prstGeom prst="rect">
            <a:avLst/>
          </a:prstGeom>
          <a:noFill/>
          <a:ln/>
        </p:spPr>
        <p:txBody>
          <a:bodyPr wrap="square" rtlCol="0" anchor="ctr"/>
          <a:lstStyle/>
          <a:p>
            <a:pPr rtl="1" algn="r" indent="0" marL="0">
              <a:buNone/>
            </a:pPr>
            <a:r>
              <a:rPr lang="en-US" sz="1400" dirty="0">
                <a:solidFill>
                  <a:srgbClr val="E3C682"/>
                </a:solidFill>
                <a:latin typeface="Arial" pitchFamily="34" charset="0"/>
                <a:ea typeface="Arial" pitchFamily="34" charset="-122"/>
                <a:cs typeface="Arial" pitchFamily="34" charset="-120"/>
              </a:rPr>
              <a:t>Q4. موعد الإبلاغ عن الاختراق؟</a:t>
            </a:r>
            <a:endParaRPr lang="en-US" sz="1400" dirty="0"/>
          </a:p>
        </p:txBody>
      </p:sp>
      <p:sp>
        <p:nvSpPr>
          <p:cNvPr id="19" name="Text 17"/>
          <p:cNvSpPr/>
          <p:nvPr/>
        </p:nvSpPr>
        <p:spPr>
          <a:xfrm>
            <a:off x="822960" y="3995928"/>
            <a:ext cx="4988052" cy="502920"/>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72 ساعة للمركز؛ 3 أيام للأفراد.</a:t>
            </a:r>
            <a:endParaRPr lang="en-US" sz="1200" dirty="0"/>
          </a:p>
        </p:txBody>
      </p:sp>
      <p:sp>
        <p:nvSpPr>
          <p:cNvPr id="20" name="Shape 18"/>
          <p:cNvSpPr/>
          <p:nvPr/>
        </p:nvSpPr>
        <p:spPr>
          <a:xfrm>
            <a:off x="6195060" y="4745736"/>
            <a:ext cx="5353812" cy="1051560"/>
          </a:xfrm>
          <a:prstGeom prst="roundRect">
            <a:avLst>
              <a:gd name="adj" fmla="val 6957"/>
            </a:avLst>
          </a:prstGeom>
          <a:solidFill>
            <a:srgbClr val="122440"/>
          </a:solidFill>
          <a:ln w="12700">
            <a:solidFill>
              <a:srgbClr val="2C4060"/>
            </a:solidFill>
            <a:prstDash val="solid"/>
          </a:ln>
        </p:spPr>
      </p:sp>
      <p:sp>
        <p:nvSpPr>
          <p:cNvPr id="21" name="Text 19"/>
          <p:cNvSpPr/>
          <p:nvPr/>
        </p:nvSpPr>
        <p:spPr>
          <a:xfrm>
            <a:off x="6377940" y="4855464"/>
            <a:ext cx="4988052" cy="411480"/>
          </a:xfrm>
          <a:prstGeom prst="rect">
            <a:avLst/>
          </a:prstGeom>
          <a:noFill/>
          <a:ln/>
        </p:spPr>
        <p:txBody>
          <a:bodyPr wrap="square" rtlCol="0" anchor="ctr"/>
          <a:lstStyle/>
          <a:p>
            <a:pPr rtl="1" algn="r" indent="0" marL="0">
              <a:buNone/>
            </a:pPr>
            <a:r>
              <a:rPr lang="en-US" sz="1400" dirty="0">
                <a:solidFill>
                  <a:srgbClr val="E3C682"/>
                </a:solidFill>
                <a:latin typeface="Arial" pitchFamily="34" charset="0"/>
                <a:ea typeface="Arial" pitchFamily="34" charset="-122"/>
                <a:cs typeface="Arial" pitchFamily="34" charset="-120"/>
              </a:rPr>
              <a:t>Q5. أعلى شريحة غرامة؟</a:t>
            </a:r>
            <a:endParaRPr lang="en-US" sz="1400" dirty="0"/>
          </a:p>
        </p:txBody>
      </p:sp>
      <p:sp>
        <p:nvSpPr>
          <p:cNvPr id="22" name="Text 20"/>
          <p:cNvSpPr/>
          <p:nvPr/>
        </p:nvSpPr>
        <p:spPr>
          <a:xfrm>
            <a:off x="6377940" y="5248656"/>
            <a:ext cx="4988052" cy="502920"/>
          </a:xfrm>
          <a:prstGeom prst="rect">
            <a:avLst/>
          </a:prstGeom>
          <a:noFill/>
          <a:ln/>
        </p:spPr>
        <p:txBody>
          <a:bodyPr wrap="square" rtlCol="0" anchor="t"/>
          <a:lstStyle/>
          <a:p>
            <a:pPr rtl="1" algn="r" indent="0" marL="0">
              <a:buNone/>
            </a:pPr>
            <a:r>
              <a:rPr lang="en-US" sz="1200" dirty="0">
                <a:solidFill>
                  <a:srgbClr val="D9E0EC"/>
                </a:solidFill>
                <a:latin typeface="Arial" pitchFamily="34" charset="0"/>
                <a:ea typeface="Arial" pitchFamily="34" charset="-122"/>
                <a:cs typeface="Arial" pitchFamily="34" charset="-120"/>
              </a:rPr>
              <a:t>5 مليون ج.م، مع احتمال الحبس.</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تقييم ذاتي</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ما مدى استعدادك لنوفمبر 2026؟</a:t>
            </a:r>
            <a:endParaRPr lang="en-US" sz="3300" dirty="0"/>
          </a:p>
        </p:txBody>
      </p:sp>
      <p:sp>
        <p:nvSpPr>
          <p:cNvPr id="8" name="Shape 6"/>
          <p:cNvSpPr/>
          <p:nvPr/>
        </p:nvSpPr>
        <p:spPr>
          <a:xfrm>
            <a:off x="11237976" y="2286000"/>
            <a:ext cx="310896" cy="310896"/>
          </a:xfrm>
          <a:prstGeom prst="rect">
            <a:avLst/>
          </a:prstGeom>
          <a:solidFill>
            <a:srgbClr val="0E2444"/>
          </a:solidFill>
          <a:ln w="19050">
            <a:solidFill>
              <a:srgbClr val="C8A24A"/>
            </a:solidFill>
            <a:prstDash val="solid"/>
          </a:ln>
        </p:spPr>
      </p:sp>
      <p:sp>
        <p:nvSpPr>
          <p:cNvPr id="9" name="Text 7"/>
          <p:cNvSpPr/>
          <p:nvPr/>
        </p:nvSpPr>
        <p:spPr>
          <a:xfrm>
            <a:off x="11237976" y="225856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0" name="Text 8"/>
          <p:cNvSpPr/>
          <p:nvPr/>
        </p:nvSpPr>
        <p:spPr>
          <a:xfrm>
            <a:off x="640080" y="2286000"/>
            <a:ext cx="10451592" cy="310896"/>
          </a:xfrm>
          <a:prstGeom prst="rect">
            <a:avLst/>
          </a:prstGeom>
          <a:noFill/>
          <a:ln/>
        </p:spPr>
        <p:txBody>
          <a:bodyPr wrap="square" rtlCol="0" anchor="ctr"/>
          <a:lstStyle/>
          <a:p>
            <a:pPr rtl="1" algn="r" indent="0" marL="0">
              <a:buNone/>
            </a:pPr>
            <a:r>
              <a:rPr lang="en-US" sz="1400" dirty="0">
                <a:solidFill>
                  <a:srgbClr val="F6F1E7"/>
                </a:solidFill>
                <a:latin typeface="Arial" pitchFamily="34" charset="0"/>
                <a:ea typeface="Arial" pitchFamily="34" charset="-122"/>
                <a:cs typeface="Arial" pitchFamily="34" charset="-120"/>
              </a:rPr>
              <a:t>عيّنت مسؤول حماية بيانات (DPO)</a:t>
            </a:r>
            <a:endParaRPr lang="en-US" sz="1400" dirty="0"/>
          </a:p>
        </p:txBody>
      </p:sp>
      <p:sp>
        <p:nvSpPr>
          <p:cNvPr id="11" name="Shape 9"/>
          <p:cNvSpPr/>
          <p:nvPr/>
        </p:nvSpPr>
        <p:spPr>
          <a:xfrm>
            <a:off x="11237976" y="2880360"/>
            <a:ext cx="310896" cy="310896"/>
          </a:xfrm>
          <a:prstGeom prst="rect">
            <a:avLst/>
          </a:prstGeom>
          <a:solidFill>
            <a:srgbClr val="0E2444"/>
          </a:solidFill>
          <a:ln w="19050">
            <a:solidFill>
              <a:srgbClr val="C8A24A"/>
            </a:solidFill>
            <a:prstDash val="solid"/>
          </a:ln>
        </p:spPr>
      </p:sp>
      <p:sp>
        <p:nvSpPr>
          <p:cNvPr id="12" name="Text 10"/>
          <p:cNvSpPr/>
          <p:nvPr/>
        </p:nvSpPr>
        <p:spPr>
          <a:xfrm>
            <a:off x="11237976" y="285292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3" name="Text 11"/>
          <p:cNvSpPr/>
          <p:nvPr/>
        </p:nvSpPr>
        <p:spPr>
          <a:xfrm>
            <a:off x="640080" y="2880360"/>
            <a:ext cx="10451592" cy="310896"/>
          </a:xfrm>
          <a:prstGeom prst="rect">
            <a:avLst/>
          </a:prstGeom>
          <a:noFill/>
          <a:ln/>
        </p:spPr>
        <p:txBody>
          <a:bodyPr wrap="square" rtlCol="0" anchor="ctr"/>
          <a:lstStyle/>
          <a:p>
            <a:pPr rtl="1" algn="r" indent="0" marL="0">
              <a:buNone/>
            </a:pPr>
            <a:r>
              <a:rPr lang="en-US" sz="1400" dirty="0">
                <a:solidFill>
                  <a:srgbClr val="F6F1E7"/>
                </a:solidFill>
                <a:latin typeface="Arial" pitchFamily="34" charset="0"/>
                <a:ea typeface="Arial" pitchFamily="34" charset="-122"/>
                <a:cs typeface="Arial" pitchFamily="34" charset="-120"/>
              </a:rPr>
              <a:t>خطة للتسجيل / الترخيص لدى المركز</a:t>
            </a:r>
            <a:endParaRPr lang="en-US" sz="1400" dirty="0"/>
          </a:p>
        </p:txBody>
      </p:sp>
      <p:sp>
        <p:nvSpPr>
          <p:cNvPr id="14" name="Shape 12"/>
          <p:cNvSpPr/>
          <p:nvPr/>
        </p:nvSpPr>
        <p:spPr>
          <a:xfrm>
            <a:off x="11237976" y="3474720"/>
            <a:ext cx="310896" cy="310896"/>
          </a:xfrm>
          <a:prstGeom prst="rect">
            <a:avLst/>
          </a:prstGeom>
          <a:solidFill>
            <a:srgbClr val="0E2444"/>
          </a:solidFill>
          <a:ln w="19050">
            <a:solidFill>
              <a:srgbClr val="C8A24A"/>
            </a:solidFill>
            <a:prstDash val="solid"/>
          </a:ln>
        </p:spPr>
      </p:sp>
      <p:sp>
        <p:nvSpPr>
          <p:cNvPr id="15" name="Text 13"/>
          <p:cNvSpPr/>
          <p:nvPr/>
        </p:nvSpPr>
        <p:spPr>
          <a:xfrm>
            <a:off x="11237976" y="344728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6" name="Text 14"/>
          <p:cNvSpPr/>
          <p:nvPr/>
        </p:nvSpPr>
        <p:spPr>
          <a:xfrm>
            <a:off x="640080" y="3474720"/>
            <a:ext cx="10451592" cy="310896"/>
          </a:xfrm>
          <a:prstGeom prst="rect">
            <a:avLst/>
          </a:prstGeom>
          <a:noFill/>
          <a:ln/>
        </p:spPr>
        <p:txBody>
          <a:bodyPr wrap="square" rtlCol="0" anchor="ctr"/>
          <a:lstStyle/>
          <a:p>
            <a:pPr rtl="1" algn="r" indent="0" marL="0">
              <a:buNone/>
            </a:pPr>
            <a:r>
              <a:rPr lang="en-US" sz="1400" dirty="0">
                <a:solidFill>
                  <a:srgbClr val="F6F1E7"/>
                </a:solidFill>
                <a:latin typeface="Arial" pitchFamily="34" charset="0"/>
                <a:ea typeface="Arial" pitchFamily="34" charset="-122"/>
                <a:cs typeface="Arial" pitchFamily="34" charset="-120"/>
              </a:rPr>
              <a:t>جرد كامل للبيانات المحتفظ بها</a:t>
            </a:r>
            <a:endParaRPr lang="en-US" sz="1400" dirty="0"/>
          </a:p>
        </p:txBody>
      </p:sp>
      <p:sp>
        <p:nvSpPr>
          <p:cNvPr id="17" name="Shape 15"/>
          <p:cNvSpPr/>
          <p:nvPr/>
        </p:nvSpPr>
        <p:spPr>
          <a:xfrm>
            <a:off x="11237976" y="4069080"/>
            <a:ext cx="310896" cy="310896"/>
          </a:xfrm>
          <a:prstGeom prst="rect">
            <a:avLst/>
          </a:prstGeom>
          <a:solidFill>
            <a:srgbClr val="0E2444"/>
          </a:solidFill>
          <a:ln w="19050">
            <a:solidFill>
              <a:srgbClr val="C8A24A"/>
            </a:solidFill>
            <a:prstDash val="solid"/>
          </a:ln>
        </p:spPr>
      </p:sp>
      <p:sp>
        <p:nvSpPr>
          <p:cNvPr id="18" name="Text 16"/>
          <p:cNvSpPr/>
          <p:nvPr/>
        </p:nvSpPr>
        <p:spPr>
          <a:xfrm>
            <a:off x="11237976" y="404164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19" name="Text 17"/>
          <p:cNvSpPr/>
          <p:nvPr/>
        </p:nvSpPr>
        <p:spPr>
          <a:xfrm>
            <a:off x="640080" y="4069080"/>
            <a:ext cx="10451592" cy="310896"/>
          </a:xfrm>
          <a:prstGeom prst="rect">
            <a:avLst/>
          </a:prstGeom>
          <a:noFill/>
          <a:ln/>
        </p:spPr>
        <p:txBody>
          <a:bodyPr wrap="square" rtlCol="0" anchor="ctr"/>
          <a:lstStyle/>
          <a:p>
            <a:pPr rtl="1" algn="r" indent="0" marL="0">
              <a:buNone/>
            </a:pPr>
            <a:r>
              <a:rPr lang="en-US" sz="1400" dirty="0">
                <a:solidFill>
                  <a:srgbClr val="F6F1E7"/>
                </a:solidFill>
                <a:latin typeface="Arial" pitchFamily="34" charset="0"/>
                <a:ea typeface="Arial" pitchFamily="34" charset="-122"/>
                <a:cs typeface="Arial" pitchFamily="34" charset="-120"/>
              </a:rPr>
              <a:t>خطة استجابة للاختراق خلال 72 ساعة</a:t>
            </a:r>
            <a:endParaRPr lang="en-US" sz="1400" dirty="0"/>
          </a:p>
        </p:txBody>
      </p:sp>
      <p:sp>
        <p:nvSpPr>
          <p:cNvPr id="20" name="Shape 18"/>
          <p:cNvSpPr/>
          <p:nvPr/>
        </p:nvSpPr>
        <p:spPr>
          <a:xfrm>
            <a:off x="11237976" y="4663440"/>
            <a:ext cx="310896" cy="310896"/>
          </a:xfrm>
          <a:prstGeom prst="rect">
            <a:avLst/>
          </a:prstGeom>
          <a:solidFill>
            <a:srgbClr val="0E2444"/>
          </a:solidFill>
          <a:ln w="19050">
            <a:solidFill>
              <a:srgbClr val="C8A24A"/>
            </a:solidFill>
            <a:prstDash val="solid"/>
          </a:ln>
        </p:spPr>
      </p:sp>
      <p:sp>
        <p:nvSpPr>
          <p:cNvPr id="21" name="Text 19"/>
          <p:cNvSpPr/>
          <p:nvPr/>
        </p:nvSpPr>
        <p:spPr>
          <a:xfrm>
            <a:off x="11237976" y="463600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22" name="Text 20"/>
          <p:cNvSpPr/>
          <p:nvPr/>
        </p:nvSpPr>
        <p:spPr>
          <a:xfrm>
            <a:off x="640080" y="4663440"/>
            <a:ext cx="10451592" cy="310896"/>
          </a:xfrm>
          <a:prstGeom prst="rect">
            <a:avLst/>
          </a:prstGeom>
          <a:noFill/>
          <a:ln/>
        </p:spPr>
        <p:txBody>
          <a:bodyPr wrap="square" rtlCol="0" anchor="ctr"/>
          <a:lstStyle/>
          <a:p>
            <a:pPr rtl="1" algn="r" indent="0" marL="0">
              <a:buNone/>
            </a:pPr>
            <a:r>
              <a:rPr lang="en-US" sz="1400" dirty="0">
                <a:solidFill>
                  <a:srgbClr val="F6F1E7"/>
                </a:solidFill>
                <a:latin typeface="Arial" pitchFamily="34" charset="0"/>
                <a:ea typeface="Arial" pitchFamily="34" charset="-122"/>
                <a:cs typeface="Arial" pitchFamily="34" charset="-120"/>
              </a:rPr>
              <a:t>تسجيل الموافقة وإثباتها</a:t>
            </a:r>
            <a:endParaRPr lang="en-US" sz="1400" dirty="0"/>
          </a:p>
        </p:txBody>
      </p:sp>
      <p:sp>
        <p:nvSpPr>
          <p:cNvPr id="23" name="Shape 21"/>
          <p:cNvSpPr/>
          <p:nvPr/>
        </p:nvSpPr>
        <p:spPr>
          <a:xfrm>
            <a:off x="11237976" y="5257800"/>
            <a:ext cx="310896" cy="310896"/>
          </a:xfrm>
          <a:prstGeom prst="rect">
            <a:avLst/>
          </a:prstGeom>
          <a:solidFill>
            <a:srgbClr val="0E2444"/>
          </a:solidFill>
          <a:ln w="19050">
            <a:solidFill>
              <a:srgbClr val="C8A24A"/>
            </a:solidFill>
            <a:prstDash val="solid"/>
          </a:ln>
        </p:spPr>
      </p:sp>
      <p:sp>
        <p:nvSpPr>
          <p:cNvPr id="24" name="Text 22"/>
          <p:cNvSpPr/>
          <p:nvPr/>
        </p:nvSpPr>
        <p:spPr>
          <a:xfrm>
            <a:off x="11237976" y="5230368"/>
            <a:ext cx="310896" cy="365760"/>
          </a:xfrm>
          <a:prstGeom prst="rect">
            <a:avLst/>
          </a:prstGeom>
          <a:noFill/>
          <a:ln/>
        </p:spPr>
        <p:txBody>
          <a:bodyPr wrap="square" rtlCol="0" anchor="ctr"/>
          <a:lstStyle/>
          <a:p>
            <a:pPr algn="ctr" indent="0" marL="0">
              <a:buNone/>
            </a:pPr>
            <a:r>
              <a:rPr lang="en-US" sz="1600" dirty="0">
                <a:solidFill>
                  <a:srgbClr val="E3C682"/>
                </a:solidFill>
              </a:rPr>
              <a:t>□</a:t>
            </a:r>
            <a:endParaRPr lang="en-US" sz="1600" dirty="0"/>
          </a:p>
        </p:txBody>
      </p:sp>
      <p:sp>
        <p:nvSpPr>
          <p:cNvPr id="25" name="Text 23"/>
          <p:cNvSpPr/>
          <p:nvPr/>
        </p:nvSpPr>
        <p:spPr>
          <a:xfrm>
            <a:off x="640080" y="5257800"/>
            <a:ext cx="10451592" cy="310896"/>
          </a:xfrm>
          <a:prstGeom prst="rect">
            <a:avLst/>
          </a:prstGeom>
          <a:noFill/>
          <a:ln/>
        </p:spPr>
        <p:txBody>
          <a:bodyPr wrap="square" rtlCol="0" anchor="ctr"/>
          <a:lstStyle/>
          <a:p>
            <a:pPr rtl="1" algn="r" indent="0" marL="0">
              <a:buNone/>
            </a:pPr>
            <a:r>
              <a:rPr lang="en-US" sz="1400" dirty="0">
                <a:solidFill>
                  <a:srgbClr val="F6F1E7"/>
                </a:solidFill>
                <a:latin typeface="Arial" pitchFamily="34" charset="0"/>
                <a:ea typeface="Arial" pitchFamily="34" charset="-122"/>
                <a:cs typeface="Arial" pitchFamily="34" charset="-120"/>
              </a:rPr>
              <a:t>مراجعة عمليات النقل للخارج</a:t>
            </a:r>
            <a:endParaRPr lang="en-US" sz="1400" dirty="0"/>
          </a:p>
        </p:txBody>
      </p:sp>
      <p:sp>
        <p:nvSpPr>
          <p:cNvPr id="26" name="Text 24"/>
          <p:cNvSpPr/>
          <p:nvPr/>
        </p:nvSpPr>
        <p:spPr>
          <a:xfrm>
            <a:off x="640080" y="5943600"/>
            <a:ext cx="10908792" cy="365760"/>
          </a:xfrm>
          <a:prstGeom prst="rect">
            <a:avLst/>
          </a:prstGeom>
          <a:noFill/>
          <a:ln/>
        </p:spPr>
        <p:txBody>
          <a:bodyPr wrap="square" rtlCol="0" anchor="ctr"/>
          <a:lstStyle/>
          <a:p>
            <a:pPr rtl="1" algn="r" indent="0" marL="0">
              <a:buNone/>
            </a:pPr>
            <a:r>
              <a:rPr lang="en-US" sz="1250" i="1" dirty="0">
                <a:solidFill>
                  <a:srgbClr val="E3C682"/>
                </a:solidFill>
                <a:latin typeface="Arial" pitchFamily="34" charset="0"/>
                <a:ea typeface="Arial" pitchFamily="34" charset="-122"/>
                <a:cs typeface="Arial" pitchFamily="34" charset="-120"/>
              </a:rPr>
              <a:t>ضع علامة على كل بند لتكون جاهزًا للامتثال قبل بدء التطبيق.</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Shape 2"/>
          <p:cNvSpPr/>
          <p:nvPr/>
        </p:nvSpPr>
        <p:spPr>
          <a:xfrm>
            <a:off x="0" y="0"/>
            <a:ext cx="12188952" cy="109728"/>
          </a:xfrm>
          <a:prstGeom prst="rect">
            <a:avLst/>
          </a:prstGeom>
          <a:solidFill>
            <a:srgbClr val="C8A24A"/>
          </a:solidFill>
          <a:ln/>
        </p:spPr>
      </p:sp>
      <p:sp>
        <p:nvSpPr>
          <p:cNvPr id="5" name="Text 3"/>
          <p:cNvSpPr/>
          <p:nvPr/>
        </p:nvSpPr>
        <p:spPr>
          <a:xfrm>
            <a:off x="640080" y="1463040"/>
            <a:ext cx="10908792" cy="365760"/>
          </a:xfrm>
          <a:prstGeom prst="rect">
            <a:avLst/>
          </a:prstGeom>
          <a:noFill/>
          <a:ln/>
        </p:spPr>
        <p:txBody>
          <a:bodyPr wrap="square" rtlCol="0" anchor="ctr"/>
          <a:lstStyle/>
          <a:p>
            <a:pPr algn="ctr" indent="0" marL="0">
              <a:buNone/>
            </a:pPr>
            <a:r>
              <a:rPr lang="en-US" sz="1300" b="1" spc="200" kern="0" dirty="0">
                <a:solidFill>
                  <a:srgbClr val="C8A24A"/>
                </a:solidFill>
                <a:latin typeface="Arial" pitchFamily="34" charset="0"/>
                <a:ea typeface="Arial" pitchFamily="34" charset="-122"/>
                <a:cs typeface="Arial" pitchFamily="34" charset="-120"/>
              </a:rPr>
              <a:t>الخلاصة</a:t>
            </a:r>
            <a:endParaRPr lang="en-US" sz="1300" dirty="0"/>
          </a:p>
        </p:txBody>
      </p:sp>
      <p:sp>
        <p:nvSpPr>
          <p:cNvPr id="6" name="Text 4"/>
          <p:cNvSpPr/>
          <p:nvPr/>
        </p:nvSpPr>
        <p:spPr>
          <a:xfrm>
            <a:off x="1097280" y="2103120"/>
            <a:ext cx="9994392" cy="1828800"/>
          </a:xfrm>
          <a:prstGeom prst="rect">
            <a:avLst/>
          </a:prstGeom>
          <a:noFill/>
          <a:ln/>
        </p:spPr>
        <p:txBody>
          <a:bodyPr wrap="square" rtlCol="0" anchor="ctr"/>
          <a:lstStyle/>
          <a:p>
            <a:pPr rtl="1" algn="ctr" indent="0" marL="0">
              <a:buNone/>
            </a:pPr>
            <a:r>
              <a:rPr lang="en-US" sz="3600" dirty="0">
                <a:solidFill>
                  <a:srgbClr val="FFFFFF"/>
                </a:solidFill>
                <a:latin typeface="Arial" pitchFamily="34" charset="0"/>
                <a:ea typeface="Arial" pitchFamily="34" charset="-122"/>
                <a:cs typeface="Arial" pitchFamily="34" charset="-120"/>
              </a:rPr>
              <a:t>القانون 151 يحوّل الخصوصية من لباقة إلى واجب على مستوى مجلس الإدارة.</a:t>
            </a:r>
            <a:endParaRPr lang="en-US" sz="3600" dirty="0"/>
          </a:p>
        </p:txBody>
      </p:sp>
      <p:sp>
        <p:nvSpPr>
          <p:cNvPr id="7" name="Text 5"/>
          <p:cNvSpPr/>
          <p:nvPr/>
        </p:nvSpPr>
        <p:spPr>
          <a:xfrm>
            <a:off x="1463040" y="4206240"/>
            <a:ext cx="9262872" cy="1280160"/>
          </a:xfrm>
          <a:prstGeom prst="rect">
            <a:avLst/>
          </a:prstGeom>
          <a:noFill/>
          <a:ln/>
        </p:spPr>
        <p:txBody>
          <a:bodyPr wrap="square" rtlCol="0" anchor="t"/>
          <a:lstStyle/>
          <a:p>
            <a:pPr rtl="1" algn="ctr" indent="0" marL="0">
              <a:buNone/>
            </a:pPr>
            <a:r>
              <a:rPr lang="en-US" sz="1600" dirty="0">
                <a:solidFill>
                  <a:srgbClr val="D9E0EC"/>
                </a:solidFill>
                <a:latin typeface="Arial" pitchFamily="34" charset="0"/>
                <a:ea typeface="Arial" pitchFamily="34" charset="-122"/>
                <a:cs typeface="Arial" pitchFamily="34" charset="-120"/>
              </a:rPr>
              <a:t>انتهت سنوات السماح الخمس. الشركات التي تتعامل مع حماية البيانات كاستراتيجية لا كأوراق روتينية ستكسب الثقة وتجذب الاستثمار وتتجنّب الغرامات.</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A33"/>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C8A24A"/>
          </a:solidFill>
          <a:ln/>
        </p:spPr>
      </p:sp>
      <p:sp>
        <p:nvSpPr>
          <p:cNvPr id="3" name="Shape 1"/>
          <p:cNvSpPr/>
          <p:nvPr/>
        </p:nvSpPr>
        <p:spPr>
          <a:xfrm>
            <a:off x="0" y="109728"/>
            <a:ext cx="12188952" cy="27432"/>
          </a:xfrm>
          <a:prstGeom prst="rect">
            <a:avLst/>
          </a:prstGeom>
          <a:solidFill>
            <a:srgbClr val="C8102E"/>
          </a:solidFill>
          <a:ln/>
        </p:spPr>
      </p:sp>
      <p:sp>
        <p:nvSpPr>
          <p:cNvPr id="4" name="Text 2"/>
          <p:cNvSpPr/>
          <p:nvPr/>
        </p:nvSpPr>
        <p:spPr>
          <a:xfrm>
            <a:off x="640080" y="6473952"/>
            <a:ext cx="10908792" cy="274320"/>
          </a:xfrm>
          <a:prstGeom prst="rect">
            <a:avLst/>
          </a:prstGeom>
          <a:noFill/>
          <a:ln/>
        </p:spPr>
        <p:txBody>
          <a:bodyPr wrap="square" rtlCol="0" anchor="ctr"/>
          <a:lstStyle/>
          <a:p>
            <a:pPr rtl="1" algn="r" indent="0" marL="0">
              <a:buNone/>
            </a:pPr>
            <a:r>
              <a:rPr lang="en-US" sz="900" dirty="0">
                <a:solidFill>
                  <a:srgbClr val="9FB0C8"/>
                </a:solidFill>
                <a:latin typeface="Arial" pitchFamily="34" charset="0"/>
                <a:ea typeface="Arial" pitchFamily="34" charset="-122"/>
                <a:cs typeface="Arial" pitchFamily="34" charset="-120"/>
              </a:rPr>
              <a:t>قانون حماية البيانات الشخصية · القانون رقم 151 لسنة 2020</a:t>
            </a:r>
            <a:endParaRPr lang="en-US" sz="900" dirty="0"/>
          </a:p>
        </p:txBody>
      </p:sp>
      <p:sp>
        <p:nvSpPr>
          <p:cNvPr id="5" name="Text 3"/>
          <p:cNvSpPr/>
          <p:nvPr/>
        </p:nvSpPr>
        <p:spPr>
          <a:xfrm>
            <a:off x="640080" y="6473952"/>
            <a:ext cx="10908792" cy="274320"/>
          </a:xfrm>
          <a:prstGeom prst="rect">
            <a:avLst/>
          </a:prstGeom>
          <a:noFill/>
          <a:ln/>
        </p:spPr>
        <p:txBody>
          <a:bodyPr wrap="square" rtlCol="0" anchor="ctr"/>
          <a:lstStyle/>
          <a:p>
            <a:pPr algn="l" indent="0" marL="0">
              <a:buNone/>
            </a:pPr>
            <a:r>
              <a:rPr lang="en-US" sz="900" dirty="0">
                <a:solidFill>
                  <a:srgbClr val="9FB0C8"/>
                </a:solidFill>
                <a:latin typeface="Arial" pitchFamily="34" charset="0"/>
                <a:ea typeface="Arial" pitchFamily="34" charset="-122"/>
                <a:cs typeface="Arial" pitchFamily="34" charset="-120"/>
              </a:rPr>
              <a:t>EMBA · IT Strategy</a:t>
            </a:r>
            <a:endParaRPr lang="en-US" sz="900" dirty="0"/>
          </a:p>
        </p:txBody>
      </p:sp>
      <p:sp>
        <p:nvSpPr>
          <p:cNvPr id="6" name="Text 4"/>
          <p:cNvSpPr/>
          <p:nvPr/>
        </p:nvSpPr>
        <p:spPr>
          <a:xfrm>
            <a:off x="640080" y="502920"/>
            <a:ext cx="10908792" cy="292608"/>
          </a:xfrm>
          <a:prstGeom prst="rect">
            <a:avLst/>
          </a:prstGeom>
          <a:noFill/>
          <a:ln/>
        </p:spPr>
        <p:txBody>
          <a:bodyPr wrap="square" rtlCol="0" anchor="ctr"/>
          <a:lstStyle/>
          <a:p>
            <a:pPr rtl="1" algn="r" indent="0" marL="0">
              <a:buNone/>
            </a:pPr>
            <a:r>
              <a:rPr lang="en-US" sz="1200" b="1" spc="300" kern="0" dirty="0">
                <a:solidFill>
                  <a:srgbClr val="C8A24A"/>
                </a:solidFill>
                <a:latin typeface="Arial" pitchFamily="34" charset="0"/>
                <a:ea typeface="Arial" pitchFamily="34" charset="-122"/>
                <a:cs typeface="Arial" pitchFamily="34" charset="-120"/>
              </a:rPr>
              <a:t>كل معلومة بمصدرها</a:t>
            </a:r>
            <a:endParaRPr lang="en-US" sz="1200" dirty="0"/>
          </a:p>
        </p:txBody>
      </p:sp>
      <p:sp>
        <p:nvSpPr>
          <p:cNvPr id="7" name="Text 5"/>
          <p:cNvSpPr/>
          <p:nvPr/>
        </p:nvSpPr>
        <p:spPr>
          <a:xfrm>
            <a:off x="640080" y="868680"/>
            <a:ext cx="10908792" cy="914400"/>
          </a:xfrm>
          <a:prstGeom prst="rect">
            <a:avLst/>
          </a:prstGeom>
          <a:noFill/>
          <a:ln/>
        </p:spPr>
        <p:txBody>
          <a:bodyPr wrap="square" rtlCol="0" anchor="t"/>
          <a:lstStyle/>
          <a:p>
            <a:pPr rtl="1" algn="r" indent="0" marL="0">
              <a:buNone/>
            </a:pPr>
            <a:r>
              <a:rPr lang="en-US" sz="3300" dirty="0">
                <a:solidFill>
                  <a:srgbClr val="FFFFFF"/>
                </a:solidFill>
                <a:latin typeface="Arial" pitchFamily="34" charset="0"/>
                <a:ea typeface="Arial" pitchFamily="34" charset="-122"/>
                <a:cs typeface="Arial" pitchFamily="34" charset="-120"/>
              </a:rPr>
              <a:t>المصادر والمراجع</a:t>
            </a:r>
            <a:endParaRPr lang="en-US" sz="3300" dirty="0"/>
          </a:p>
        </p:txBody>
      </p:sp>
      <p:sp>
        <p:nvSpPr>
          <p:cNvPr id="8" name="Text 6"/>
          <p:cNvSpPr/>
          <p:nvPr/>
        </p:nvSpPr>
        <p:spPr>
          <a:xfrm>
            <a:off x="640080" y="2286000"/>
            <a:ext cx="10908792" cy="3657600"/>
          </a:xfrm>
          <a:prstGeom prst="rect">
            <a:avLst/>
          </a:prstGeom>
          <a:noFill/>
          <a:ln/>
        </p:spPr>
        <p:txBody>
          <a:bodyPr wrap="square" rtlCol="0" anchor="t"/>
          <a:lstStyle/>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1. Library of Congress, Egypt: First Law on Protection of Personal Data Enters into Force (2020).</a:t>
            </a:r>
            <a:endParaRPr lang="en-US" sz="1250" dirty="0"/>
          </a:p>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2. ICLG, Data Protection Laws &amp; Regulations: Egypt 2025-2026.</a:t>
            </a:r>
            <a:endParaRPr lang="en-US" sz="1250" dirty="0"/>
          </a:p>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3. Kennedys, Egypt's Personal Data Protection Law: the compliance countdown has begun (2026).</a:t>
            </a:r>
            <a:endParaRPr lang="en-US" sz="1250" dirty="0"/>
          </a:p>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4. Baker McKenzie, Egypt: Important Data Protection Update (Jan 2026).</a:t>
            </a:r>
            <a:endParaRPr lang="en-US" sz="1250" dirty="0"/>
          </a:p>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5. Shalakany, New Executive Regulations for Egypt's PDPL (Dec 2025).</a:t>
            </a:r>
            <a:endParaRPr lang="en-US" sz="1250" dirty="0"/>
          </a:p>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6. GLA &amp; Company, A First Look at Egypt's PDP Executive Regulations.</a:t>
            </a:r>
            <a:endParaRPr lang="en-US" sz="1250" dirty="0"/>
          </a:p>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7. PwC Middle East, Egypt Data Protection Law.</a:t>
            </a:r>
            <a:endParaRPr lang="en-US" sz="1250" dirty="0"/>
          </a:p>
          <a:p>
            <a:pPr algn="l" indent="0" marL="0">
              <a:spcAft>
                <a:spcPts val="600"/>
              </a:spcAft>
              <a:buNone/>
            </a:pPr>
            <a:r>
              <a:rPr lang="en-US" sz="1250" dirty="0">
                <a:solidFill>
                  <a:srgbClr val="D9E0EC"/>
                </a:solidFill>
                <a:latin typeface="Arial" pitchFamily="34" charset="0"/>
                <a:ea typeface="Arial" pitchFamily="34" charset="-122"/>
                <a:cs typeface="Arial" pitchFamily="34" charset="-120"/>
              </a:rPr>
              <a:t>8. Andersen Egypt, Translation of Law No. 151 of 2020 (primary text).</a:t>
            </a:r>
            <a:endParaRPr lang="en-US" sz="1250" dirty="0"/>
          </a:p>
        </p:txBody>
      </p:sp>
      <p:sp>
        <p:nvSpPr>
          <p:cNvPr id="9" name="Text 7"/>
          <p:cNvSpPr/>
          <p:nvPr/>
        </p:nvSpPr>
        <p:spPr>
          <a:xfrm>
            <a:off x="640080" y="5989320"/>
            <a:ext cx="10908792" cy="457200"/>
          </a:xfrm>
          <a:prstGeom prst="rect">
            <a:avLst/>
          </a:prstGeom>
          <a:noFill/>
          <a:ln/>
        </p:spPr>
        <p:txBody>
          <a:bodyPr wrap="square" rtlCol="0" anchor="ctr"/>
          <a:lstStyle/>
          <a:p>
            <a:pPr rtl="1" algn="r" indent="0" marL="0">
              <a:buNone/>
            </a:pPr>
            <a:r>
              <a:rPr lang="en-US" sz="1050" i="1" dirty="0">
                <a:solidFill>
                  <a:srgbClr val="9FB0C8"/>
                </a:solidFill>
                <a:latin typeface="Arial" pitchFamily="34" charset="0"/>
                <a:ea typeface="Arial" pitchFamily="34" charset="-122"/>
                <a:cs typeface="Arial" pitchFamily="34" charset="-120"/>
              </a:rPr>
              <a:t>تاريخ الاطّلاع: يونيو 2026. حين تذكر بعض المكاتب الموعد بـ«أكتوبر 2026»، نعتمد فترة العام من سريان اللائحة (2 نوفمبر 2025).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قانون حماية البيانات الشخصية المصري 151/2020</dc:title>
  <dc:subject>PptxGenJS Presentation</dc:subject>
  <dc:creator>EMBA IT Strategy</dc:creator>
  <cp:lastModifiedBy>EMBA IT Strategy</cp:lastModifiedBy>
  <cp:revision>1</cp:revision>
  <dcterms:created xsi:type="dcterms:W3CDTF">2026-06-26T07:22:41Z</dcterms:created>
  <dcterms:modified xsi:type="dcterms:W3CDTF">2026-06-26T07:22:41Z</dcterms:modified>
</cp:coreProperties>
</file>